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000"/>
              <a:t>Tracking speed, frames per second</a:t>
            </a:r>
          </a:p>
        </c:rich>
      </c:tx>
      <c:layout/>
      <c:overlay val="0"/>
    </c:title>
    <c:autoTitleDeleted val="0"/>
    <c:plotArea>
      <c:barChart>
        <c:barDir val="col"/>
        <c:grouping val="clustered"/>
        <c:ser>
          <c:idx val="0"/>
          <c:order val="0"/>
          <c:tx>
            <c:strRef>
              <c:f>Sheet1!$B$1</c:f>
              <c:strCache>
                <c:ptCount val="1"/>
                <c:pt idx="0">
                  <c:v>FPS</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4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0.4s.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YOLOv8 plus ByteTrack holds IDs through occlusion. Best-snapshot scoring gates faces, ArcFace plus Faiss matches the gallery,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are built in, not bolted on. Opt-in enrollment, blurred stored video, 7-day purge, append-only audit, no central ID linkage in the hackathon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MS) Bold"/>
                  <a:ea typeface="Calibri (MS) Bold"/>
                  <a:cs typeface="Calibri (MS) Bold"/>
                  <a:sym typeface="Calibri (MS) Bold"/>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Bold"/>
                  <a:ea typeface="Cambria Bold"/>
                  <a:cs typeface="Cambria Bold"/>
                  <a:sym typeface="Cambria Bold"/>
                </a:rPr>
                <a:t>HACKATHON </a:t>
              </a:r>
              <a:r>
                <a:rPr lang="en-US" sz="9000" b="true">
                  <a:solidFill>
                    <a:srgbClr val="3E8EF7"/>
                  </a:solidFill>
                  <a:latin typeface="Cambria Bold"/>
                  <a:ea typeface="Cambria Bold"/>
                  <a:cs typeface="Cambria Bold"/>
                  <a:sym typeface="Cambria Bold"/>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MS) Italics"/>
                  <a:ea typeface="Calibri (MS) Italics"/>
                  <a:cs typeface="Calibri (MS) Italics"/>
                  <a:sym typeface="Calibri (MS) Italics"/>
                </a:rPr>
                <a:t>Idea Submission Template  —  Code. Create. Innovate.</a:t>
              </a:r>
            </a:p>
          </p:txBody>
        </p:sp>
      </p:grpSp>
      <p:sp>
        <p:nvSpPr>
          <p:cNvPr name="Freeform 17" id="17"/>
          <p:cNvSpPr/>
          <p:nvPr/>
        </p:nvSpPr>
        <p:spPr>
          <a:xfrm flipH="false" flipV="false" rot="0">
            <a:off x="737711" y="5949791"/>
            <a:ext cx="13200698" cy="3530917"/>
          </a:xfrm>
          <a:custGeom>
            <a:avLst/>
            <a:gdLst/>
            <a:ahLst/>
            <a:cxnLst/>
            <a:rect r="r" b="b" t="t" l="l"/>
            <a:pathLst>
              <a:path h="3530917" w="13200698">
                <a:moveTo>
                  <a:pt x="0" y="0"/>
                </a:moveTo>
                <a:lnTo>
                  <a:pt x="13200698" y="0"/>
                </a:lnTo>
                <a:lnTo>
                  <a:pt x="1320069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8" id="18"/>
          <p:cNvGrpSpPr/>
          <p:nvPr/>
        </p:nvGrpSpPr>
        <p:grpSpPr>
          <a:xfrm rot="0">
            <a:off x="1165860" y="6268212"/>
            <a:ext cx="4114800" cy="657987"/>
            <a:chOff x="0" y="0"/>
            <a:chExt cx="5486400" cy="877316"/>
          </a:xfrm>
        </p:grpSpPr>
        <p:sp>
          <p:nvSpPr>
            <p:cNvPr name="Freeform 19" id="19"/>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0" id="20"/>
          <p:cNvGrpSpPr/>
          <p:nvPr/>
        </p:nvGrpSpPr>
        <p:grpSpPr>
          <a:xfrm rot="0">
            <a:off x="1165860" y="6218206"/>
            <a:ext cx="4114800" cy="707993"/>
            <a:chOff x="0" y="0"/>
            <a:chExt cx="5486400" cy="943991"/>
          </a:xfrm>
        </p:grpSpPr>
        <p:sp>
          <p:nvSpPr>
            <p:cNvPr name="Freeform 21" id="21"/>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2" id="22"/>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Name:</a:t>
              </a:r>
            </a:p>
          </p:txBody>
        </p:sp>
      </p:grpSp>
      <p:sp>
        <p:nvSpPr>
          <p:cNvPr name="AutoShape 23" id="23"/>
          <p:cNvSpPr/>
          <p:nvPr/>
        </p:nvSpPr>
        <p:spPr>
          <a:xfrm rot="2640">
            <a:off x="1156335" y="6944487"/>
            <a:ext cx="12363450" cy="0"/>
          </a:xfrm>
          <a:prstGeom prst="line">
            <a:avLst/>
          </a:prstGeom>
          <a:ln cap="rnd" w="9525">
            <a:solidFill>
              <a:srgbClr val="CADCFC">
                <a:alpha val="60000"/>
              </a:srgbClr>
            </a:solidFill>
            <a:prstDash val="solid"/>
            <a:headEnd type="none" len="sm" w="sm"/>
            <a:tailEnd type="none" len="sm" w="sm"/>
          </a:ln>
        </p:spPr>
      </p:sp>
      <p:grpSp>
        <p:nvGrpSpPr>
          <p:cNvPr name="Group 24" id="24"/>
          <p:cNvGrpSpPr/>
          <p:nvPr/>
        </p:nvGrpSpPr>
        <p:grpSpPr>
          <a:xfrm rot="0">
            <a:off x="1165860" y="7063740"/>
            <a:ext cx="4114800" cy="657987"/>
            <a:chOff x="0" y="0"/>
            <a:chExt cx="5486400" cy="877316"/>
          </a:xfrm>
        </p:grpSpPr>
        <p:sp>
          <p:nvSpPr>
            <p:cNvPr name="Freeform 25" id="25"/>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6" id="26"/>
          <p:cNvGrpSpPr/>
          <p:nvPr/>
        </p:nvGrpSpPr>
        <p:grpSpPr>
          <a:xfrm rot="0">
            <a:off x="1165860" y="7013734"/>
            <a:ext cx="4114800" cy="707993"/>
            <a:chOff x="0" y="0"/>
            <a:chExt cx="5486400" cy="943991"/>
          </a:xfrm>
        </p:grpSpPr>
        <p:sp>
          <p:nvSpPr>
            <p:cNvPr name="Freeform 27" id="27"/>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8" id="28"/>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Problem Statement No:</a:t>
              </a:r>
            </a:p>
          </p:txBody>
        </p:sp>
      </p:grpSp>
      <p:sp>
        <p:nvSpPr>
          <p:cNvPr name="AutoShape 29" id="29"/>
          <p:cNvSpPr/>
          <p:nvPr/>
        </p:nvSpPr>
        <p:spPr>
          <a:xfrm rot="2640">
            <a:off x="1156335" y="7740015"/>
            <a:ext cx="12363450" cy="0"/>
          </a:xfrm>
          <a:prstGeom prst="line">
            <a:avLst/>
          </a:prstGeom>
          <a:ln cap="rnd" w="9525">
            <a:solidFill>
              <a:srgbClr val="CADCFC">
                <a:alpha val="60000"/>
              </a:srgbClr>
            </a:solidFill>
            <a:prstDash val="solid"/>
            <a:headEnd type="none" len="sm" w="sm"/>
            <a:tailEnd type="none" len="sm" w="sm"/>
          </a:ln>
        </p:spPr>
      </p:sp>
      <p:grpSp>
        <p:nvGrpSpPr>
          <p:cNvPr name="Group 30" id="30"/>
          <p:cNvGrpSpPr/>
          <p:nvPr/>
        </p:nvGrpSpPr>
        <p:grpSpPr>
          <a:xfrm rot="0">
            <a:off x="1165860" y="7896796"/>
            <a:ext cx="4548254" cy="643528"/>
            <a:chOff x="0" y="0"/>
            <a:chExt cx="6064339" cy="858037"/>
          </a:xfrm>
        </p:grpSpPr>
        <p:sp>
          <p:nvSpPr>
            <p:cNvPr name="Freeform 31" id="31"/>
            <p:cNvSpPr/>
            <p:nvPr/>
          </p:nvSpPr>
          <p:spPr>
            <a:xfrm flipH="false" flipV="false" rot="0">
              <a:off x="0" y="0"/>
              <a:ext cx="6064377" cy="858012"/>
            </a:xfrm>
            <a:custGeom>
              <a:avLst/>
              <a:gdLst/>
              <a:ahLst/>
              <a:cxnLst/>
              <a:rect r="r" b="b" t="t" l="l"/>
              <a:pathLst>
                <a:path h="858012" w="6064377">
                  <a:moveTo>
                    <a:pt x="0" y="0"/>
                  </a:moveTo>
                  <a:lnTo>
                    <a:pt x="6064377" y="0"/>
                  </a:lnTo>
                  <a:lnTo>
                    <a:pt x="6064377" y="858012"/>
                  </a:lnTo>
                  <a:lnTo>
                    <a:pt x="0" y="858012"/>
                  </a:lnTo>
                  <a:close/>
                </a:path>
              </a:pathLst>
            </a:custGeom>
            <a:blipFill>
              <a:blip r:embed="rId2">
                <a:alphaModFix amt="0"/>
              </a:blip>
              <a:stretch>
                <a:fillRect l="0" t="-87619" r="0" b="-87624"/>
              </a:stretch>
            </a:blipFill>
          </p:spPr>
        </p:sp>
      </p:grpSp>
      <p:grpSp>
        <p:nvGrpSpPr>
          <p:cNvPr name="Group 32" id="32"/>
          <p:cNvGrpSpPr/>
          <p:nvPr/>
        </p:nvGrpSpPr>
        <p:grpSpPr>
          <a:xfrm rot="0">
            <a:off x="1165860" y="7839646"/>
            <a:ext cx="4548254" cy="700678"/>
            <a:chOff x="0" y="0"/>
            <a:chExt cx="6064339" cy="934237"/>
          </a:xfrm>
        </p:grpSpPr>
        <p:sp>
          <p:nvSpPr>
            <p:cNvPr name="Freeform 33" id="33"/>
            <p:cNvSpPr/>
            <p:nvPr/>
          </p:nvSpPr>
          <p:spPr>
            <a:xfrm flipH="false" flipV="false" rot="0">
              <a:off x="0" y="0"/>
              <a:ext cx="6064334" cy="934241"/>
            </a:xfrm>
            <a:custGeom>
              <a:avLst/>
              <a:gdLst/>
              <a:ahLst/>
              <a:cxnLst/>
              <a:rect r="r" b="b" t="t" l="l"/>
              <a:pathLst>
                <a:path h="934241" w="6064334">
                  <a:moveTo>
                    <a:pt x="0" y="0"/>
                  </a:moveTo>
                  <a:lnTo>
                    <a:pt x="6064334" y="0"/>
                  </a:lnTo>
                  <a:lnTo>
                    <a:pt x="6064334" y="934241"/>
                  </a:lnTo>
                  <a:lnTo>
                    <a:pt x="0" y="934241"/>
                  </a:lnTo>
                  <a:close/>
                </a:path>
              </a:pathLst>
            </a:custGeom>
            <a:blipFill>
              <a:blip r:embed="rId3">
                <a:alphaModFix amt="0"/>
              </a:blip>
              <a:stretch>
                <a:fillRect l="0" t="-76481" r="0" b="-76480"/>
              </a:stretch>
            </a:blipFill>
          </p:spPr>
        </p:sp>
        <p:sp>
          <p:nvSpPr>
            <p:cNvPr name="TextBox 34" id="34"/>
            <p:cNvSpPr txBox="true"/>
            <p:nvPr/>
          </p:nvSpPr>
          <p:spPr>
            <a:xfrm>
              <a:off x="0" y="-76200"/>
              <a:ext cx="6064339" cy="1010437"/>
            </a:xfrm>
            <a:prstGeom prst="rect">
              <a:avLst/>
            </a:prstGeom>
          </p:spPr>
          <p:txBody>
            <a:bodyPr anchor="ctr" rtlCol="false" tIns="0" lIns="0" bIns="0" rIns="0"/>
            <a:lstStyle/>
            <a:p>
              <a:pPr algn="l">
                <a:lnSpc>
                  <a:spcPts val="3838"/>
                </a:lnSpc>
              </a:pPr>
              <a:r>
                <a:rPr lang="en-US" sz="3198" b="true">
                  <a:solidFill>
                    <a:srgbClr val="1E2761"/>
                  </a:solidFill>
                  <a:latin typeface="Calibri (MS) Bold"/>
                  <a:ea typeface="Calibri (MS) Bold"/>
                  <a:cs typeface="Calibri (MS) Bold"/>
                  <a:sym typeface="Calibri (MS) Bold"/>
                </a:rPr>
                <a:t>Problem Statement Title:</a:t>
              </a:r>
            </a:p>
          </p:txBody>
        </p:sp>
      </p:grpSp>
      <p:sp>
        <p:nvSpPr>
          <p:cNvPr name="AutoShape 35" id="35"/>
          <p:cNvSpPr/>
          <p:nvPr/>
        </p:nvSpPr>
        <p:spPr>
          <a:xfrm rot="2640">
            <a:off x="1156335" y="8535543"/>
            <a:ext cx="12363450" cy="0"/>
          </a:xfrm>
          <a:prstGeom prst="line">
            <a:avLst/>
          </a:prstGeom>
          <a:ln cap="rnd" w="9525">
            <a:solidFill>
              <a:srgbClr val="CADCFC">
                <a:alpha val="60000"/>
              </a:srgbClr>
            </a:solidFill>
            <a:prstDash val="solid"/>
            <a:headEnd type="none" len="sm" w="sm"/>
            <a:tailEnd type="none" len="sm" w="sm"/>
          </a:ln>
        </p:spPr>
      </p:sp>
      <p:grpSp>
        <p:nvGrpSpPr>
          <p:cNvPr name="Group 36" id="36"/>
          <p:cNvGrpSpPr/>
          <p:nvPr/>
        </p:nvGrpSpPr>
        <p:grpSpPr>
          <a:xfrm rot="0">
            <a:off x="1165860" y="8654796"/>
            <a:ext cx="4114800" cy="657987"/>
            <a:chOff x="0" y="0"/>
            <a:chExt cx="5486400" cy="877316"/>
          </a:xfrm>
        </p:grpSpPr>
        <p:sp>
          <p:nvSpPr>
            <p:cNvPr name="Freeform 37" id="37"/>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38" id="38"/>
          <p:cNvGrpSpPr/>
          <p:nvPr/>
        </p:nvGrpSpPr>
        <p:grpSpPr>
          <a:xfrm rot="0">
            <a:off x="1165860" y="8604790"/>
            <a:ext cx="4114800" cy="707993"/>
            <a:chOff x="0" y="0"/>
            <a:chExt cx="5486400" cy="943991"/>
          </a:xfrm>
        </p:grpSpPr>
        <p:sp>
          <p:nvSpPr>
            <p:cNvPr name="Freeform 39" id="39"/>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40" id="40"/>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Leader Name: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TextBox 42"/>
          <p:cNvSpPr txBox="1"/>
          <p:nvPr/>
        </p:nvSpPr>
        <p:spPr>
          <a:xfrm>
            <a:off x="4754880" y="6217920"/>
            <a:ext cx="7315200" cy="640080"/>
          </a:xfrm>
          <a:prstGeom prst="rect">
            <a:avLst/>
          </a:prstGeom>
          <a:noFill/>
        </p:spPr>
        <p:txBody>
          <a:bodyPr wrap="none">
            <a:spAutoFit/>
          </a:bodyPr>
          <a:lstStyle/>
          <a:p>
            <a:r>
              <a:rPr sz="2200" b="1">
                <a:solidFill>
                  <a:srgbClr val="1E2761"/>
                </a:solidFill>
                <a:latin typeface="Calibri"/>
              </a:rPr>
              <a:t>Team Raksha</a:t>
            </a:r>
          </a:p>
        </p:txBody>
      </p:sp>
      <p:sp>
        <p:nvSpPr>
          <p:cNvPr id="44" name="TextBox 43"/>
          <p:cNvSpPr txBox="1"/>
          <p:nvPr/>
        </p:nvSpPr>
        <p:spPr>
          <a:xfrm>
            <a:off x="6217920" y="7004304"/>
            <a:ext cx="7315200" cy="640080"/>
          </a:xfrm>
          <a:prstGeom prst="rect">
            <a:avLst/>
          </a:prstGeom>
          <a:noFill/>
        </p:spPr>
        <p:txBody>
          <a:bodyPr wrap="none">
            <a:spAutoFit/>
          </a:bodyPr>
          <a:lstStyle/>
          <a:p>
            <a:r>
              <a:rPr sz="2200" b="1">
                <a:solidFill>
                  <a:srgbClr val="1E2761"/>
                </a:solidFill>
                <a:latin typeface="Calibri"/>
              </a:rPr>
              <a:t>2</a:t>
            </a:r>
          </a:p>
        </p:txBody>
      </p:sp>
      <p:sp>
        <p:nvSpPr>
          <p:cNvPr id="45" name="TextBox 44"/>
          <p:cNvSpPr txBox="1"/>
          <p:nvPr/>
        </p:nvSpPr>
        <p:spPr>
          <a:xfrm>
            <a:off x="6949440" y="7818120"/>
            <a:ext cx="73152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46" name="TextBox 45"/>
          <p:cNvSpPr txBox="1"/>
          <p:nvPr/>
        </p:nvSpPr>
        <p:spPr>
          <a:xfrm>
            <a:off x="5760720" y="8595360"/>
            <a:ext cx="7315200" cy="640080"/>
          </a:xfrm>
          <a:prstGeom prst="rect">
            <a:avLst/>
          </a:prstGeom>
          <a:noFill/>
        </p:spPr>
        <p:txBody>
          <a:bodyPr wrap="none">
            <a:spAutoFit/>
          </a:bodyPr>
          <a:lstStyle/>
          <a:p>
            <a:r>
              <a:rPr sz="2200" b="1">
                <a:solidFill>
                  <a:srgbClr val="1E2761"/>
                </a:solidFill>
                <a:latin typeface="Calibri"/>
              </a:rPr>
              <a:t>[Your Name]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MS) Bold"/>
                <a:ea typeface="Calibri (MS) Bold"/>
                <a:cs typeface="Calibri (MS) Bold"/>
                <a:sym typeface="Calibri (MS) Bold"/>
              </a:rPr>
              <a:t>IDEA TITLE</a:t>
            </a:r>
          </a:p>
        </p:txBody>
      </p:sp>
      <p:sp>
        <p:nvSpPr>
          <p:cNvPr id="5" name="TextBox 4"/>
          <p:cNvSpPr txBox="1"/>
          <p:nvPr/>
        </p:nvSpPr>
        <p:spPr>
          <a:xfrm>
            <a:off x="914400" y="2651760"/>
            <a:ext cx="5120640" cy="3108960"/>
          </a:xfrm>
          <a:prstGeom prst="rect">
            <a:avLst/>
          </a:prstGeom>
          <a:noFill/>
        </p:spPr>
        <p:txBody>
          <a:bodyPr wrap="square">
            <a:spAutoFit/>
          </a:bodyPr>
          <a:lstStyle/>
          <a:p>
            <a:pPr algn="l">
              <a:spcAft>
                <a:spcPts val="1000"/>
              </a:spcAft>
            </a:pPr>
            <a:r>
              <a:rPr sz="3200" b="1">
                <a:solidFill>
                  <a:srgbClr val="1E2761"/>
                </a:solidFill>
                <a:latin typeface="Calibri"/>
              </a:rPr>
              <a:t>Know the crowd. Know the person. Stop the surge.</a:t>
            </a:r>
          </a:p>
          <a:p>
            <a:pPr algn="l">
              <a:spcAft>
                <a:spcPts val="1000"/>
              </a:spcAft>
            </a:pPr>
            <a:r>
              <a:rPr sz="2200" b="0">
                <a:solidFill>
                  <a:srgbClr val="111111"/>
                </a:solidFill>
                <a:latin typeface="Calibri"/>
              </a:rPr>
              <a:t>Live tracking plus instant person files.</a:t>
            </a:r>
          </a:p>
          <a:p>
            <a:pPr algn="l">
              <a:spcAft>
                <a:spcPts val="1000"/>
              </a:spcAft>
            </a:pPr>
            <a:r>
              <a:rPr sz="2200" b="0">
                <a:solidFill>
                  <a:srgbClr val="111111"/>
                </a:solidFill>
                <a:latin typeface="Calibri"/>
              </a:rPr>
              <a:t>Surge warnings before the crush.</a:t>
            </a:r>
          </a:p>
        </p:txBody>
      </p:sp>
      <p:pic>
        <p:nvPicPr>
          <p:cNvPr id="6" name="Picture 5" descr="deck_wall.png"/>
          <p:cNvPicPr>
            <a:picLocks noChangeAspect="1"/>
          </p:cNvPicPr>
          <p:nvPr/>
        </p:nvPicPr>
        <p:blipFill>
          <a:blip r:embed="rId3"/>
          <a:stretch>
            <a:fillRect/>
          </a:stretch>
        </p:blipFill>
        <p:spPr>
          <a:xfrm>
            <a:off x="6583680" y="2560320"/>
            <a:ext cx="10789920" cy="6035040"/>
          </a:xfrm>
          <a:prstGeom prst="rect">
            <a:avLst/>
          </a:prstGeom>
        </p:spPr>
      </p:pic>
      <p:sp>
        <p:nvSpPr>
          <p:cNvPr id="7" name="TextBox 6"/>
          <p:cNvSpPr txBox="1"/>
          <p:nvPr/>
        </p:nvSpPr>
        <p:spPr>
          <a:xfrm>
            <a:off x="91440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0.4s</a:t>
            </a:r>
          </a:p>
        </p:txBody>
      </p:sp>
      <p:sp>
        <p:nvSpPr>
          <p:cNvPr id="8" name="TextBox 7"/>
          <p:cNvSpPr txBox="1"/>
          <p:nvPr/>
        </p:nvSpPr>
        <p:spPr>
          <a:xfrm>
            <a:off x="91440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face to file pop</a:t>
            </a:r>
          </a:p>
        </p:txBody>
      </p:sp>
      <p:sp>
        <p:nvSpPr>
          <p:cNvPr id="9" name="TextBox 8"/>
          <p:cNvSpPr txBox="1"/>
          <p:nvPr/>
        </p:nvSpPr>
        <p:spPr>
          <a:xfrm>
            <a:off x="265176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&lt;1s</a:t>
            </a:r>
          </a:p>
        </p:txBody>
      </p:sp>
      <p:sp>
        <p:nvSpPr>
          <p:cNvPr id="10" name="TextBox 9"/>
          <p:cNvSpPr txBox="1"/>
          <p:nvPr/>
        </p:nvSpPr>
        <p:spPr>
          <a:xfrm>
            <a:off x="265176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yellow to guard</a:t>
            </a:r>
          </a:p>
        </p:txBody>
      </p:sp>
      <p:sp>
        <p:nvSpPr>
          <p:cNvPr id="11" name="TextBox 10"/>
          <p:cNvSpPr txBox="1"/>
          <p:nvPr/>
        </p:nvSpPr>
        <p:spPr>
          <a:xfrm>
            <a:off x="420624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15</a:t>
            </a:r>
          </a:p>
        </p:txBody>
      </p:sp>
      <p:sp>
        <p:nvSpPr>
          <p:cNvPr id="12" name="TextBox 11"/>
          <p:cNvSpPr txBox="1"/>
          <p:nvPr/>
        </p:nvSpPr>
        <p:spPr>
          <a:xfrm>
            <a:off x="420624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fps live wall</a:t>
            </a:r>
          </a:p>
        </p:txBody>
      </p:sp>
      <p:sp>
        <p:nvSpPr>
          <p:cNvPr id="13" name="TextBox 12"/>
          <p:cNvSpPr txBox="1"/>
          <p:nvPr/>
        </p:nvSpPr>
        <p:spPr>
          <a:xfrm>
            <a:off x="6583680" y="8778240"/>
            <a:ext cx="10789920" cy="548640"/>
          </a:xfrm>
          <a:prstGeom prst="rect">
            <a:avLst/>
          </a:prstGeom>
          <a:noFill/>
        </p:spPr>
        <p:txBody>
          <a:bodyPr wrap="square">
            <a:spAutoFit/>
          </a:bodyPr>
          <a:lstStyle/>
          <a:p>
            <a:pPr algn="l">
              <a:spcAft>
                <a:spcPts val="600"/>
              </a:spcAft>
            </a:pPr>
            <a:r>
              <a:rPr sz="1500" b="0">
                <a:solidFill>
                  <a:srgbClr val="5A5A5A"/>
                </a:solidFill>
                <a:latin typeface="Calibri"/>
              </a:rPr>
              <a:t>Above: the live wall on real station footage.</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MS) Bold"/>
                <a:ea typeface="Calibri (MS) Bold"/>
                <a:cs typeface="Calibri (MS) Bold"/>
                <a:sym typeface="Calibri (MS) Bold"/>
              </a:rPr>
              <a:t>TECHNICAL APPROACH</a:t>
            </a:r>
          </a:p>
          <a:p>
            <a:pPr algn="ctr">
              <a:lnSpc>
                <a:spcPts val="6719"/>
              </a:lnSpc>
            </a:pPr>
          </a:p>
        </p:txBody>
      </p:sp>
      <p:sp>
        <p:nvSpPr>
          <p:cNvPr id="5" name="Chevron 4"/>
          <p:cNvSpPr/>
          <p:nvPr/>
        </p:nvSpPr>
        <p:spPr>
          <a:xfrm>
            <a:off x="731520" y="2834640"/>
            <a:ext cx="2880360" cy="155448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Ingest</a:t>
            </a:r>
          </a:p>
        </p:txBody>
      </p:sp>
      <p:sp>
        <p:nvSpPr>
          <p:cNvPr id="6" name="TextBox 5"/>
          <p:cNvSpPr txBox="1"/>
          <p:nvPr/>
        </p:nvSpPr>
        <p:spPr>
          <a:xfrm>
            <a:off x="731520" y="4480559"/>
            <a:ext cx="2880360" cy="914400"/>
          </a:xfrm>
          <a:prstGeom prst="rect">
            <a:avLst/>
          </a:prstGeom>
          <a:noFill/>
        </p:spPr>
        <p:txBody>
          <a:bodyPr wrap="square">
            <a:spAutoFit/>
          </a:bodyPr>
          <a:lstStyle/>
          <a:p>
            <a:pPr algn="ctr">
              <a:spcAft>
                <a:spcPts val="600"/>
              </a:spcAft>
            </a:pPr>
            <a:r>
              <a:rPr sz="1600" b="0">
                <a:solidFill>
                  <a:srgbClr val="5A5A5A"/>
                </a:solidFill>
                <a:latin typeface="Calibri"/>
              </a:rPr>
              <a:t>RTSP, file, zones</a:t>
            </a:r>
          </a:p>
        </p:txBody>
      </p:sp>
      <p:sp>
        <p:nvSpPr>
          <p:cNvPr id="7" name="Chevron 6"/>
          <p:cNvSpPr/>
          <p:nvPr/>
        </p:nvSpPr>
        <p:spPr>
          <a:xfrm>
            <a:off x="3200400" y="2834640"/>
            <a:ext cx="2880360" cy="155448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Detect</a:t>
            </a:r>
          </a:p>
        </p:txBody>
      </p:sp>
      <p:sp>
        <p:nvSpPr>
          <p:cNvPr id="8" name="TextBox 7"/>
          <p:cNvSpPr txBox="1"/>
          <p:nvPr/>
        </p:nvSpPr>
        <p:spPr>
          <a:xfrm>
            <a:off x="3200400" y="4480559"/>
            <a:ext cx="2880360" cy="914400"/>
          </a:xfrm>
          <a:prstGeom prst="rect">
            <a:avLst/>
          </a:prstGeom>
          <a:noFill/>
        </p:spPr>
        <p:txBody>
          <a:bodyPr wrap="square">
            <a:spAutoFit/>
          </a:bodyPr>
          <a:lstStyle/>
          <a:p>
            <a:pPr algn="ctr">
              <a:spcAft>
                <a:spcPts val="600"/>
              </a:spcAft>
            </a:pPr>
            <a:r>
              <a:rPr sz="1600" b="0">
                <a:solidFill>
                  <a:srgbClr val="5A5A5A"/>
                </a:solidFill>
                <a:latin typeface="Calibri"/>
              </a:rPr>
              <a:t>YOLOv8, 720p</a:t>
            </a:r>
          </a:p>
        </p:txBody>
      </p:sp>
      <p:sp>
        <p:nvSpPr>
          <p:cNvPr id="9" name="Chevron 8"/>
          <p:cNvSpPr/>
          <p:nvPr/>
        </p:nvSpPr>
        <p:spPr>
          <a:xfrm>
            <a:off x="5669279" y="2834640"/>
            <a:ext cx="2880360" cy="155448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Track</a:t>
            </a:r>
          </a:p>
        </p:txBody>
      </p:sp>
      <p:sp>
        <p:nvSpPr>
          <p:cNvPr id="10" name="TextBox 9"/>
          <p:cNvSpPr txBox="1"/>
          <p:nvPr/>
        </p:nvSpPr>
        <p:spPr>
          <a:xfrm>
            <a:off x="5669279" y="4480559"/>
            <a:ext cx="2880360" cy="914400"/>
          </a:xfrm>
          <a:prstGeom prst="rect">
            <a:avLst/>
          </a:prstGeom>
          <a:noFill/>
        </p:spPr>
        <p:txBody>
          <a:bodyPr wrap="square">
            <a:spAutoFit/>
          </a:bodyPr>
          <a:lstStyle/>
          <a:p>
            <a:pPr algn="ctr">
              <a:spcAft>
                <a:spcPts val="600"/>
              </a:spcAft>
            </a:pPr>
            <a:r>
              <a:rPr sz="1600" b="0">
                <a:solidFill>
                  <a:srgbClr val="5A5A5A"/>
                </a:solidFill>
                <a:latin typeface="Calibri"/>
              </a:rPr>
              <a:t>ByteTrack IDs</a:t>
            </a:r>
          </a:p>
        </p:txBody>
      </p:sp>
      <p:sp>
        <p:nvSpPr>
          <p:cNvPr id="11" name="Chevron 10"/>
          <p:cNvSpPr/>
          <p:nvPr/>
        </p:nvSpPr>
        <p:spPr>
          <a:xfrm>
            <a:off x="8138160" y="2834640"/>
            <a:ext cx="2880360" cy="155448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Face</a:t>
            </a:r>
          </a:p>
        </p:txBody>
      </p:sp>
      <p:sp>
        <p:nvSpPr>
          <p:cNvPr id="12" name="TextBox 11"/>
          <p:cNvSpPr txBox="1"/>
          <p:nvPr/>
        </p:nvSpPr>
        <p:spPr>
          <a:xfrm>
            <a:off x="8138160" y="4480559"/>
            <a:ext cx="2880360" cy="914400"/>
          </a:xfrm>
          <a:prstGeom prst="rect">
            <a:avLst/>
          </a:prstGeom>
          <a:noFill/>
        </p:spPr>
        <p:txBody>
          <a:bodyPr wrap="square">
            <a:spAutoFit/>
          </a:bodyPr>
          <a:lstStyle/>
          <a:p>
            <a:pPr algn="ctr">
              <a:spcAft>
                <a:spcPts val="600"/>
              </a:spcAft>
            </a:pPr>
            <a:r>
              <a:rPr sz="1600" b="0">
                <a:solidFill>
                  <a:srgbClr val="5A5A5A"/>
                </a:solidFill>
                <a:latin typeface="Calibri"/>
              </a:rPr>
              <a:t>ArcFace 512-D</a:t>
            </a:r>
          </a:p>
        </p:txBody>
      </p:sp>
      <p:sp>
        <p:nvSpPr>
          <p:cNvPr id="13" name="Chevron 12"/>
          <p:cNvSpPr/>
          <p:nvPr/>
        </p:nvSpPr>
        <p:spPr>
          <a:xfrm>
            <a:off x="10607040" y="2834640"/>
            <a:ext cx="2880360" cy="155448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Match</a:t>
            </a:r>
          </a:p>
        </p:txBody>
      </p:sp>
      <p:sp>
        <p:nvSpPr>
          <p:cNvPr id="14" name="TextBox 13"/>
          <p:cNvSpPr txBox="1"/>
          <p:nvPr/>
        </p:nvSpPr>
        <p:spPr>
          <a:xfrm>
            <a:off x="10607040" y="4480559"/>
            <a:ext cx="2880360" cy="914400"/>
          </a:xfrm>
          <a:prstGeom prst="rect">
            <a:avLst/>
          </a:prstGeom>
          <a:noFill/>
        </p:spPr>
        <p:txBody>
          <a:bodyPr wrap="square">
            <a:spAutoFit/>
          </a:bodyPr>
          <a:lstStyle/>
          <a:p>
            <a:pPr algn="ctr">
              <a:spcAft>
                <a:spcPts val="600"/>
              </a:spcAft>
            </a:pPr>
            <a:r>
              <a:rPr sz="1600" b="0">
                <a:solidFill>
                  <a:srgbClr val="5A5A5A"/>
                </a:solidFill>
                <a:latin typeface="Calibri"/>
              </a:rPr>
              <a:t>Faiss gallery</a:t>
            </a:r>
          </a:p>
        </p:txBody>
      </p:sp>
      <p:sp>
        <p:nvSpPr>
          <p:cNvPr id="15" name="Chevron 14"/>
          <p:cNvSpPr/>
          <p:nvPr/>
        </p:nvSpPr>
        <p:spPr>
          <a:xfrm>
            <a:off x="13075919" y="2834640"/>
            <a:ext cx="2880360" cy="1554480"/>
          </a:xfrm>
          <a:prstGeom prst="chevron">
            <a:avLst/>
          </a:prstGeom>
          <a:solidFill>
            <a:srgbClr val="D9A44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111111"/>
                </a:solidFill>
                <a:latin typeface="Calibri"/>
              </a:rPr>
              <a:t>Act</a:t>
            </a:r>
          </a:p>
        </p:txBody>
      </p:sp>
      <p:sp>
        <p:nvSpPr>
          <p:cNvPr id="16" name="TextBox 15"/>
          <p:cNvSpPr txBox="1"/>
          <p:nvPr/>
        </p:nvSpPr>
        <p:spPr>
          <a:xfrm>
            <a:off x="13075919" y="4480559"/>
            <a:ext cx="2880360" cy="914400"/>
          </a:xfrm>
          <a:prstGeom prst="rect">
            <a:avLst/>
          </a:prstGeom>
          <a:noFill/>
        </p:spPr>
        <p:txBody>
          <a:bodyPr wrap="square">
            <a:spAutoFit/>
          </a:bodyPr>
          <a:lstStyle/>
          <a:p>
            <a:pPr algn="ctr">
              <a:spcAft>
                <a:spcPts val="600"/>
              </a:spcAft>
            </a:pPr>
            <a:r>
              <a:rPr sz="1600" b="0">
                <a:solidFill>
                  <a:srgbClr val="5A5A5A"/>
                </a:solidFill>
                <a:latin typeface="Calibri"/>
              </a:rPr>
              <a:t>Risk, alert, push</a:t>
            </a:r>
          </a:p>
        </p:txBody>
      </p:sp>
      <p:pic>
        <p:nvPicPr>
          <p:cNvPr id="17" name="Picture 16" descr="station_concourse.webm_0.jpg"/>
          <p:cNvPicPr>
            <a:picLocks noChangeAspect="1"/>
          </p:cNvPicPr>
          <p:nvPr/>
        </p:nvPicPr>
        <p:blipFill>
          <a:blip r:embed="rId3"/>
          <a:stretch>
            <a:fillRect/>
          </a:stretch>
        </p:blipFill>
        <p:spPr>
          <a:xfrm>
            <a:off x="731520" y="5943600"/>
            <a:ext cx="8229600" cy="3566160"/>
          </a:xfrm>
          <a:prstGeom prst="rect">
            <a:avLst/>
          </a:prstGeom>
        </p:spPr>
      </p:pic>
      <p:sp>
        <p:nvSpPr>
          <p:cNvPr id="18" name="TextBox 17"/>
          <p:cNvSpPr txBox="1"/>
          <p:nvPr/>
        </p:nvSpPr>
        <p:spPr>
          <a:xfrm>
            <a:off x="9509760" y="5943600"/>
            <a:ext cx="8046720" cy="3566160"/>
          </a:xfrm>
          <a:prstGeom prst="rect">
            <a:avLst/>
          </a:prstGeom>
          <a:noFill/>
        </p:spPr>
        <p:txBody>
          <a:bodyPr wrap="square">
            <a:spAutoFit/>
          </a:bodyPr>
          <a:lstStyle/>
          <a:p>
            <a:pPr algn="l">
              <a:spcAft>
                <a:spcPts val="800"/>
              </a:spcAft>
            </a:pPr>
            <a:r>
              <a:rPr sz="2200" b="1">
                <a:solidFill>
                  <a:srgbClr val="1E2761"/>
                </a:solidFill>
                <a:latin typeface="Calibri"/>
              </a:rPr>
              <a:t>Quality gate</a:t>
            </a:r>
          </a:p>
          <a:p>
            <a:pPr algn="l">
              <a:spcAft>
                <a:spcPts val="800"/>
              </a:spcAft>
            </a:pPr>
            <a:r>
              <a:rPr sz="1900" b="0">
                <a:solidFill>
                  <a:srgbClr val="111111"/>
                </a:solidFill>
                <a:latin typeface="Calibri"/>
              </a:rPr>
              <a:t>Only sharp frontal faces enroll. No junk matches.</a:t>
            </a:r>
          </a:p>
          <a:p>
            <a:pPr algn="l">
              <a:spcAft>
                <a:spcPts val="800"/>
              </a:spcAft>
            </a:pPr>
            <a:r>
              <a:rPr sz="2200" b="1">
                <a:solidFill>
                  <a:srgbClr val="1E2761"/>
                </a:solidFill>
                <a:latin typeface="Calibri"/>
              </a:rPr>
              <a:t>Measured</a:t>
            </a:r>
          </a:p>
          <a:p>
            <a:pPr algn="l">
              <a:spcAft>
                <a:spcPts val="800"/>
              </a:spcAft>
            </a:pPr>
            <a:r>
              <a:rPr sz="1900" b="0">
                <a:solidFill>
                  <a:srgbClr val="111111"/>
                </a:solidFill>
                <a:latin typeface="Calibri"/>
              </a:rPr>
              <a:t>Peak 18 tracked at once, 850 IDs over 2 min of concourse.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MS) Bold"/>
                <a:ea typeface="Calibri (MS) Bold"/>
                <a:cs typeface="Calibri (MS) Bold"/>
                <a:sym typeface="Calibri (MS) Bold"/>
              </a:rPr>
              <a:t>FEASIBILITY AND VIABILITY</a:t>
            </a:r>
          </a:p>
          <a:p>
            <a:pPr algn="ctr">
              <a:lnSpc>
                <a:spcPts val="7240"/>
              </a:lnSpc>
            </a:pPr>
          </a:p>
        </p:txBody>
      </p:sp>
      <p:graphicFrame>
        <p:nvGraphicFramePr>
          <p:cNvPr id="5" name="Chart 4"/>
          <p:cNvGraphicFramePr>
            <a:graphicFrameLocks noGrp="1"/>
          </p:cNvGraphicFramePr>
          <p:nvPr/>
        </p:nvGraphicFramePr>
        <p:xfrm>
          <a:off x="731520" y="2743200"/>
          <a:ext cx="8046720" cy="4937760"/>
        </p:xfrm>
        <a:graphic>
          <a:graphicData uri="http://schemas.openxmlformats.org/drawingml/2006/chart">
            <c:chart xmlns:c="http://schemas.openxmlformats.org/drawingml/2006/chart" r:id="rId3"/>
          </a:graphicData>
        </a:graphic>
      </p:graphicFrame>
      <p:sp>
        <p:nvSpPr>
          <p:cNvPr id="6" name="TextBox 5"/>
          <p:cNvSpPr txBox="1"/>
          <p:nvPr/>
        </p:nvSpPr>
        <p:spPr>
          <a:xfrm>
            <a:off x="9509760" y="2743200"/>
            <a:ext cx="8046720" cy="2926080"/>
          </a:xfrm>
          <a:prstGeom prst="rect">
            <a:avLst/>
          </a:prstGeom>
          <a:noFill/>
        </p:spPr>
        <p:txBody>
          <a:bodyPr wrap="square">
            <a:spAutoFit/>
          </a:bodyPr>
          <a:lstStyle/>
          <a:p>
            <a:pPr algn="l">
              <a:spcAft>
                <a:spcPts val="400"/>
              </a:spcAft>
            </a:pPr>
            <a:r>
              <a:rPr sz="5400" b="1">
                <a:solidFill>
                  <a:srgbClr val="1E2761"/>
                </a:solidFill>
                <a:latin typeface="Calibri"/>
              </a:rPr>
              <a:t>61 ms</a:t>
            </a:r>
          </a:p>
          <a:p>
            <a:pPr algn="l">
              <a:spcAft>
                <a:spcPts val="400"/>
              </a:spcAft>
            </a:pPr>
            <a:r>
              <a:rPr sz="1800" b="0">
                <a:solidFill>
                  <a:srgbClr val="5A5A5A"/>
                </a:solidFill>
                <a:latin typeface="Calibri"/>
              </a:rPr>
              <a:t>face match on GPU, was 438 ms on CPU</a:t>
            </a:r>
          </a:p>
          <a:p>
            <a:pPr algn="l">
              <a:spcAft>
                <a:spcPts val="400"/>
              </a:spcAft>
            </a:pPr>
            <a:r>
              <a:rPr sz="5400" b="1">
                <a:solidFill>
                  <a:srgbClr val="1E2761"/>
                </a:solidFill>
                <a:latin typeface="Calibri"/>
              </a:rPr>
              <a:t>1.2+</a:t>
            </a:r>
          </a:p>
          <a:p>
            <a:pPr algn="l">
              <a:spcAft>
                <a:spcPts val="400"/>
              </a:spcAft>
            </a:pPr>
            <a:r>
              <a:rPr sz="1800" b="0">
                <a:solidFill>
                  <a:srgbClr val="5A5A5A"/>
                </a:solidFill>
                <a:latin typeface="Calibri"/>
              </a:rPr>
              <a:t>risk score where RED fired on dense test</a:t>
            </a:r>
          </a:p>
        </p:txBody>
      </p:sp>
      <p:pic>
        <p:nvPicPr>
          <p:cNvPr id="7" name="Picture 6" descr="station_concourse.webm_1.jpg"/>
          <p:cNvPicPr>
            <a:picLocks noChangeAspect="1"/>
          </p:cNvPicPr>
          <p:nvPr/>
        </p:nvPicPr>
        <p:blipFill>
          <a:blip r:embed="rId4"/>
          <a:stretch>
            <a:fillRect/>
          </a:stretch>
        </p:blipFill>
        <p:spPr>
          <a:xfrm>
            <a:off x="9509760" y="6035040"/>
            <a:ext cx="8046720" cy="2560320"/>
          </a:xfrm>
          <a:prstGeom prst="rect">
            <a:avLst/>
          </a:prstGeom>
        </p:spPr>
      </p:pic>
      <p:sp>
        <p:nvSpPr>
          <p:cNvPr id="8" name="TextBox 7"/>
          <p:cNvSpPr txBox="1"/>
          <p:nvPr/>
        </p:nvSpPr>
        <p:spPr>
          <a:xfrm>
            <a:off x="731520" y="7955279"/>
            <a:ext cx="8046720" cy="548640"/>
          </a:xfrm>
          <a:prstGeom prst="rect">
            <a:avLst/>
          </a:prstGeom>
          <a:noFill/>
        </p:spPr>
        <p:txBody>
          <a:bodyPr wrap="square">
            <a:spAutoFit/>
          </a:bodyPr>
          <a:lstStyle/>
          <a:p>
            <a:pPr algn="l">
              <a:spcAft>
                <a:spcPts val="600"/>
              </a:spcAft>
            </a:pPr>
            <a:r>
              <a:rPr sz="1500" b="0">
                <a:solidFill>
                  <a:srgbClr val="5A5A5A"/>
                </a:solidFill>
                <a:latin typeface="Calibri"/>
              </a:rPr>
              <a:t>YOLOv8s plus ByteTrack on RTX 4050 laptop. No extra hardware.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MS) Bold"/>
                <a:ea typeface="Calibri (MS) Bold"/>
                <a:cs typeface="Calibri (MS) Bold"/>
                <a:sym typeface="Calibri (MS) Bold"/>
              </a:rPr>
              <a:t>IMPACT AND BENEFITS</a:t>
            </a:r>
          </a:p>
          <a:p>
            <a:pPr algn="ctr">
              <a:lnSpc>
                <a:spcPts val="7300"/>
              </a:lnSpc>
            </a:pPr>
          </a:p>
        </p:txBody>
      </p:sp>
      <p:pic>
        <p:nvPicPr>
          <p:cNvPr id="5" name="Picture 4" descr="temple_best.jpg"/>
          <p:cNvPicPr>
            <a:picLocks noChangeAspect="1"/>
          </p:cNvPicPr>
          <p:nvPr/>
        </p:nvPicPr>
        <p:blipFill>
          <a:blip r:embed="rId3"/>
          <a:stretch>
            <a:fillRect/>
          </a:stretch>
        </p:blipFill>
        <p:spPr>
          <a:xfrm>
            <a:off x="731520" y="2560320"/>
            <a:ext cx="7680960" cy="6400800"/>
          </a:xfrm>
          <a:prstGeom prst="rect">
            <a:avLst/>
          </a:prstGeom>
        </p:spPr>
      </p:pic>
      <p:sp>
        <p:nvSpPr>
          <p:cNvPr id="6" name="TextBox 5"/>
          <p:cNvSpPr txBox="1"/>
          <p:nvPr/>
        </p:nvSpPr>
        <p:spPr>
          <a:xfrm>
            <a:off x="9144000" y="2560320"/>
            <a:ext cx="8412480" cy="2011680"/>
          </a:xfrm>
          <a:prstGeom prst="rect">
            <a:avLst/>
          </a:prstGeom>
          <a:noFill/>
        </p:spPr>
        <p:txBody>
          <a:bodyPr wrap="square">
            <a:spAutoFit/>
          </a:bodyPr>
          <a:lstStyle/>
          <a:p>
            <a:pPr algn="l">
              <a:spcAft>
                <a:spcPts val="800"/>
              </a:spcAft>
            </a:pPr>
            <a:r>
              <a:rPr sz="2100" b="0">
                <a:solidFill>
                  <a:srgbClr val="111111"/>
                </a:solidFill>
                <a:latin typeface="Calibri"/>
              </a:rPr>
              <a:t>Before: 50 screens, one tired operator.</a:t>
            </a:r>
          </a:p>
          <a:p>
            <a:pPr algn="l">
              <a:spcAft>
                <a:spcPts val="800"/>
              </a:spcAft>
            </a:pPr>
            <a:r>
              <a:rPr sz="2100" b="1">
                <a:solidFill>
                  <a:srgbClr val="1E2761"/>
                </a:solidFill>
                <a:latin typeface="Calibri"/>
              </a:rPr>
              <a:t>After: one wall, zone-wise push to guards.</a:t>
            </a:r>
          </a:p>
        </p:txBody>
      </p:sp>
      <p:sp>
        <p:nvSpPr>
          <p:cNvPr id="7" name="Rounded Rectangle 6"/>
          <p:cNvSpPr/>
          <p:nvPr/>
        </p:nvSpPr>
        <p:spPr>
          <a:xfrm>
            <a:off x="9144000" y="475488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4983480"/>
            <a:ext cx="7863840" cy="868680"/>
          </a:xfrm>
          <a:prstGeom prst="rect">
            <a:avLst/>
          </a:prstGeom>
          <a:noFill/>
        </p:spPr>
        <p:txBody>
          <a:bodyPr wrap="square">
            <a:spAutoFit/>
          </a:bodyPr>
          <a:lstStyle/>
          <a:p>
            <a:pPr algn="l">
              <a:spcAft>
                <a:spcPts val="600"/>
              </a:spcAft>
            </a:pPr>
            <a:r>
              <a:rPr sz="2100" b="1">
                <a:solidFill>
                  <a:srgbClr val="1E2761"/>
                </a:solidFill>
                <a:latin typeface="Calibri"/>
              </a:rPr>
              <a:t>Organizers</a:t>
            </a:r>
          </a:p>
          <a:p>
            <a:pPr algn="l">
              <a:spcAft>
                <a:spcPts val="600"/>
              </a:spcAft>
            </a:pPr>
            <a:r>
              <a:rPr sz="1800" b="0">
                <a:solidFill>
                  <a:srgbClr val="111111"/>
                </a:solidFill>
                <a:latin typeface="Calibri"/>
              </a:rPr>
              <a:t>Bottleneck flagged 60s before humans see it</a:t>
            </a:r>
          </a:p>
        </p:txBody>
      </p:sp>
      <p:sp>
        <p:nvSpPr>
          <p:cNvPr id="9" name="Rounded Rectangle 8"/>
          <p:cNvSpPr/>
          <p:nvPr/>
        </p:nvSpPr>
        <p:spPr>
          <a:xfrm>
            <a:off x="9144000" y="621792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6446520"/>
            <a:ext cx="7863840" cy="868680"/>
          </a:xfrm>
          <a:prstGeom prst="rect">
            <a:avLst/>
          </a:prstGeom>
          <a:noFill/>
        </p:spPr>
        <p:txBody>
          <a:bodyPr wrap="square">
            <a:spAutoFit/>
          </a:bodyPr>
          <a:lstStyle/>
          <a:p>
            <a:pPr algn="l">
              <a:spcAft>
                <a:spcPts val="600"/>
              </a:spcAft>
            </a:pPr>
            <a:r>
              <a:rPr sz="2100" b="1">
                <a:solidFill>
                  <a:srgbClr val="1E2761"/>
                </a:solidFill>
                <a:latin typeface="Calibri"/>
              </a:rPr>
              <a:t>Police</a:t>
            </a:r>
          </a:p>
          <a:p>
            <a:pPr algn="l">
              <a:spcAft>
                <a:spcPts val="600"/>
              </a:spcAft>
            </a:pPr>
            <a:r>
              <a:rPr sz="1800" b="0">
                <a:solidFill>
                  <a:srgbClr val="111111"/>
                </a:solidFill>
                <a:latin typeface="Calibri"/>
              </a:rPr>
              <a:t>Photo search under 2s, dossier plus trail in one click</a:t>
            </a:r>
          </a:p>
        </p:txBody>
      </p:sp>
      <p:sp>
        <p:nvSpPr>
          <p:cNvPr id="11" name="Rounded Rectangle 10"/>
          <p:cNvSpPr/>
          <p:nvPr/>
        </p:nvSpPr>
        <p:spPr>
          <a:xfrm>
            <a:off x="9144000" y="768096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0" y="7909560"/>
            <a:ext cx="7863840" cy="868680"/>
          </a:xfrm>
          <a:prstGeom prst="rect">
            <a:avLst/>
          </a:prstGeom>
          <a:noFill/>
        </p:spPr>
        <p:txBody>
          <a:bodyPr wrap="square">
            <a:spAutoFit/>
          </a:bodyPr>
          <a:lstStyle/>
          <a:p>
            <a:pPr algn="l">
              <a:spcAft>
                <a:spcPts val="600"/>
              </a:spcAft>
            </a:pPr>
            <a:r>
              <a:rPr sz="2100" b="1">
                <a:solidFill>
                  <a:srgbClr val="1E2761"/>
                </a:solidFill>
                <a:latin typeface="Calibri"/>
              </a:rPr>
              <a:t>Public</a:t>
            </a:r>
          </a:p>
          <a:p>
            <a:pPr algn="l">
              <a:spcAft>
                <a:spcPts val="600"/>
              </a:spcAft>
            </a:pPr>
            <a:r>
              <a:rPr sz="1800" b="0">
                <a:solidFill>
                  <a:srgbClr val="111111"/>
                </a:solidFill>
                <a:latin typeface="Calibri"/>
              </a:rPr>
              <a:t>Safer exits, faster help, blurred storage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MS) Bold"/>
                <a:ea typeface="Calibri (MS) Bold"/>
                <a:cs typeface="Calibri (MS) Bold"/>
                <a:sym typeface="Calibri (MS) Bold"/>
              </a:rPr>
              <a:t>RESEARCH  AND REFERENCES</a:t>
            </a:r>
          </a:p>
          <a:p>
            <a:pPr algn="ctr">
              <a:lnSpc>
                <a:spcPts val="7198"/>
              </a:lnSpc>
            </a:pPr>
          </a:p>
        </p:txBody>
      </p:sp>
      <p:sp>
        <p:nvSpPr>
          <p:cNvPr id="5" name="TextBox 4"/>
          <p:cNvSpPr txBox="1"/>
          <p:nvPr/>
        </p:nvSpPr>
        <p:spPr>
          <a:xfrm>
            <a:off x="914400" y="2651760"/>
            <a:ext cx="16459200" cy="3108960"/>
          </a:xfrm>
          <a:prstGeom prst="rect">
            <a:avLst/>
          </a:prstGeom>
          <a:noFill/>
        </p:spPr>
        <p:txBody>
          <a:bodyPr wrap="square">
            <a:spAutoFit/>
          </a:bodyPr>
          <a:lstStyle/>
          <a:p>
            <a:pPr algn="l">
              <a:spcAft>
                <a:spcPts val="1000"/>
              </a:spcAft>
            </a:pPr>
            <a:r>
              <a:rPr sz="2000" b="0">
                <a:solidFill>
                  <a:srgbClr val="111111"/>
                </a:solidFill>
                <a:latin typeface="Calibri"/>
              </a:rPr>
              <a:t>YOLOv8 plus ByteTrack, 2025-26 studies: best speed balance; ByteTrack 14 percent faster than BoT-SORT.</a:t>
            </a:r>
          </a:p>
          <a:p>
            <a:pPr algn="l">
              <a:spcAft>
                <a:spcPts val="1000"/>
              </a:spcAft>
            </a:pPr>
            <a:r>
              <a:rPr sz="2000" b="0">
                <a:solidFill>
                  <a:srgbClr val="111111"/>
                </a:solidFill>
                <a:latin typeface="Calibri"/>
              </a:rPr>
              <a:t>ArcFace buffalo plus Faiss: 99.5 percent LFW, cosine 0.40, vote smoothing steadies matches.</a:t>
            </a:r>
          </a:p>
          <a:p>
            <a:pPr algn="l">
              <a:spcAft>
                <a:spcPts val="1000"/>
              </a:spcAft>
            </a:pPr>
            <a:r>
              <a:rPr sz="2000" b="0">
                <a:solidFill>
                  <a:srgbClr val="111111"/>
                </a:solidFill>
                <a:latin typeface="Calibri"/>
              </a:rPr>
              <a:t>Stampede models: AURORA hybrid, FTLE bottlenecks, Delhi pilot cut response 37 percent.</a:t>
            </a:r>
          </a:p>
          <a:p>
            <a:pPr algn="l">
              <a:spcAft>
                <a:spcPts val="1000"/>
              </a:spcAft>
            </a:pPr>
            <a:r>
              <a:rPr sz="2000" b="0">
                <a:solidFill>
                  <a:srgbClr val="111111"/>
                </a:solidFill>
                <a:latin typeface="Calibri"/>
              </a:rPr>
              <a:t>India context: Hathras, Kumbh, station crushes come from density plus blocked exits.</a:t>
            </a:r>
          </a:p>
        </p:txBody>
      </p:sp>
      <p:sp>
        <p:nvSpPr>
          <p:cNvPr id="6" name="Rounded Rectangle 5"/>
          <p:cNvSpPr/>
          <p:nvPr/>
        </p:nvSpPr>
        <p:spPr>
          <a:xfrm>
            <a:off x="9144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Blurred storage</a:t>
            </a:r>
          </a:p>
          <a:p>
            <a:pPr algn="l">
              <a:spcAft>
                <a:spcPts val="600"/>
              </a:spcAft>
            </a:pPr>
            <a:r>
              <a:rPr sz="1800" b="0">
                <a:solidFill>
                  <a:srgbClr val="111111"/>
                </a:solidFill>
                <a:latin typeface="Calibri"/>
              </a:rPr>
              <a:t>faces blurred on disk</a:t>
            </a:r>
          </a:p>
        </p:txBody>
      </p:sp>
      <p:sp>
        <p:nvSpPr>
          <p:cNvPr id="8" name="Rounded Rectangle 7"/>
          <p:cNvSpPr/>
          <p:nvPr/>
        </p:nvSpPr>
        <p:spPr>
          <a:xfrm>
            <a:off x="52578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321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7-day purge</a:t>
            </a:r>
          </a:p>
          <a:p>
            <a:pPr algn="l">
              <a:spcAft>
                <a:spcPts val="600"/>
              </a:spcAft>
            </a:pPr>
            <a:r>
              <a:rPr sz="1800" b="0">
                <a:solidFill>
                  <a:srgbClr val="111111"/>
                </a:solidFill>
                <a:latin typeface="Calibri"/>
              </a:rPr>
              <a:t>auto delete, no backlog</a:t>
            </a:r>
          </a:p>
        </p:txBody>
      </p:sp>
      <p:sp>
        <p:nvSpPr>
          <p:cNvPr id="10" name="Rounded Rectangle 9"/>
          <p:cNvSpPr/>
          <p:nvPr/>
        </p:nvSpPr>
        <p:spPr>
          <a:xfrm>
            <a:off x="96012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Audit log</a:t>
            </a:r>
          </a:p>
          <a:p>
            <a:pPr algn="l">
              <a:spcAft>
                <a:spcPts val="600"/>
              </a:spcAft>
            </a:pPr>
            <a:r>
              <a:rPr sz="1800" b="0">
                <a:solidFill>
                  <a:srgbClr val="111111"/>
                </a:solidFill>
                <a:latin typeface="Calibri"/>
              </a:rPr>
              <a:t>hash-chained actions</a:t>
            </a:r>
          </a:p>
        </p:txBody>
      </p:sp>
      <p:sp>
        <p:nvSpPr>
          <p:cNvPr id="12" name="Rounded Rectangle 11"/>
          <p:cNvSpPr/>
          <p:nvPr/>
        </p:nvSpPr>
        <p:spPr>
          <a:xfrm>
            <a:off x="139446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2189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No ID linkage</a:t>
            </a:r>
          </a:p>
          <a:p>
            <a:pPr algn="l">
              <a:spcAft>
                <a:spcPts val="600"/>
              </a:spcAft>
            </a:pPr>
            <a:r>
              <a:rPr sz="1800" b="0">
                <a:solidFill>
                  <a:srgbClr val="111111"/>
                </a:solidFill>
                <a:latin typeface="Calibri"/>
              </a:rPr>
              <a:t>opt-in gallery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