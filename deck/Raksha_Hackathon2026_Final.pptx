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mbria Bold" charset="1" panose="02040803050406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E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7667" y="2371725"/>
            <a:ext cx="14945106" cy="696420"/>
            <a:chOff x="0" y="0"/>
            <a:chExt cx="19926808" cy="92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26808" cy="928624"/>
            </a:xfrm>
            <a:custGeom>
              <a:avLst/>
              <a:gdLst/>
              <a:ahLst/>
              <a:cxnLst/>
              <a:rect r="r" b="b" t="t" l="l"/>
              <a:pathLst>
                <a:path h="928624" w="19926808">
                  <a:moveTo>
                    <a:pt x="0" y="0"/>
                  </a:moveTo>
                  <a:lnTo>
                    <a:pt x="19926808" y="0"/>
                  </a:lnTo>
                  <a:lnTo>
                    <a:pt x="19926808" y="928624"/>
                  </a:lnTo>
                  <a:lnTo>
                    <a:pt x="0" y="928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830" r="0" b="-3678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7667" y="2321719"/>
            <a:ext cx="14945106" cy="746427"/>
            <a:chOff x="0" y="0"/>
            <a:chExt cx="19926808" cy="9952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6804" cy="995236"/>
            </a:xfrm>
            <a:custGeom>
              <a:avLst/>
              <a:gdLst/>
              <a:ahLst/>
              <a:cxnLst/>
              <a:rect r="r" b="b" t="t" l="l"/>
              <a:pathLst>
                <a:path h="995236" w="19926804">
                  <a:moveTo>
                    <a:pt x="0" y="0"/>
                  </a:moveTo>
                  <a:lnTo>
                    <a:pt x="19926804" y="0"/>
                  </a:lnTo>
                  <a:lnTo>
                    <a:pt x="19926804" y="995236"/>
                  </a:lnTo>
                  <a:lnTo>
                    <a:pt x="0" y="9952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33" r="0" b="-3401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9926808" cy="1061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b="true" sz="3498" spc="582">
                  <a:solidFill>
                    <a:srgbClr val="3E8E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&amp; ENGINEERING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2790825"/>
            <a:ext cx="16870680" cy="2194560"/>
            <a:chOff x="0" y="0"/>
            <a:chExt cx="2249424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942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687" r="0" b="-9968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2776538"/>
            <a:ext cx="16870680" cy="2208848"/>
            <a:chOff x="0" y="0"/>
            <a:chExt cx="22494240" cy="29451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94239" cy="2945130"/>
            </a:xfrm>
            <a:custGeom>
              <a:avLst/>
              <a:gdLst/>
              <a:ahLst/>
              <a:cxnLst/>
              <a:rect r="r" b="b" t="t" l="l"/>
              <a:pathLst>
                <a:path h="294513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945130"/>
                  </a:lnTo>
                  <a:lnTo>
                    <a:pt x="0" y="2945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22" r="0" b="-9882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4942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HACKATHON </a:t>
              </a:r>
              <a:r>
                <a:rPr lang="en-US" sz="9000" b="true">
                  <a:solidFill>
                    <a:srgbClr val="3E8EF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4869180"/>
            <a:ext cx="13716000" cy="744379"/>
            <a:chOff x="0" y="0"/>
            <a:chExt cx="18288000" cy="9925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0" cy="992505"/>
            </a:xfrm>
            <a:custGeom>
              <a:avLst/>
              <a:gdLst/>
              <a:ahLst/>
              <a:cxnLst/>
              <a:rect r="r" b="b" t="t" l="l"/>
              <a:pathLst>
                <a:path h="99250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8783" r="0" b="-30878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" y="4812030"/>
            <a:ext cx="13716000" cy="801529"/>
            <a:chOff x="0" y="0"/>
            <a:chExt cx="18288000" cy="10687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068708"/>
            </a:xfrm>
            <a:custGeom>
              <a:avLst/>
              <a:gdLst/>
              <a:ahLst/>
              <a:cxnLst/>
              <a:rect r="r" b="b" t="t" l="l"/>
              <a:pathLst>
                <a:path h="106870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68708"/>
                  </a:lnTo>
                  <a:lnTo>
                    <a:pt x="0" y="1068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33" r="0" b="-2834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8288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8"/>
                </a:lnSpc>
              </a:pPr>
              <a:r>
                <a:rPr lang="en-US" sz="3699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Idea Submission Template  —  Code. Create. Innovate.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37711" y="5949791"/>
            <a:ext cx="13200698" cy="3530917"/>
          </a:xfrm>
          <a:custGeom>
            <a:avLst/>
            <a:gdLst/>
            <a:ahLst/>
            <a:cxnLst/>
            <a:rect r="r" b="b" t="t" l="l"/>
            <a:pathLst>
              <a:path h="3530917" w="13200698">
                <a:moveTo>
                  <a:pt x="0" y="0"/>
                </a:moveTo>
                <a:lnTo>
                  <a:pt x="13200698" y="0"/>
                </a:lnTo>
                <a:lnTo>
                  <a:pt x="13200698" y="3530918"/>
                </a:lnTo>
                <a:lnTo>
                  <a:pt x="0" y="3530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65860" y="6268212"/>
            <a:ext cx="4114800" cy="657987"/>
            <a:chOff x="0" y="0"/>
            <a:chExt cx="5486400" cy="8773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6218206"/>
            <a:ext cx="4114800" cy="707993"/>
            <a:chOff x="0" y="0"/>
            <a:chExt cx="5486400" cy="943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Name: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2640">
            <a:off x="1156335" y="6944487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65860" y="7063740"/>
            <a:ext cx="4114800" cy="657987"/>
            <a:chOff x="0" y="0"/>
            <a:chExt cx="5486400" cy="8773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7013734"/>
            <a:ext cx="4114800" cy="707993"/>
            <a:chOff x="0" y="0"/>
            <a:chExt cx="5486400" cy="943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No: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2640">
            <a:off x="1156335" y="7740015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165860" y="7896796"/>
            <a:ext cx="4548254" cy="643528"/>
            <a:chOff x="0" y="0"/>
            <a:chExt cx="6064339" cy="8580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64377" cy="858012"/>
            </a:xfrm>
            <a:custGeom>
              <a:avLst/>
              <a:gdLst/>
              <a:ahLst/>
              <a:cxnLst/>
              <a:rect r="r" b="b" t="t" l="l"/>
              <a:pathLst>
                <a:path h="858012" w="6064377">
                  <a:moveTo>
                    <a:pt x="0" y="0"/>
                  </a:moveTo>
                  <a:lnTo>
                    <a:pt x="6064377" y="0"/>
                  </a:lnTo>
                  <a:lnTo>
                    <a:pt x="6064377" y="858012"/>
                  </a:lnTo>
                  <a:lnTo>
                    <a:pt x="0" y="858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619" r="0" b="-8762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65860" y="7839646"/>
            <a:ext cx="4548254" cy="700678"/>
            <a:chOff x="0" y="0"/>
            <a:chExt cx="6064339" cy="9342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64334" cy="934241"/>
            </a:xfrm>
            <a:custGeom>
              <a:avLst/>
              <a:gdLst/>
              <a:ahLst/>
              <a:cxnLst/>
              <a:rect r="r" b="b" t="t" l="l"/>
              <a:pathLst>
                <a:path h="934241" w="6064334">
                  <a:moveTo>
                    <a:pt x="0" y="0"/>
                  </a:moveTo>
                  <a:lnTo>
                    <a:pt x="6064334" y="0"/>
                  </a:lnTo>
                  <a:lnTo>
                    <a:pt x="6064334" y="934241"/>
                  </a:lnTo>
                  <a:lnTo>
                    <a:pt x="0" y="9342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481" r="0" b="-764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6064339" cy="1010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8"/>
                </a:lnSpc>
              </a:pPr>
              <a:r>
                <a:rPr lang="en-US" sz="3198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Title: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2640">
            <a:off x="1156335" y="8535543"/>
            <a:ext cx="12363450" cy="0"/>
          </a:xfrm>
          <a:prstGeom prst="line">
            <a:avLst/>
          </a:prstGeom>
          <a:ln cap="rnd" w="9525">
            <a:solidFill>
              <a:srgbClr val="CADCFC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165860" y="8654796"/>
            <a:ext cx="4114800" cy="657987"/>
            <a:chOff x="0" y="0"/>
            <a:chExt cx="5486400" cy="8773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877316"/>
            </a:xfrm>
            <a:custGeom>
              <a:avLst/>
              <a:gdLst/>
              <a:ahLst/>
              <a:cxnLst/>
              <a:rect r="r" b="b" t="t" l="l"/>
              <a:pathLst>
                <a:path h="87731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77316"/>
                  </a:lnTo>
                  <a:lnTo>
                    <a:pt x="0" y="8773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67" r="0" b="-7176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8604790"/>
            <a:ext cx="4114800" cy="707993"/>
            <a:chOff x="0" y="0"/>
            <a:chExt cx="5486400" cy="943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943990"/>
            </a:xfrm>
            <a:custGeom>
              <a:avLst/>
              <a:gdLst/>
              <a:ahLst/>
              <a:cxnLst/>
              <a:rect r="r" b="b" t="t" l="l"/>
              <a:pathLst>
                <a:path h="94399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43990"/>
                  </a:lnTo>
                  <a:lnTo>
                    <a:pt x="0" y="943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45" r="0" b="-632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5486400" cy="1010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Leader Name: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380" y="153495"/>
            <a:ext cx="16504920" cy="1930451"/>
            <a:chOff x="0" y="0"/>
            <a:chExt cx="22006560" cy="25739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006561" cy="2573909"/>
            </a:xfrm>
            <a:custGeom>
              <a:avLst/>
              <a:gdLst/>
              <a:ahLst/>
              <a:cxnLst/>
              <a:rect r="r" b="b" t="t" l="l"/>
              <a:pathLst>
                <a:path h="2573909" w="22006561">
                  <a:moveTo>
                    <a:pt x="0" y="0"/>
                  </a:moveTo>
                  <a:lnTo>
                    <a:pt x="22006561" y="0"/>
                  </a:lnTo>
                  <a:lnTo>
                    <a:pt x="22006561" y="2573909"/>
                  </a:lnTo>
                  <a:lnTo>
                    <a:pt x="0" y="2573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66" r="0" b="-1766"/>
              </a:stretch>
            </a:blipFill>
          </p:spPr>
        </p:sp>
      </p:grpSp>
      <p:sp>
        <p:nvSpPr>
          <p:cNvPr id="43" name="TextBox 42"/>
          <p:cNvSpPr txBox="1"/>
          <p:nvPr/>
        </p:nvSpPr>
        <p:spPr>
          <a:xfrm>
            <a:off x="4754880" y="6217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Team Raksha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700430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7818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Improving Safety at Large Public 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8595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9771" y="569100"/>
            <a:ext cx="336039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sz="6051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IDEA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645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RAKSHA Command Center: </a:t>
            </a:r>
            <a:r>
              <a:rPr sz="2600" b="0">
                <a:solidFill>
                  <a:srgbClr val="111111"/>
                </a:solidFill>
                <a:latin typeface="Calibri"/>
              </a:rPr>
              <a:t>Know the crowd. Know the person. Stop the surge.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What: </a:t>
            </a:r>
            <a:r>
              <a:rPr sz="2600" b="0">
                <a:solidFill>
                  <a:srgbClr val="111111"/>
                </a:solidFill>
                <a:latin typeface="Calibri"/>
              </a:rPr>
              <a:t>Live multi-camera tracking plus instant person dossier plus stampede prevention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Wow: </a:t>
            </a:r>
            <a:r>
              <a:rPr sz="2600" b="0">
                <a:solidFill>
                  <a:srgbClr val="111111"/>
                </a:solidFill>
                <a:latin typeface="Calibri"/>
              </a:rPr>
              <a:t>Face appears, file pops in 0.4s. Zone RED, guard diverts in under 1s.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Live Tracking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YOLOv8 plus ByteTrack IDs survive occlusion and cross-cam ReID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Instant Dossier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ArcFace 512-D plus age, gender, clothing and trajectory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Proactive Action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Density times stillness times counterflow equals risk meter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509340"/>
            <a:ext cx="7914084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8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APPROACH</a:t>
            </a:r>
          </a:p>
          <a:p>
            <a:pPr algn="ctr">
              <a:lnSpc>
                <a:spcPts val="6719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645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Ingest: </a:t>
            </a:r>
            <a:r>
              <a:rPr sz="2400" b="0">
                <a:solidFill>
                  <a:srgbClr val="111111"/>
                </a:solidFill>
                <a:latin typeface="Calibri"/>
              </a:rPr>
              <a:t>RTSP, webcam, video file plus zone polygons. 720p and frame-skip 2 for CPU speed.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Detect plus Track: </a:t>
            </a:r>
            <a:r>
              <a:rPr sz="2400" b="0">
                <a:solidFill>
                  <a:srgbClr val="111111"/>
                </a:solidFill>
                <a:latin typeface="Calibri"/>
              </a:rPr>
              <a:t>YOLOv8n plus ByteTrack persist. OSNet ReID plus Hungarian for global ID.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Face plus Attributes: </a:t>
            </a:r>
            <a:r>
              <a:rPr sz="2400" b="0">
                <a:solidFill>
                  <a:srgbClr val="111111"/>
                </a:solidFill>
                <a:latin typeface="Calibri"/>
              </a:rPr>
              <a:t>Best-snapshot scoring for blur and pose. ArcFace plus clothing and age.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Search plus Analyze: </a:t>
            </a:r>
            <a:r>
              <a:rPr sz="2400" b="0">
                <a:solidFill>
                  <a:srgbClr val="111111"/>
                </a:solidFill>
                <a:latin typeface="Calibri"/>
              </a:rPr>
              <a:t>Faiss one-person-one-file. Density, flow and bottleneck alerts under 1s.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Pipeline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Ingest to Track to Face to Match to Analyze to 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Quality Gate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Only sharp frontal faces enroll. No junk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Demo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CAM-03: 42 persons, A-1047 at 0.91, Zone C RED, Exit 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9484" y="390363"/>
            <a:ext cx="8544516" cy="205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0"/>
              </a:lnSpc>
            </a:pPr>
            <a:r>
              <a:rPr lang="en-US" sz="603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 AND VIABILITY</a:t>
            </a:r>
          </a:p>
          <a:p>
            <a:pPr algn="ctr">
              <a:lnSpc>
                <a:spcPts val="724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645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Tracking on CPU: </a:t>
            </a:r>
            <a:r>
              <a:rPr sz="2400" b="0">
                <a:solidFill>
                  <a:srgbClr val="111111"/>
                </a:solidFill>
                <a:latin typeface="Calibri"/>
              </a:rPr>
              <a:t>YOLOv8n plus ByteTrack 8 to 12 FPS on i5, 20 FPS with ONNX. Assoc under 1ms.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Face live: </a:t>
            </a:r>
            <a:r>
              <a:rPr sz="2400" b="0">
                <a:solidFill>
                  <a:srgbClr val="111111"/>
                </a:solidFill>
                <a:latin typeface="Calibri"/>
              </a:rPr>
              <a:t>ArcFace 99.5 percent LFW, 15ms per face. Faiss 10M vectors in 3.8ms.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Stampede warning: </a:t>
            </a:r>
            <a:r>
              <a:rPr sz="2400" b="0">
                <a:solidFill>
                  <a:srgbClr val="111111"/>
                </a:solidFill>
                <a:latin typeface="Calibri"/>
              </a:rPr>
              <a:t>AURORA 94.3 percent, 13.8s early lead. Rule version proven in field.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1E2761"/>
                </a:solidFill>
                <a:latin typeface="Calibri"/>
              </a:rPr>
              <a:t>• 24h MVP: </a:t>
            </a:r>
            <a:r>
              <a:rPr sz="2400" b="0">
                <a:solidFill>
                  <a:srgbClr val="111111"/>
                </a:solidFill>
                <a:latin typeface="Calibri"/>
              </a:rPr>
              <a:t>Webcam plus 2 clips plus 20 faces. No GPU needed for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Evidence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2025-26 CPU studies plus InsightFace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Tuning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640 input, 720p, skip 2 frames for real-time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Fallback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IoU tracker 64 FPS and clothing search if face hidden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9562" y="334623"/>
            <a:ext cx="730776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6083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AND BENEFITS</a:t>
            </a:r>
          </a:p>
          <a:p>
            <a:pPr algn="ctr">
              <a:lnSpc>
                <a:spcPts val="73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645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Lives saved: </a:t>
            </a:r>
            <a:r>
              <a:rPr sz="2600" b="0">
                <a:solidFill>
                  <a:srgbClr val="111111"/>
                </a:solidFill>
                <a:latin typeface="Calibri"/>
              </a:rPr>
              <a:t>Bottleneck caught 60s before human. Early diversion with PA and signage.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Find fast: </a:t>
            </a:r>
            <a:r>
              <a:rPr sz="2600" b="0">
                <a:solidFill>
                  <a:srgbClr val="111111"/>
                </a:solidFill>
                <a:latin typeface="Calibri"/>
              </a:rPr>
              <a:t>Lost kid or suspect by photo or clothing filter in under 2s with clip export.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Where it fits: </a:t>
            </a:r>
            <a:r>
              <a:rPr sz="2600" b="0">
                <a:solidFill>
                  <a:srgbClr val="111111"/>
                </a:solidFill>
                <a:latin typeface="Calibri"/>
              </a:rPr>
              <a:t>Mela, stadium, station, campus and mall. Same wall, zone-wise push.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• Pilot metric: </a:t>
            </a:r>
            <a:r>
              <a:rPr sz="2600" b="0">
                <a:solidFill>
                  <a:srgbClr val="111111"/>
                </a:solidFill>
                <a:latin typeface="Calibri"/>
              </a:rPr>
              <a:t>Over 60s lead time, under 2s search, under 1s alert, audit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Organizers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One screen replaces 50-screen stare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Police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Dossier plus trail plus audit in one click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0" y="7315200"/>
            <a:ext cx="5212080" cy="2286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0" y="75895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761"/>
                </a:solidFill>
                <a:latin typeface="Calibri"/>
              </a:rPr>
              <a:t>Public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11111"/>
                </a:solidFill>
                <a:latin typeface="Calibri"/>
              </a:rPr>
              <a:t>Safer exits, faster help, blurred storage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1879" y="2449173"/>
            <a:ext cx="7724251" cy="5388654"/>
            <a:chOff x="0" y="0"/>
            <a:chExt cx="10299002" cy="7184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8938" cy="7184898"/>
            </a:xfrm>
            <a:custGeom>
              <a:avLst/>
              <a:gdLst/>
              <a:ahLst/>
              <a:cxnLst/>
              <a:rect r="r" b="b" t="t" l="l"/>
              <a:pathLst>
                <a:path h="7184898" w="10298938">
                  <a:moveTo>
                    <a:pt x="0" y="0"/>
                  </a:moveTo>
                  <a:lnTo>
                    <a:pt x="10298938" y="0"/>
                  </a:lnTo>
                  <a:lnTo>
                    <a:pt x="10298938" y="7184898"/>
                  </a:lnTo>
                  <a:lnTo>
                    <a:pt x="0" y="718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3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4188" y="561975"/>
            <a:ext cx="919728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8"/>
              </a:lnSpc>
            </a:pPr>
            <a:r>
              <a:rPr lang="en-US" sz="5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  AND REFERENCES</a:t>
            </a:r>
          </a:p>
          <a:p>
            <a:pPr algn="ctr">
              <a:lnSpc>
                <a:spcPts val="7198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645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300" b="1">
                <a:solidFill>
                  <a:srgbClr val="1E2761"/>
                </a:solidFill>
                <a:latin typeface="Calibri"/>
              </a:rPr>
              <a:t>• YOLO plus ByteTrack: </a:t>
            </a:r>
            <a:r>
              <a:rPr sz="2300" b="0">
                <a:solidFill>
                  <a:srgbClr val="111111"/>
                </a:solidFill>
                <a:latin typeface="Calibri"/>
              </a:rPr>
              <a:t>2025-26 studies: YOLOv8n best balance. ByteTrack 14 percent faster than BoT-SORT.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300" b="1">
                <a:solidFill>
                  <a:srgbClr val="1E2761"/>
                </a:solidFill>
                <a:latin typeface="Calibri"/>
              </a:rPr>
              <a:t>• ArcFace plus Faiss: </a:t>
            </a:r>
            <a:r>
              <a:rPr sz="2300" b="0">
                <a:solidFill>
                  <a:srgbClr val="111111"/>
                </a:solidFill>
                <a:latin typeface="Calibri"/>
              </a:rPr>
              <a:t>Buffalo pack 99.5 percent LFW. Cosine 0.40 threshold. Temporal smoothing stabilizes.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300" b="1">
                <a:solidFill>
                  <a:srgbClr val="1E2761"/>
                </a:solidFill>
                <a:latin typeface="Calibri"/>
              </a:rPr>
              <a:t>• Stampede models: </a:t>
            </a:r>
            <a:r>
              <a:rPr sz="2300" b="0">
                <a:solidFill>
                  <a:srgbClr val="111111"/>
                </a:solidFill>
                <a:latin typeface="Calibri"/>
              </a:rPr>
              <a:t>AURORA hybrid plus FTLE bottleneck detection, AVSS 2019. Delhi pilot cut response 37pc.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300" b="1">
                <a:solidFill>
                  <a:srgbClr val="1E2761"/>
                </a:solidFill>
                <a:latin typeface="Calibri"/>
              </a:rPr>
              <a:t>• India context: </a:t>
            </a:r>
            <a:r>
              <a:rPr sz="2300" b="0">
                <a:solidFill>
                  <a:srgbClr val="111111"/>
                </a:solidFill>
                <a:latin typeface="Calibri"/>
              </a:rPr>
              <a:t>Hathras, Kumbh and station pattern: density plus blocked exit. STAR-Crowd Kumbh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DAHVV4k08Hg</dc:identifier>
  <dcterms:modified xsi:type="dcterms:W3CDTF">2011-08-01T06:04:30Z</dcterms:modified>
  <cp:revision>1</cp:revision>
  <dc:title>HACKATHON 2026.pptx</dc:title>
</cp:coreProperties>
</file>