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Video checks per second (higher is better)</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0.4s.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are built in, not bolted on. Opt-in enrollment, blurred stored video, 7-day purge, append-only audit, no central ID linkage in the hackathon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sp>
        <p:nvSpPr>
          <p:cNvPr name="Freeform 17" id="17"/>
          <p:cNvSpPr/>
          <p:nvPr/>
        </p:nvSpPr>
        <p:spPr>
          <a:xfrm flipH="false" flipV="false" rot="0">
            <a:off x="737711" y="5949791"/>
            <a:ext cx="13200698" cy="3530917"/>
          </a:xfrm>
          <a:custGeom>
            <a:avLst/>
            <a:gdLst/>
            <a:ahLst/>
            <a:cxnLst/>
            <a:rect r="r" b="b" t="t" l="l"/>
            <a:pathLst>
              <a:path h="3530917" w="13200698">
                <a:moveTo>
                  <a:pt x="0" y="0"/>
                </a:moveTo>
                <a:lnTo>
                  <a:pt x="13200698" y="0"/>
                </a:lnTo>
                <a:lnTo>
                  <a:pt x="1320069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8" id="18"/>
          <p:cNvGrpSpPr/>
          <p:nvPr/>
        </p:nvGrpSpPr>
        <p:grpSpPr>
          <a:xfrm rot="0">
            <a:off x="1165860" y="6268212"/>
            <a:ext cx="4114800" cy="657987"/>
            <a:chOff x="0" y="0"/>
            <a:chExt cx="5486400" cy="877316"/>
          </a:xfrm>
        </p:grpSpPr>
        <p:sp>
          <p:nvSpPr>
            <p:cNvPr name="Freeform 19" id="19"/>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0" id="20"/>
          <p:cNvGrpSpPr/>
          <p:nvPr/>
        </p:nvGrpSpPr>
        <p:grpSpPr>
          <a:xfrm rot="0">
            <a:off x="1165860" y="6218206"/>
            <a:ext cx="4114800" cy="707993"/>
            <a:chOff x="0" y="0"/>
            <a:chExt cx="5486400" cy="943991"/>
          </a:xfrm>
        </p:grpSpPr>
        <p:sp>
          <p:nvSpPr>
            <p:cNvPr name="Freeform 21" id="21"/>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2" id="22"/>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a:ea typeface="Calibri"/>
                  <a:cs typeface="Calibri"/>
                  <a:sym typeface="Calibri"/>
                </a:rPr>
                <a:t>Team Name:</a:t>
              </a:r>
            </a:p>
          </p:txBody>
        </p:sp>
      </p:grpSp>
      <p:sp>
        <p:nvSpPr>
          <p:cNvPr name="AutoShape 23" id="23"/>
          <p:cNvSpPr/>
          <p:nvPr/>
        </p:nvSpPr>
        <p:spPr>
          <a:xfrm rot="2640">
            <a:off x="1156335" y="6944487"/>
            <a:ext cx="12363450" cy="0"/>
          </a:xfrm>
          <a:prstGeom prst="line">
            <a:avLst/>
          </a:prstGeom>
          <a:ln cap="rnd" w="9525">
            <a:solidFill>
              <a:srgbClr val="CADCFC">
                <a:alpha val="60000"/>
              </a:srgbClr>
            </a:solidFill>
            <a:prstDash val="solid"/>
            <a:headEnd type="none" len="sm" w="sm"/>
            <a:tailEnd type="none" len="sm" w="sm"/>
          </a:ln>
        </p:spPr>
      </p:sp>
      <p:grpSp>
        <p:nvGrpSpPr>
          <p:cNvPr name="Group 24" id="24"/>
          <p:cNvGrpSpPr/>
          <p:nvPr/>
        </p:nvGrpSpPr>
        <p:grpSpPr>
          <a:xfrm rot="0">
            <a:off x="1165860" y="7063740"/>
            <a:ext cx="4114800" cy="657987"/>
            <a:chOff x="0" y="0"/>
            <a:chExt cx="5486400" cy="877316"/>
          </a:xfrm>
        </p:grpSpPr>
        <p:sp>
          <p:nvSpPr>
            <p:cNvPr name="Freeform 25" id="25"/>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6" id="26"/>
          <p:cNvGrpSpPr/>
          <p:nvPr/>
        </p:nvGrpSpPr>
        <p:grpSpPr>
          <a:xfrm rot="0">
            <a:off x="1165860" y="7013734"/>
            <a:ext cx="4114800" cy="707993"/>
            <a:chOff x="0" y="0"/>
            <a:chExt cx="5486400" cy="943991"/>
          </a:xfrm>
        </p:grpSpPr>
        <p:sp>
          <p:nvSpPr>
            <p:cNvPr name="Freeform 27" id="27"/>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8" id="28"/>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a:ea typeface="Calibri"/>
                  <a:cs typeface="Calibri"/>
                  <a:sym typeface="Calibri"/>
                </a:rPr>
                <a:t>Problem Statement No:</a:t>
              </a:r>
            </a:p>
          </p:txBody>
        </p:sp>
      </p:grpSp>
      <p:sp>
        <p:nvSpPr>
          <p:cNvPr name="AutoShape 29" id="29"/>
          <p:cNvSpPr/>
          <p:nvPr/>
        </p:nvSpPr>
        <p:spPr>
          <a:xfrm rot="2640">
            <a:off x="1156335" y="7740015"/>
            <a:ext cx="12363450" cy="0"/>
          </a:xfrm>
          <a:prstGeom prst="line">
            <a:avLst/>
          </a:prstGeom>
          <a:ln cap="rnd" w="9525">
            <a:solidFill>
              <a:srgbClr val="CADCFC">
                <a:alpha val="60000"/>
              </a:srgbClr>
            </a:solidFill>
            <a:prstDash val="solid"/>
            <a:headEnd type="none" len="sm" w="sm"/>
            <a:tailEnd type="none" len="sm" w="sm"/>
          </a:ln>
        </p:spPr>
      </p:sp>
      <p:grpSp>
        <p:nvGrpSpPr>
          <p:cNvPr name="Group 30" id="30"/>
          <p:cNvGrpSpPr/>
          <p:nvPr/>
        </p:nvGrpSpPr>
        <p:grpSpPr>
          <a:xfrm rot="0">
            <a:off x="1165860" y="7896796"/>
            <a:ext cx="4548254" cy="643528"/>
            <a:chOff x="0" y="0"/>
            <a:chExt cx="6064339" cy="858037"/>
          </a:xfrm>
        </p:grpSpPr>
        <p:sp>
          <p:nvSpPr>
            <p:cNvPr name="Freeform 31" id="31"/>
            <p:cNvSpPr/>
            <p:nvPr/>
          </p:nvSpPr>
          <p:spPr>
            <a:xfrm flipH="false" flipV="false" rot="0">
              <a:off x="0" y="0"/>
              <a:ext cx="6064377" cy="858012"/>
            </a:xfrm>
            <a:custGeom>
              <a:avLst/>
              <a:gdLst/>
              <a:ahLst/>
              <a:cxnLst/>
              <a:rect r="r" b="b" t="t" l="l"/>
              <a:pathLst>
                <a:path h="858012" w="6064377">
                  <a:moveTo>
                    <a:pt x="0" y="0"/>
                  </a:moveTo>
                  <a:lnTo>
                    <a:pt x="6064377" y="0"/>
                  </a:lnTo>
                  <a:lnTo>
                    <a:pt x="6064377" y="858012"/>
                  </a:lnTo>
                  <a:lnTo>
                    <a:pt x="0" y="858012"/>
                  </a:lnTo>
                  <a:close/>
                </a:path>
              </a:pathLst>
            </a:custGeom>
            <a:blipFill>
              <a:blip r:embed="rId2">
                <a:alphaModFix amt="0"/>
              </a:blip>
              <a:stretch>
                <a:fillRect l="0" t="-87619" r="0" b="-87624"/>
              </a:stretch>
            </a:blipFill>
          </p:spPr>
        </p:sp>
      </p:grpSp>
      <p:grpSp>
        <p:nvGrpSpPr>
          <p:cNvPr name="Group 32" id="32"/>
          <p:cNvGrpSpPr/>
          <p:nvPr/>
        </p:nvGrpSpPr>
        <p:grpSpPr>
          <a:xfrm rot="0">
            <a:off x="1165860" y="7839646"/>
            <a:ext cx="4548254" cy="700678"/>
            <a:chOff x="0" y="0"/>
            <a:chExt cx="6064339" cy="934237"/>
          </a:xfrm>
        </p:grpSpPr>
        <p:sp>
          <p:nvSpPr>
            <p:cNvPr name="Freeform 33" id="33"/>
            <p:cNvSpPr/>
            <p:nvPr/>
          </p:nvSpPr>
          <p:spPr>
            <a:xfrm flipH="false" flipV="false" rot="0">
              <a:off x="0" y="0"/>
              <a:ext cx="6064334" cy="934241"/>
            </a:xfrm>
            <a:custGeom>
              <a:avLst/>
              <a:gdLst/>
              <a:ahLst/>
              <a:cxnLst/>
              <a:rect r="r" b="b" t="t" l="l"/>
              <a:pathLst>
                <a:path h="934241" w="6064334">
                  <a:moveTo>
                    <a:pt x="0" y="0"/>
                  </a:moveTo>
                  <a:lnTo>
                    <a:pt x="6064334" y="0"/>
                  </a:lnTo>
                  <a:lnTo>
                    <a:pt x="6064334" y="934241"/>
                  </a:lnTo>
                  <a:lnTo>
                    <a:pt x="0" y="934241"/>
                  </a:lnTo>
                  <a:close/>
                </a:path>
              </a:pathLst>
            </a:custGeom>
            <a:blipFill>
              <a:blip r:embed="rId3">
                <a:alphaModFix amt="0"/>
              </a:blip>
              <a:stretch>
                <a:fillRect l="0" t="-76481" r="0" b="-76480"/>
              </a:stretch>
            </a:blipFill>
          </p:spPr>
        </p:sp>
        <p:sp>
          <p:nvSpPr>
            <p:cNvPr name="TextBox 34" id="34"/>
            <p:cNvSpPr txBox="true"/>
            <p:nvPr/>
          </p:nvSpPr>
          <p:spPr>
            <a:xfrm>
              <a:off x="0" y="-76200"/>
              <a:ext cx="6064339" cy="1010437"/>
            </a:xfrm>
            <a:prstGeom prst="rect">
              <a:avLst/>
            </a:prstGeom>
          </p:spPr>
          <p:txBody>
            <a:bodyPr anchor="ctr" rtlCol="false" tIns="0" lIns="0" bIns="0" rIns="0"/>
            <a:lstStyle/>
            <a:p>
              <a:pPr algn="l">
                <a:lnSpc>
                  <a:spcPts val="3838"/>
                </a:lnSpc>
              </a:pPr>
              <a:r>
                <a:rPr lang="en-US" sz="3198" b="true">
                  <a:solidFill>
                    <a:srgbClr val="1E2761"/>
                  </a:solidFill>
                  <a:latin typeface="Calibri"/>
                  <a:ea typeface="Calibri"/>
                  <a:cs typeface="Calibri"/>
                  <a:sym typeface="Calibri"/>
                </a:rPr>
                <a:t>Problem Statement Title:</a:t>
              </a:r>
            </a:p>
          </p:txBody>
        </p:sp>
      </p:grpSp>
      <p:sp>
        <p:nvSpPr>
          <p:cNvPr name="AutoShape 35" id="35"/>
          <p:cNvSpPr/>
          <p:nvPr/>
        </p:nvSpPr>
        <p:spPr>
          <a:xfrm rot="2640">
            <a:off x="1156335" y="8535543"/>
            <a:ext cx="12363450" cy="0"/>
          </a:xfrm>
          <a:prstGeom prst="line">
            <a:avLst/>
          </a:prstGeom>
          <a:ln cap="rnd" w="9525">
            <a:solidFill>
              <a:srgbClr val="CADCFC">
                <a:alpha val="60000"/>
              </a:srgbClr>
            </a:solidFill>
            <a:prstDash val="solid"/>
            <a:headEnd type="none" len="sm" w="sm"/>
            <a:tailEnd type="none" len="sm" w="sm"/>
          </a:ln>
        </p:spPr>
      </p:sp>
      <p:grpSp>
        <p:nvGrpSpPr>
          <p:cNvPr name="Group 36" id="36"/>
          <p:cNvGrpSpPr/>
          <p:nvPr/>
        </p:nvGrpSpPr>
        <p:grpSpPr>
          <a:xfrm rot="0">
            <a:off x="1165860" y="8654796"/>
            <a:ext cx="4114800" cy="657987"/>
            <a:chOff x="0" y="0"/>
            <a:chExt cx="5486400" cy="877316"/>
          </a:xfrm>
        </p:grpSpPr>
        <p:sp>
          <p:nvSpPr>
            <p:cNvPr name="Freeform 37" id="37"/>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38" id="38"/>
          <p:cNvGrpSpPr/>
          <p:nvPr/>
        </p:nvGrpSpPr>
        <p:grpSpPr>
          <a:xfrm rot="0">
            <a:off x="1165860" y="8604790"/>
            <a:ext cx="4114800" cy="707993"/>
            <a:chOff x="0" y="0"/>
            <a:chExt cx="5486400" cy="943991"/>
          </a:xfrm>
        </p:grpSpPr>
        <p:sp>
          <p:nvSpPr>
            <p:cNvPr name="Freeform 39" id="39"/>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40" id="40"/>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a:ea typeface="Calibri"/>
                  <a:cs typeface="Calibri"/>
                  <a:sym typeface="Calibri"/>
                </a:rPr>
                <a:t>Team Leader Name: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TextBox 42"/>
          <p:cNvSpPr txBox="1"/>
          <p:nvPr/>
        </p:nvSpPr>
        <p:spPr>
          <a:xfrm>
            <a:off x="4754880" y="6217920"/>
            <a:ext cx="7315200" cy="640080"/>
          </a:xfrm>
          <a:prstGeom prst="rect">
            <a:avLst/>
          </a:prstGeom>
          <a:noFill/>
        </p:spPr>
        <p:txBody>
          <a:bodyPr wrap="none">
            <a:spAutoFit/>
          </a:bodyPr>
          <a:lstStyle/>
          <a:p>
            <a:r>
              <a:rPr sz="2200" b="1">
                <a:solidFill>
                  <a:srgbClr val="1E2761"/>
                </a:solidFill>
                <a:latin typeface="Calibri"/>
              </a:rPr>
              <a:t>Team Raksha</a:t>
            </a:r>
          </a:p>
        </p:txBody>
      </p:sp>
      <p:sp>
        <p:nvSpPr>
          <p:cNvPr id="44" name="TextBox 43"/>
          <p:cNvSpPr txBox="1"/>
          <p:nvPr/>
        </p:nvSpPr>
        <p:spPr>
          <a:xfrm>
            <a:off x="6217920" y="7004304"/>
            <a:ext cx="7315200" cy="640080"/>
          </a:xfrm>
          <a:prstGeom prst="rect">
            <a:avLst/>
          </a:prstGeom>
          <a:noFill/>
        </p:spPr>
        <p:txBody>
          <a:bodyPr wrap="none">
            <a:spAutoFit/>
          </a:bodyPr>
          <a:lstStyle/>
          <a:p>
            <a:r>
              <a:rPr sz="2200" b="1">
                <a:solidFill>
                  <a:srgbClr val="1E2761"/>
                </a:solidFill>
                <a:latin typeface="Calibri"/>
              </a:rPr>
              <a:t>2</a:t>
            </a:r>
          </a:p>
        </p:txBody>
      </p:sp>
      <p:sp>
        <p:nvSpPr>
          <p:cNvPr id="45" name="TextBox 44"/>
          <p:cNvSpPr txBox="1"/>
          <p:nvPr/>
        </p:nvSpPr>
        <p:spPr>
          <a:xfrm>
            <a:off x="6949440" y="7818120"/>
            <a:ext cx="73152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46" name="TextBox 45"/>
          <p:cNvSpPr txBox="1"/>
          <p:nvPr/>
        </p:nvSpPr>
        <p:spPr>
          <a:xfrm>
            <a:off x="5760720" y="8595360"/>
            <a:ext cx="73152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Know the person. Stop the surge.</a:t>
            </a:r>
          </a:p>
          <a:p>
            <a:pPr algn="l">
              <a:spcBef>
                <a:spcPts val="0"/>
              </a:spcBef>
              <a:spcAft>
                <a:spcPts val="600"/>
              </a:spcAft>
            </a:pPr>
            <a:r>
              <a:rPr lang="en-US" sz="2200" b="0" i="0" dirty="0">
                <a:solidFill>
                  <a:srgbClr val="111111"/>
                </a:solidFill>
                <a:latin typeface="Calibri"/>
                <a:cs typeface="Calibri"/>
              </a:rPr>
              <a:t>Cameras watch. The software remembers faces.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0.4s</a:t>
            </a:r>
          </a:p>
          <a:p>
            <a:pPr algn="ctr">
              <a:spcBef>
                <a:spcPts val="0"/>
              </a:spcBef>
              <a:spcAft>
                <a:spcPts val="0"/>
              </a:spcAft>
            </a:pPr>
            <a:r>
              <a:rPr lang="en-US" sz="1700" b="0" i="0" dirty="0">
                <a:solidFill>
                  <a:srgbClr val="5A5A5A"/>
                </a:solidFill>
                <a:latin typeface="Calibri"/>
                <a:cs typeface="Calibri"/>
              </a:rPr>
              <a:t>face recognised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face appears on camera.</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Their file pops up in 0.4 seconds.</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crowded zone turns yellow in under 1 second.</a:t>
            </a:r>
          </a:p>
        </p:txBody>
      </p:sp>
      <p:pic>
        <p:nvPicPr>
          <p:cNvPr id="112" name="Live wall 112" descr="Live wall on real station footage"/>
          <p:cNvPicPr>
            <a:picLocks noChangeAspect="1"/>
          </p:cNvPicPr>
          <p:nvPr/>
        </p:nvPicPr>
        <p:blipFill>
          <a:blip r:embed="rId3"/>
          <a:srcRect l="0" t="7446" r="0" b="7446"/>
          <a:stretch>
            <a:fillRect/>
          </a:stretch>
        </p:blipFill>
        <p:spPr>
          <a:xfrm>
            <a:off x="8961120" y="2606040"/>
            <a:ext cx="8595360" cy="4572000"/>
          </a:xfrm>
          <a:prstGeom prst="roundRect">
            <a:avLst>
              <a:gd name="adj" fmla="val 4000"/>
            </a:avLst>
          </a:prstGeom>
        </p:spPr>
      </p:pic>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The live wall, running on real station footage.</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Busy</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Danger</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notes faces and clothes</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Remember</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checks against saved photos</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the camera watches, the software follows every person, and it warns guards before a crush builds.</a:t>
            </a:r>
          </a:p>
        </p:txBody>
      </p:sp>
      <p:pic>
        <p:nvPicPr>
          <p:cNvPr id="114" name="Tracking 114" descr="People being followed in a station crowd"/>
          <p:cNvPicPr>
            <a:picLocks noChangeAspect="1"/>
          </p:cNvPicPr>
          <p:nvPr/>
        </p:nvPicPr>
        <p:blipFill>
          <a:blip r:embed="rId3"/>
          <a:srcRect l="0" t="1951" r="0" b="1951"/>
          <a:stretch>
            <a:fillRect/>
          </a:stretch>
        </p:blipFill>
        <p:spPr>
          <a:xfrm>
            <a:off x="731520" y="5989320"/>
            <a:ext cx="6766560" cy="3657600"/>
          </a:xfrm>
          <a:prstGeom prst="roundRect">
            <a:avLst>
              <a:gd name="adj" fmla="val 4000"/>
            </a:avLst>
          </a:prstGeom>
        </p:spPr>
      </p:pic>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Keeps only good photos</a:t>
            </a:r>
          </a:p>
          <a:p>
            <a:pPr algn="l">
              <a:lnSpc>
                <a:spcPct val="100000"/>
              </a:lnSpc>
              <a:spcBef>
                <a:spcPts val="0"/>
              </a:spcBef>
              <a:spcAft>
                <a:spcPts val="0"/>
              </a:spcAft>
            </a:pPr>
            <a:r>
              <a:rPr lang="en-US" sz="1800" b="0" i="0" dirty="0">
                <a:solidFill>
                  <a:srgbClr val="111111"/>
                </a:solidFill>
                <a:latin typeface="Calibri"/>
                <a:cs typeface="Calibri"/>
              </a:rPr>
              <a:t>Only sharp, front-facing photos are saved. Blurry ones are ignored, so matches stay reliable.</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and kept track of 850 people across 2 minutes of real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Any ordinary camera feed can be plugged in. No special equipment needed.</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Tested on real crowd video from three places, all on one gaming laptop. Higher means smoother.</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Instant</a:t>
            </a:r>
          </a:p>
          <a:p>
            <a:pPr algn="l">
              <a:lnSpc>
                <a:spcPct val="100000"/>
              </a:lnSpc>
              <a:spcBef>
                <a:spcPts val="0"/>
              </a:spcBef>
              <a:spcAft>
                <a:spcPts val="0"/>
              </a:spcAft>
            </a:pPr>
            <a:r>
              <a:rPr lang="en-US" sz="2000" b="0" i="0" dirty="0">
                <a:solidFill>
                  <a:srgbClr val="111111"/>
                </a:solidFill>
                <a:latin typeface="Calibri"/>
                <a:cs typeface="Calibri"/>
              </a:rPr>
              <a:t>A face is matched in just 0.06 seconds.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crowd packs tight and stops moving.</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Runs on one laptop</a:t>
            </a:r>
          </a:p>
          <a:p>
            <a:pPr algn="l">
              <a:lnSpc>
                <a:spcPct val="100000"/>
              </a:lnSpc>
              <a:spcBef>
                <a:spcPts val="0"/>
              </a:spcBef>
              <a:spcAft>
                <a:spcPts val="0"/>
              </a:spcAft>
            </a:pPr>
            <a:r>
              <a:rPr lang="en-US" sz="2000" b="0" i="0" dirty="0">
                <a:solidFill>
                  <a:srgbClr val="111111"/>
                </a:solidFill>
                <a:latin typeface="Calibri"/>
                <a:cs typeface="Calibri"/>
              </a:rPr>
              <a:t>Even the heaviest crowd runs smoothly.</a:t>
            </a:r>
          </a:p>
        </p:txBody>
      </p:sp>
      <p:pic>
        <p:nvPicPr>
          <p:cNvPr id="106" name="Crowd 106" descr="Station concourse crowd"/>
          <p:cNvPicPr>
            <a:picLocks noChangeAspect="1"/>
          </p:cNvPicPr>
          <p:nvPr/>
        </p:nvPicPr>
        <p:blipFill>
          <a:blip r:embed="rId4"/>
          <a:srcRect l="0" t="19876" r="0" b="19876"/>
          <a:stretch>
            <a:fillRect/>
          </a:stretch>
        </p:blipFill>
        <p:spPr>
          <a:xfrm>
            <a:off x="9326880" y="6812280"/>
            <a:ext cx="8229600" cy="2788920"/>
          </a:xfrm>
          <a:prstGeom prst="roundRect">
            <a:avLst>
              <a:gd name="adj" fmla="val 4000"/>
            </a:avLst>
          </a:prstGeom>
        </p:spPr>
      </p:pic>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pic>
        <p:nvPicPr>
          <p:cNvPr id="101" name="Road 101" descr="Crowd walking on a road with tracking boxes"/>
          <p:cNvPicPr>
            <a:picLocks noChangeAspect="1"/>
          </p:cNvPicPr>
          <p:nvPr/>
        </p:nvPicPr>
        <p:blipFill>
          <a:blip r:embed="rId3"/>
          <a:srcRect l="8278" t="0" r="8278" b="0"/>
          <a:stretch>
            <a:fillRect/>
          </a:stretch>
        </p:blipFill>
        <p:spPr>
          <a:xfrm>
            <a:off x="731520" y="2651760"/>
            <a:ext cx="7680960" cy="6903720"/>
          </a:xfrm>
          <a:prstGeom prst="roundRect">
            <a:avLst>
              <a:gd name="adj" fmla="val 4000"/>
            </a:avLst>
          </a:prstGeom>
        </p:spPr>
      </p:pic>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50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watches all cameras and warns only about risky zones.</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about 60 seconds before people notice,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Find a lost child or a suspect from a photo in under 2 seconds. Full history in one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Safer exits and faster help. Faces are blurred when saved.</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800" b="0" i="0" dirty="0">
                <a:solidFill>
                  <a:srgbClr val="111111"/>
                </a:solidFill>
                <a:latin typeface="Calibri"/>
                <a:cs typeface="Calibri"/>
              </a:rPr>
              <a:t>Finds every person and follows each one. Uses YOLOv8 and ByteTrack, rated in 2025-26 studies as the best mix of speed and accuracy.</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Matching faces</a:t>
            </a:r>
          </a:p>
          <a:p>
            <a:pPr algn="l">
              <a:lnSpc>
                <a:spcPct val="100000"/>
              </a:lnSpc>
              <a:spcBef>
                <a:spcPts val="0"/>
              </a:spcBef>
              <a:spcAft>
                <a:spcPts val="0"/>
              </a:spcAft>
            </a:pPr>
            <a:r>
              <a:rPr lang="en-US" sz="1800" b="0" i="0" dirty="0">
                <a:solidFill>
                  <a:srgbClr val="111111"/>
                </a:solidFill>
                <a:latin typeface="Calibri"/>
                <a:cs typeface="Calibri"/>
              </a:rPr>
              <a:t>Compares a face with saved photos. Uses ArcFace and Faiss, which score 99.5 percent on the standard face test.</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800" b="0" i="0" dirty="0">
                <a:solidFill>
                  <a:srgbClr val="111111"/>
                </a:solidFill>
                <a:latin typeface="Calibri"/>
                <a:cs typeface="Calibri"/>
              </a:rPr>
              <a:t>Crowd science models (AURORA and FTLE) spot danger early. A Delhi trial cut response time by 37 percent.</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800" b="0" i="0" dirty="0">
                <a:solidFill>
                  <a:srgbClr val="111111"/>
                </a:solidFill>
                <a:latin typeface="Calibri"/>
                <a:cs typeface="Calibri"/>
              </a:rPr>
              <a:t>Hathras, Kumbh and railway station crushes all came from packed halls and blocked exits.</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Blurred storage</a:t>
            </a:r>
          </a:p>
          <a:p>
            <a:pPr algn="l">
              <a:lnSpc>
                <a:spcPct val="100000"/>
              </a:lnSpc>
              <a:spcBef>
                <a:spcPts val="0"/>
              </a:spcBef>
              <a:spcAft>
                <a:spcPts val="0"/>
              </a:spcAft>
            </a:pPr>
            <a:r>
              <a:rPr lang="en-US" sz="1900" b="0" i="0" dirty="0">
                <a:solidFill>
                  <a:srgbClr val="DDE3FA"/>
                </a:solidFill>
                <a:latin typeface="Calibri"/>
                <a:cs typeface="Calibri"/>
              </a:rPr>
              <a:t>Faces are blurred in everything we save.</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auto delete</a:t>
            </a:r>
          </a:p>
          <a:p>
            <a:pPr algn="l">
              <a:lnSpc>
                <a:spcPct val="100000"/>
              </a:lnSpc>
              <a:spcBef>
                <a:spcPts val="0"/>
              </a:spcBef>
              <a:spcAft>
                <a:spcPts val="0"/>
              </a:spcAft>
            </a:pPr>
            <a:r>
              <a:rPr lang="en-US" sz="1900" b="0" i="0" dirty="0">
                <a:solidFill>
                  <a:srgbClr val="DDE3FA"/>
                </a:solidFill>
                <a:latin typeface="Calibri"/>
                <a:cs typeface="Calibri"/>
              </a:rPr>
              <a:t>Old data is wiped after 7 days. Nothing piles up.</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Tamper-proof log</a:t>
            </a:r>
          </a:p>
          <a:p>
            <a:pPr algn="l">
              <a:lnSpc>
                <a:spcPct val="100000"/>
              </a:lnSpc>
              <a:spcBef>
                <a:spcPts val="0"/>
              </a:spcBef>
              <a:spcAft>
                <a:spcPts val="0"/>
              </a:spcAft>
            </a:pPr>
            <a:r>
              <a:rPr lang="en-US" sz="1900" b="0" i="0" dirty="0">
                <a:solidFill>
                  <a:srgbClr val="DDE3FA"/>
                </a:solidFill>
                <a:latin typeface="Calibri"/>
                <a:cs typeface="Calibri"/>
              </a:rPr>
              <a:t>Every action is recorded in a chain that cannot be quietly changed.</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linking</a:t>
            </a:r>
          </a:p>
          <a:p>
            <a:pPr algn="l">
              <a:lnSpc>
                <a:spcPct val="100000"/>
              </a:lnSpc>
              <a:spcBef>
                <a:spcPts val="0"/>
              </a:spcBef>
              <a:spcAft>
                <a:spcPts val="0"/>
              </a:spcAft>
            </a:pPr>
            <a:r>
              <a:rPr lang="en-US" sz="1900" b="0" i="0" dirty="0">
                <a:solidFill>
                  <a:srgbClr val="DDE3FA"/>
                </a:solidFill>
                <a:latin typeface="Calibri"/>
                <a:cs typeface="Calibri"/>
              </a:rPr>
              <a:t>Only people who choose to opt in can be matched.</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