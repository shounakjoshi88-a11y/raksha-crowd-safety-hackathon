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Calibri (MS) Bold" charset="1" panose="020F0702030404030204"/>
      <p:regular r:id="rId13"/>
    </p:embeddedFont>
    <p:embeddedFont>
      <p:font typeface="Cambria Bold" charset="1" panose="02040803050406030204"/>
      <p:regular r:id="rId14"/>
    </p:embeddedFont>
    <p:embeddedFont>
      <p:font typeface="Calibri (MS) Italics" charset="1" panose="020F05020202040A0204"/>
      <p:regular r:id="rId15"/>
    </p:embeddedFont>
    <p:embeddedFont>
      <p:font typeface="Calibri (MS)" charset="1" panose="020F05020202040302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font" Target="fonts/font13.fntdata"/><Relationship Id="rId14" Type="http://schemas.openxmlformats.org/officeDocument/2006/relationships/font" Target="fonts/font14.fntdata"/><Relationship Id="rId15" Type="http://schemas.openxmlformats.org/officeDocument/2006/relationships/font" Target="fonts/font15.fntdata"/><Relationship Id="rId16" Type="http://schemas.openxmlformats.org/officeDocument/2006/relationships/font" Target="fonts/font16.fntdata"/><Relationship Id="rId17"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200"/>
              <a:t>Checks per second as the crowd grows</a:t>
            </a:r>
          </a:p>
        </c:rich>
      </c:tx>
      <c:layout/>
      <c:overlay val="0"/>
    </c:title>
    <c:autoTitleDeleted val="0"/>
    <c:plotArea>
      <c:barChart>
        <c:barDir val="col"/>
        <c:grouping val="clustered"/>
        <c:ser>
          <c:idx val="0"/>
          <c:order val="0"/>
          <c:tx>
            <c:strRef>
              <c:f>Sheet1!$B$1</c:f>
              <c:strCache>
                <c:ptCount val="1"/>
                <c:pt idx="0">
                  <c:v>Checks per second</c:v>
                </c:pt>
              </c:strCache>
            </c:strRef>
          </c:tx>
          <c:spPr>
            <a:solidFill>
              <a:srgbClr val="1E2761"/>
            </a:solidFill>
          </c:spPr>
          <c:cat>
            <c:strRef>
              <c:f>Sheet1!$A$2:$A$5</c:f>
              <c:strCache>
                <c:ptCount val="4"/>
                <c:pt idx="0">
                  <c:v>Sparse
0-4 people</c:v>
                </c:pt>
                <c:pt idx="1">
                  <c:v>Light
5-8</c:v>
                </c:pt>
                <c:pt idx="2">
                  <c:v>Busy
9-12</c:v>
                </c:pt>
                <c:pt idx="3">
                  <c:v>Packed
13+</c:v>
                </c:pt>
              </c:strCache>
            </c:strRef>
          </c:cat>
          <c:val>
            <c:numRef>
              <c:f>Sheet1!$B$2:$B$5</c:f>
              <c:numCache>
                <c:formatCode>General</c:formatCode>
                <c:ptCount val="4"/>
                <c:pt idx="0">
                  <c:v>45.4</c:v>
                </c:pt>
                <c:pt idx="1">
                  <c:v>39.0</c:v>
                </c:pt>
                <c:pt idx="2">
                  <c:v>38.6</c:v>
                </c:pt>
                <c:pt idx="3">
                  <c:v>34.7</c:v>
                </c:pt>
              </c:numCache>
            </c:numRef>
          </c:val>
        </c:ser>
        <c:dLbls>
          <c:txPr>
            <a:bodyPr/>
            <a:lstStyle/>
            <a:p>
              <a:pPr>
                <a:defRPr sz="18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800"/>
            </a:pPr>
          </a:p>
        </c:txPr>
        <c:crossAx val="-2113994440"/>
        <c:crosses val="autoZero"/>
        <c:auto val="1"/>
        <c:lblAlgn val="ctr"/>
        <c:lblOffset val="100"/>
        <c:noMultiLvlLbl val="0"/>
      </c:catAx>
      <c:valAx>
        <c:axId val="-2113994440"/>
        <c:scaling>
          <c:max val="60.0"/>
          <c:min val="0.0"/>
        </c:scaling>
        <c:delete val="0"/>
        <c:axPos val="l"/>
        <c:majorTickMark val="out"/>
        <c:minorTickMark val="none"/>
        <c:tickLblPos val="nextTo"/>
        <c:txPr>
          <a:bodyPr/>
          <a:lstStyle/>
          <a:p>
            <a:pPr>
              <a:defRPr sz="1800"/>
            </a:pPr>
          </a:p>
        </c:txPr>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Raksha, problem 2: safety at large public events. Live demo on real station footage.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screen replaces the 50-screen stare. Face appears, file pops in under a second. Zone turns yellow, guard diverts in under 1s. Numbers are measured on our RTX 4050 laptop, demo on public station footage.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Ingest zones the frame. The detector plus tracker holds IDs through occlusion. Best-snapshot scoring gates faces, the face model plus gallery matches them, brain multiplies density by stillness by counterflow and pushes the alert.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numbers measured on the team laptop, RTX 4050. Face engine 61ms steady on GPU. Stampede rule fired RED 1.2 plus on the dense test frame. Faiss gallery instant under 50k IDs. Fallback IoU tracker does 64 FPS if GPU is missing.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Fits mela, stadium, station, campus, mall. Pilot targets: 60s lead time, under 2s search, under 1s alert, audit-ready handoff zip.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links: https://github.com/ultralytics/ultralytics, https://github.com/deepinsight/insightface, https://github.com/facebookresearch/faiss, https://github.com/ifzhang/ByteTrack, https://github.com/KaiyangZhou/deep-person-reid, https://commons.wikimedia.org. Tested on MOT20, ShanghaiTech, plus our station, crossing and temple clips. Ethics: opt-in enrollment, blurred stored video, 7-day purge, hash-chained audit, no central ID linkage.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3.xml"/><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chart" Target="../charts/chart1.xml"/><Relationship Id="rId4" Type="http://schemas.openxmlformats.org/officeDocument/2006/relationships/image" Target="../media/image10.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 Id="rId4" Type="http://schemas.openxmlformats.org/officeDocument/2006/relationships/hyperlink" Target="https://github.com/ultralytics/ultralytics" TargetMode="External"/><Relationship Id="rId5" Type="http://schemas.openxmlformats.org/officeDocument/2006/relationships/hyperlink" Target="https://github.com/ifzhang/ByteTrack" TargetMode="External"/><Relationship Id="rId6" Type="http://schemas.openxmlformats.org/officeDocument/2006/relationships/hyperlink" Target="https://github.com/deepinsight/insightface" TargetMode="External"/><Relationship Id="rId7" Type="http://schemas.openxmlformats.org/officeDocument/2006/relationships/hyperlink" Target="https://github.com/facebookresearch/faiss" TargetMode="External"/><Relationship Id="rId8" Type="http://schemas.openxmlformats.org/officeDocument/2006/relationships/hyperlink" Target="https://commons.wikimedia.org" TargetMode="External"/><Relationship Id="rId9" Type="http://schemas.openxmlformats.org/officeDocument/2006/relationships/hyperlink" Target="https://arxiv.org/abs/1802.10062" TargetMode="External"/><Relationship Id="rId10" Type="http://schemas.openxmlformats.org/officeDocument/2006/relationships/hyperlink" Target="https://arxiv.org/abs/1908.03684" TargetMode="External"/><Relationship Id="rId11" Type="http://schemas.openxmlformats.org/officeDocument/2006/relationships/hyperlink" Target="https://github.com/cvlab-stonybrook/DM-Count" TargetMode="External"/><Relationship Id="rId12" Type="http://schemas.openxmlformats.org/officeDocument/2006/relationships/hyperlink" Target="http://www.svcl.ucsd.edu/publications/conference/2008/cvpr08/cvpr08_peoplecnt.pdf" TargetMode="External"/><Relationship Id="rId13" Type="http://schemas.openxmlformats.org/officeDocument/2006/relationships/hyperlink" Target="https://openaccess.thecvf.com/content_CVPR_2019/html/Zhang_Wide-Area_Crowd_Counting_via_Ground-Plane_Density_Maps_and_Multi-View_Fusion_CVPR_2019_paper.html" TargetMode="External"/><Relationship Id="rId14" Type="http://schemas.openxmlformats.org/officeDocument/2006/relationships/hyperlink" Target="https://vision.eecs.ucf.edu/papers/cvpr2009/CVPR09_Mehran.pdf" TargetMode="External"/><Relationship Id="rId15" Type="http://schemas.openxmlformats.org/officeDocument/2006/relationships/hyperlink" Target="https://www.crcv.ucf.edu/projects/streakline_eccv" TargetMode="External"/><Relationship Id="rId16" Type="http://schemas.openxmlformats.org/officeDocument/2006/relationships/hyperlink" Target="https://doi.org/10.1103/PhysRevE.51.4282" TargetMode="External"/><Relationship Id="rId17" Type="http://schemas.openxmlformats.org/officeDocument/2006/relationships/hyperlink" Target="https://arxiv.org/abs/0708.3339" TargetMode="External"/><Relationship Id="rId18" Type="http://schemas.openxmlformats.org/officeDocument/2006/relationships/hyperlink" Target="https://ar5iv.labs.arxiv.org/html/0810.4590" TargetMode="External"/><Relationship Id="rId19" Type="http://schemas.openxmlformats.org/officeDocument/2006/relationships/hyperlink" Target="https://commons.wikimedia.org/" TargetMode="External"/><Relationship Id="rId20" Type="http://schemas.openxmlformats.org/officeDocument/2006/relationships/hyperlink" Target="https://arxiv.org/abs/2107.12746" TargetMode="External"/><Relationship Id="rId21" Type="http://schemas.openxmlformats.org/officeDocument/2006/relationships/hyperlink" Target="https://arxiv.org/abs/2405.10589" TargetMode="External"/><Relationship Id="rId22" Type="http://schemas.openxmlformats.org/officeDocument/2006/relationships/hyperlink" Target="https://openaccess.thecvf.com/content_CVPR_2019/html/Shi_Revisiting_Perspective_Information_for_Efficient_Crowd_Counting_CVPR_2019_paper.html" TargetMode="External"/><Relationship Id="rId23" Type="http://schemas.openxmlformats.org/officeDocument/2006/relationships/hyperlink" Target="https://docs.opencv.org/4.9.0/javadoc/org/opencv/video/DISOpticalFlow.html" TargetMode="External"/><Relationship Id="rId24" Type="http://schemas.openxmlformats.org/officeDocument/2006/relationships/hyperlink" Target="https://doi.org/10.1016/S0191-2615(01)00015-7" TargetMode="External"/><Relationship Id="rId25" Type="http://schemas.openxmlformats.org/officeDocument/2006/relationships/hyperlink" Target="https://bmvc2025.bmva.org/proceedings/1024" TargetMode="External"/><Relationship Id="rId26" Type="http://schemas.openxmlformats.org/officeDocument/2006/relationships/hyperlink" Target="https://arxiv.org/abs/1008.2160" TargetMode="External"/><Relationship Id="rId27" Type="http://schemas.openxmlformats.org/officeDocument/2006/relationships/hyperlink" Target="https://github.com/leeyeehoo/CSRNet-pytorch" TargetMode="External"/><Relationship Id="rId28" Type="http://schemas.openxmlformats.org/officeDocument/2006/relationships/hyperlink" Target="https://github.com/JuanIsernGhosn/homography-calibrator" TargetMode="External"/><Relationship Id="rId29" Type="http://schemas.openxmlformats.org/officeDocument/2006/relationships/hyperlink" Target="https://docs.nvidia.com/metropolis/deepstream/7.1/text/DS_using_custom_model.html" TargetMode="External"/><Relationship Id="rId30" Type="http://schemas.openxmlformats.org/officeDocument/2006/relationships/hyperlink" Target="https://indianexpress.com/article/long-reads/maha-kumbh-goes-digital-2700-cctvs-ai-to-track-crowd-underwater-drones-9770545/" TargetMode="External"/><Relationship Id="rId31" Type="http://schemas.openxmlformats.org/officeDocument/2006/relationships/hyperlink" Target="https://apnews.com/article/india-stampede-deaths-religious-gathering-5ef739c5cbe8bb8b732c0b3099173810" TargetMode="Externa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14E74"/>
        </a:solidFill>
      </p:bgPr>
    </p:bg>
    <p:spTree>
      <p:nvGrpSpPr>
        <p:cNvPr id="1" name=""/>
        <p:cNvGrpSpPr/>
        <p:nvPr/>
      </p:nvGrpSpPr>
      <p:grpSpPr>
        <a:xfrm>
          <a:off x="0" y="0"/>
          <a:ext cx="0" cy="0"/>
          <a:chOff x="0" y="0"/>
          <a:chExt cx="0" cy="0"/>
        </a:xfrm>
      </p:grpSpPr>
      <p:grpSp>
        <p:nvGrpSpPr>
          <p:cNvPr name="Group 2" id="2"/>
          <p:cNvGrpSpPr/>
          <p:nvPr/>
        </p:nvGrpSpPr>
        <p:grpSpPr>
          <a:xfrm rot="0">
            <a:off x="1907667" y="2371725"/>
            <a:ext cx="14945106" cy="696420"/>
            <a:chOff x="0" y="0"/>
            <a:chExt cx="19926808" cy="928560"/>
          </a:xfrm>
        </p:grpSpPr>
        <p:sp>
          <p:nvSpPr>
            <p:cNvPr name="Freeform 3" id="3"/>
            <p:cNvSpPr/>
            <p:nvPr/>
          </p:nvSpPr>
          <p:spPr>
            <a:xfrm flipH="false" flipV="false" rot="0">
              <a:off x="0" y="0"/>
              <a:ext cx="19926808" cy="928624"/>
            </a:xfrm>
            <a:custGeom>
              <a:avLst/>
              <a:gdLst/>
              <a:ahLst/>
              <a:cxnLst/>
              <a:rect r="r" b="b" t="t" l="l"/>
              <a:pathLst>
                <a:path h="928624" w="19926808">
                  <a:moveTo>
                    <a:pt x="0" y="0"/>
                  </a:moveTo>
                  <a:lnTo>
                    <a:pt x="19926808" y="0"/>
                  </a:lnTo>
                  <a:lnTo>
                    <a:pt x="19926808" y="928624"/>
                  </a:lnTo>
                  <a:lnTo>
                    <a:pt x="0" y="928624"/>
                  </a:lnTo>
                  <a:close/>
                </a:path>
              </a:pathLst>
            </a:custGeom>
            <a:blipFill>
              <a:blip r:embed="rId2">
                <a:alphaModFix amt="0"/>
              </a:blip>
              <a:stretch>
                <a:fillRect l="0" t="-367830" r="0" b="-367824"/>
              </a:stretch>
            </a:blipFill>
          </p:spPr>
        </p:sp>
      </p:grpSp>
      <p:grpSp>
        <p:nvGrpSpPr>
          <p:cNvPr name="Group 4" id="4"/>
          <p:cNvGrpSpPr/>
          <p:nvPr/>
        </p:nvGrpSpPr>
        <p:grpSpPr>
          <a:xfrm rot="0">
            <a:off x="1907667" y="2321719"/>
            <a:ext cx="14945106" cy="746427"/>
            <a:chOff x="0" y="0"/>
            <a:chExt cx="19926808" cy="995235"/>
          </a:xfrm>
        </p:grpSpPr>
        <p:sp>
          <p:nvSpPr>
            <p:cNvPr name="Freeform 5" id="5"/>
            <p:cNvSpPr/>
            <p:nvPr/>
          </p:nvSpPr>
          <p:spPr>
            <a:xfrm flipH="false" flipV="false" rot="0">
              <a:off x="0" y="0"/>
              <a:ext cx="19926804" cy="995236"/>
            </a:xfrm>
            <a:custGeom>
              <a:avLst/>
              <a:gdLst/>
              <a:ahLst/>
              <a:cxnLst/>
              <a:rect r="r" b="b" t="t" l="l"/>
              <a:pathLst>
                <a:path h="995236" w="19926804">
                  <a:moveTo>
                    <a:pt x="0" y="0"/>
                  </a:moveTo>
                  <a:lnTo>
                    <a:pt x="19926804" y="0"/>
                  </a:lnTo>
                  <a:lnTo>
                    <a:pt x="19926804" y="995236"/>
                  </a:lnTo>
                  <a:lnTo>
                    <a:pt x="0" y="995236"/>
                  </a:lnTo>
                  <a:close/>
                </a:path>
              </a:pathLst>
            </a:custGeom>
            <a:blipFill>
              <a:blip r:embed="rId3">
                <a:alphaModFix amt="0"/>
              </a:blip>
              <a:stretch>
                <a:fillRect l="0" t="-340133" r="0" b="-340133"/>
              </a:stretch>
            </a:blipFill>
          </p:spPr>
        </p:sp>
        <p:sp>
          <p:nvSpPr>
            <p:cNvPr name="TextBox 6" id="6"/>
            <p:cNvSpPr txBox="true"/>
            <p:nvPr/>
          </p:nvSpPr>
          <p:spPr>
            <a:xfrm>
              <a:off x="0" y="-66675"/>
              <a:ext cx="19926808" cy="1061910"/>
            </a:xfrm>
            <a:prstGeom prst="rect">
              <a:avLst/>
            </a:prstGeom>
          </p:spPr>
          <p:txBody>
            <a:bodyPr anchor="ctr" rtlCol="false" tIns="0" lIns="0" bIns="0" rIns="0"/>
            <a:lstStyle/>
            <a:p>
              <a:pPr algn="l">
                <a:lnSpc>
                  <a:spcPts val="4199"/>
                </a:lnSpc>
              </a:pPr>
              <a:r>
                <a:rPr lang="en-US" b="true" sz="3498" spc="582">
                  <a:solidFill>
                    <a:srgbClr val="3E8EF7"/>
                  </a:solidFill>
                  <a:latin typeface="Calibri"/>
                  <a:ea typeface="Calibri"/>
                  <a:cs typeface="Calibri"/>
                  <a:sym typeface="Calibri"/>
                </a:rPr>
                <a:t>DEPARTMENT OF COMPUTER SCIENCE &amp; ENGINEERING</a:t>
              </a:r>
            </a:p>
          </p:txBody>
        </p:sp>
      </p:grpSp>
      <p:grpSp>
        <p:nvGrpSpPr>
          <p:cNvPr name="Group 7" id="7"/>
          <p:cNvGrpSpPr/>
          <p:nvPr/>
        </p:nvGrpSpPr>
        <p:grpSpPr>
          <a:xfrm rot="0">
            <a:off x="754380" y="2790825"/>
            <a:ext cx="16870680" cy="2194560"/>
            <a:chOff x="0" y="0"/>
            <a:chExt cx="22494240" cy="2926080"/>
          </a:xfrm>
        </p:grpSpPr>
        <p:sp>
          <p:nvSpPr>
            <p:cNvPr name="Freeform 8" id="8"/>
            <p:cNvSpPr/>
            <p:nvPr/>
          </p:nvSpPr>
          <p:spPr>
            <a:xfrm flipH="false" flipV="false" rot="0">
              <a:off x="0" y="0"/>
              <a:ext cx="22494239" cy="2926080"/>
            </a:xfrm>
            <a:custGeom>
              <a:avLst/>
              <a:gdLst/>
              <a:ahLst/>
              <a:cxnLst/>
              <a:rect r="r" b="b" t="t" l="l"/>
              <a:pathLst>
                <a:path h="2926080" w="22494239">
                  <a:moveTo>
                    <a:pt x="0" y="0"/>
                  </a:moveTo>
                  <a:lnTo>
                    <a:pt x="22494239" y="0"/>
                  </a:lnTo>
                  <a:lnTo>
                    <a:pt x="22494239" y="2926080"/>
                  </a:lnTo>
                  <a:lnTo>
                    <a:pt x="0" y="2926080"/>
                  </a:lnTo>
                  <a:close/>
                </a:path>
              </a:pathLst>
            </a:custGeom>
            <a:blipFill>
              <a:blip r:embed="rId2">
                <a:alphaModFix amt="0"/>
              </a:blip>
              <a:stretch>
                <a:fillRect l="0" t="-99687" r="0" b="-99687"/>
              </a:stretch>
            </a:blipFill>
          </p:spPr>
        </p:sp>
      </p:grpSp>
      <p:grpSp>
        <p:nvGrpSpPr>
          <p:cNvPr name="Group 9" id="9"/>
          <p:cNvGrpSpPr/>
          <p:nvPr/>
        </p:nvGrpSpPr>
        <p:grpSpPr>
          <a:xfrm rot="0">
            <a:off x="754380" y="2776538"/>
            <a:ext cx="16870680" cy="2208848"/>
            <a:chOff x="0" y="0"/>
            <a:chExt cx="22494240" cy="2945130"/>
          </a:xfrm>
        </p:grpSpPr>
        <p:sp>
          <p:nvSpPr>
            <p:cNvPr name="Freeform 10" id="10"/>
            <p:cNvSpPr/>
            <p:nvPr/>
          </p:nvSpPr>
          <p:spPr>
            <a:xfrm flipH="false" flipV="false" rot="0">
              <a:off x="0" y="0"/>
              <a:ext cx="22494239" cy="2945130"/>
            </a:xfrm>
            <a:custGeom>
              <a:avLst/>
              <a:gdLst/>
              <a:ahLst/>
              <a:cxnLst/>
              <a:rect r="r" b="b" t="t" l="l"/>
              <a:pathLst>
                <a:path h="2945130" w="22494239">
                  <a:moveTo>
                    <a:pt x="0" y="0"/>
                  </a:moveTo>
                  <a:lnTo>
                    <a:pt x="22494239" y="0"/>
                  </a:lnTo>
                  <a:lnTo>
                    <a:pt x="22494239" y="2945130"/>
                  </a:lnTo>
                  <a:lnTo>
                    <a:pt x="0" y="2945130"/>
                  </a:lnTo>
                  <a:close/>
                </a:path>
              </a:pathLst>
            </a:custGeom>
            <a:blipFill>
              <a:blip r:embed="rId3">
                <a:alphaModFix amt="0"/>
              </a:blip>
              <a:stretch>
                <a:fillRect l="0" t="-98822" r="0" b="-98822"/>
              </a:stretch>
            </a:blipFill>
          </p:spPr>
        </p:sp>
        <p:sp>
          <p:nvSpPr>
            <p:cNvPr name="TextBox 11" id="11"/>
            <p:cNvSpPr txBox="true"/>
            <p:nvPr/>
          </p:nvSpPr>
          <p:spPr>
            <a:xfrm>
              <a:off x="0" y="-19050"/>
              <a:ext cx="22494240" cy="2964180"/>
            </a:xfrm>
            <a:prstGeom prst="rect">
              <a:avLst/>
            </a:prstGeom>
          </p:spPr>
          <p:txBody>
            <a:bodyPr anchor="ctr" rtlCol="false" tIns="0" lIns="0" bIns="0" rIns="0"/>
            <a:lstStyle/>
            <a:p>
              <a:pPr algn="l">
                <a:lnSpc>
                  <a:spcPts val="10800"/>
                </a:lnSpc>
              </a:pPr>
              <a:r>
                <a:rPr lang="en-US" sz="9000" b="true">
                  <a:solidFill>
                    <a:srgbClr val="FFFFFF"/>
                  </a:solidFill>
                  <a:latin typeface="Cambria"/>
                  <a:ea typeface="Cambria"/>
                  <a:cs typeface="Cambria"/>
                  <a:sym typeface="Cambria"/>
                </a:rPr>
                <a:t>HACKATHON </a:t>
              </a:r>
              <a:r>
                <a:rPr lang="en-US" sz="9000" b="true">
                  <a:solidFill>
                    <a:srgbClr val="3E8EF7"/>
                  </a:solidFill>
                  <a:latin typeface="Cambria"/>
                  <a:ea typeface="Cambria"/>
                  <a:cs typeface="Cambria"/>
                  <a:sym typeface="Cambria"/>
                </a:rPr>
                <a:t>2026</a:t>
              </a:r>
            </a:p>
          </p:txBody>
        </p:sp>
      </p:grpSp>
      <p:grpSp>
        <p:nvGrpSpPr>
          <p:cNvPr name="Group 12" id="12"/>
          <p:cNvGrpSpPr/>
          <p:nvPr/>
        </p:nvGrpSpPr>
        <p:grpSpPr>
          <a:xfrm rot="0">
            <a:off x="754380" y="4869180"/>
            <a:ext cx="13716000" cy="744379"/>
            <a:chOff x="0" y="0"/>
            <a:chExt cx="18288000" cy="992505"/>
          </a:xfrm>
        </p:grpSpPr>
        <p:sp>
          <p:nvSpPr>
            <p:cNvPr name="Freeform 13" id="13"/>
            <p:cNvSpPr/>
            <p:nvPr/>
          </p:nvSpPr>
          <p:spPr>
            <a:xfrm flipH="false" flipV="false" rot="0">
              <a:off x="0" y="0"/>
              <a:ext cx="18288000" cy="992505"/>
            </a:xfrm>
            <a:custGeom>
              <a:avLst/>
              <a:gdLst/>
              <a:ahLst/>
              <a:cxnLst/>
              <a:rect r="r" b="b" t="t" l="l"/>
              <a:pathLst>
                <a:path h="992505" w="18288000">
                  <a:moveTo>
                    <a:pt x="0" y="0"/>
                  </a:moveTo>
                  <a:lnTo>
                    <a:pt x="18288000" y="0"/>
                  </a:lnTo>
                  <a:lnTo>
                    <a:pt x="18288000" y="992505"/>
                  </a:lnTo>
                  <a:lnTo>
                    <a:pt x="0" y="992505"/>
                  </a:lnTo>
                  <a:close/>
                </a:path>
              </a:pathLst>
            </a:custGeom>
            <a:blipFill>
              <a:blip r:embed="rId2">
                <a:alphaModFix amt="0"/>
              </a:blip>
              <a:stretch>
                <a:fillRect l="0" t="-308783" r="0" b="-308784"/>
              </a:stretch>
            </a:blipFill>
          </p:spPr>
        </p:sp>
      </p:grpSp>
      <p:grpSp>
        <p:nvGrpSpPr>
          <p:cNvPr name="Group 14" id="14"/>
          <p:cNvGrpSpPr/>
          <p:nvPr/>
        </p:nvGrpSpPr>
        <p:grpSpPr>
          <a:xfrm rot="0">
            <a:off x="754380" y="4812030"/>
            <a:ext cx="13716000" cy="801529"/>
            <a:chOff x="0" y="0"/>
            <a:chExt cx="18288000" cy="1068705"/>
          </a:xfrm>
        </p:grpSpPr>
        <p:sp>
          <p:nvSpPr>
            <p:cNvPr name="Freeform 15" id="15"/>
            <p:cNvSpPr/>
            <p:nvPr/>
          </p:nvSpPr>
          <p:spPr>
            <a:xfrm flipH="false" flipV="false" rot="0">
              <a:off x="0" y="0"/>
              <a:ext cx="18288000" cy="1068708"/>
            </a:xfrm>
            <a:custGeom>
              <a:avLst/>
              <a:gdLst/>
              <a:ahLst/>
              <a:cxnLst/>
              <a:rect r="r" b="b" t="t" l="l"/>
              <a:pathLst>
                <a:path h="1068708" w="18288000">
                  <a:moveTo>
                    <a:pt x="0" y="0"/>
                  </a:moveTo>
                  <a:lnTo>
                    <a:pt x="18288000" y="0"/>
                  </a:lnTo>
                  <a:lnTo>
                    <a:pt x="18288000" y="1068708"/>
                  </a:lnTo>
                  <a:lnTo>
                    <a:pt x="0" y="1068708"/>
                  </a:lnTo>
                  <a:close/>
                </a:path>
              </a:pathLst>
            </a:custGeom>
            <a:blipFill>
              <a:blip r:embed="rId3">
                <a:alphaModFix amt="0"/>
              </a:blip>
              <a:stretch>
                <a:fillRect l="0" t="-283433" r="0" b="-283432"/>
              </a:stretch>
            </a:blipFill>
          </p:spPr>
        </p:sp>
        <p:sp>
          <p:nvSpPr>
            <p:cNvPr name="TextBox 16" id="16"/>
            <p:cNvSpPr txBox="true"/>
            <p:nvPr/>
          </p:nvSpPr>
          <p:spPr>
            <a:xfrm>
              <a:off x="0" y="-76200"/>
              <a:ext cx="18288000" cy="1144905"/>
            </a:xfrm>
            <a:prstGeom prst="rect">
              <a:avLst/>
            </a:prstGeom>
          </p:spPr>
          <p:txBody>
            <a:bodyPr anchor="ctr" rtlCol="false" tIns="0" lIns="0" bIns="0" rIns="0"/>
            <a:lstStyle/>
            <a:p>
              <a:pPr algn="l">
                <a:lnSpc>
                  <a:spcPts val="4438"/>
                </a:lnSpc>
              </a:pPr>
              <a:r>
                <a:rPr lang="en-US" sz="3699" i="true">
                  <a:solidFill>
                    <a:srgbClr val="CADCFC"/>
                  </a:solidFill>
                  <a:latin typeface="Calibri"/>
                  <a:ea typeface="Calibri"/>
                  <a:cs typeface="Calibri"/>
                  <a:sym typeface="Calibri"/>
                </a:rPr>
                <a:t>Idea Submission Template  |  Code. Create. Innovate.</a:t>
              </a:r>
            </a:p>
          </p:txBody>
        </p:sp>
      </p:grpSp>
      <p:grpSp>
        <p:nvGrpSpPr>
          <p:cNvPr name="Group 41" id="41"/>
          <p:cNvGrpSpPr/>
          <p:nvPr/>
        </p:nvGrpSpPr>
        <p:grpSpPr>
          <a:xfrm rot="0">
            <a:off x="754380" y="153495"/>
            <a:ext cx="16504920" cy="1930451"/>
            <a:chOff x="0" y="0"/>
            <a:chExt cx="22006560" cy="2573934"/>
          </a:xfrm>
        </p:grpSpPr>
        <p:sp>
          <p:nvSpPr>
            <p:cNvPr name="Freeform 42" id="42"/>
            <p:cNvSpPr/>
            <p:nvPr/>
          </p:nvSpPr>
          <p:spPr>
            <a:xfrm flipH="false" flipV="false" rot="0">
              <a:off x="0" y="0"/>
              <a:ext cx="22006561" cy="2573909"/>
            </a:xfrm>
            <a:custGeom>
              <a:avLst/>
              <a:gdLst/>
              <a:ahLst/>
              <a:cxnLst/>
              <a:rect r="r" b="b" t="t" l="l"/>
              <a:pathLst>
                <a:path h="2573909" w="22006561">
                  <a:moveTo>
                    <a:pt x="0" y="0"/>
                  </a:moveTo>
                  <a:lnTo>
                    <a:pt x="22006561" y="0"/>
                  </a:lnTo>
                  <a:lnTo>
                    <a:pt x="22006561" y="2573909"/>
                  </a:lnTo>
                  <a:lnTo>
                    <a:pt x="0" y="2573909"/>
                  </a:lnTo>
                  <a:lnTo>
                    <a:pt x="0" y="0"/>
                  </a:lnTo>
                  <a:close/>
                </a:path>
              </a:pathLst>
            </a:custGeom>
            <a:blipFill>
              <a:blip r:embed="rId6"/>
              <a:stretch>
                <a:fillRect l="0" t="-1766" r="0" b="-1766"/>
              </a:stretch>
            </a:blipFill>
          </p:spPr>
        </p:sp>
      </p:grpSp>
      <p:sp>
        <p:nvSpPr>
          <p:cNvPr id="43" name="Rounded Rectangle 42"/>
          <p:cNvSpPr/>
          <p:nvPr/>
        </p:nvSpPr>
        <p:spPr>
          <a:xfrm>
            <a:off x="749808" y="5852160"/>
            <a:ext cx="1188720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88720" y="6053328"/>
            <a:ext cx="4023360" cy="640080"/>
          </a:xfrm>
          <a:prstGeom prst="rect">
            <a:avLst/>
          </a:prstGeom>
          <a:noFill/>
        </p:spPr>
        <p:txBody>
          <a:bodyPr wrap="none">
            <a:spAutoFit/>
          </a:bodyPr>
          <a:lstStyle/>
          <a:p>
            <a:r>
              <a:rPr sz="2000" b="1">
                <a:solidFill>
                  <a:srgbClr val="1E2761"/>
                </a:solidFill>
                <a:latin typeface="Calibri"/>
              </a:rPr>
              <a:t>Team Name</a:t>
            </a:r>
          </a:p>
        </p:txBody>
      </p:sp>
      <p:sp>
        <p:nvSpPr>
          <p:cNvPr id="45" name="Rectangle 44"/>
          <p:cNvSpPr/>
          <p:nvPr/>
        </p:nvSpPr>
        <p:spPr>
          <a:xfrm>
            <a:off x="5486400" y="6007608"/>
            <a:ext cx="22860" cy="731520"/>
          </a:xfrm>
          <a:prstGeom prst="rect">
            <a:avLst/>
          </a:prstGeom>
          <a:solidFill>
            <a:srgbClr val="D8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52160" y="6053328"/>
            <a:ext cx="6400800" cy="640080"/>
          </a:xfrm>
          <a:prstGeom prst="rect">
            <a:avLst/>
          </a:prstGeom>
          <a:noFill/>
        </p:spPr>
        <p:txBody>
          <a:bodyPr wrap="none">
            <a:spAutoFit/>
          </a:bodyPr>
          <a:lstStyle/>
          <a:p>
            <a:r>
              <a:rPr sz="2200" b="1">
                <a:solidFill>
                  <a:srgbClr val="1E2761"/>
                </a:solidFill>
                <a:latin typeface="Calibri"/>
              </a:rPr>
              <a:t>Team Raksha</a:t>
            </a:r>
          </a:p>
        </p:txBody>
      </p:sp>
      <p:sp>
        <p:nvSpPr>
          <p:cNvPr id="47" name="Rectangle 46"/>
          <p:cNvSpPr/>
          <p:nvPr/>
        </p:nvSpPr>
        <p:spPr>
          <a:xfrm>
            <a:off x="1188720" y="6757416"/>
            <a:ext cx="10972800" cy="16459"/>
          </a:xfrm>
          <a:prstGeom prst="rect">
            <a:avLst/>
          </a:prstGeom>
          <a:solidFill>
            <a:srgbClr val="D8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88720" y="6922008"/>
            <a:ext cx="4023360" cy="640080"/>
          </a:xfrm>
          <a:prstGeom prst="rect">
            <a:avLst/>
          </a:prstGeom>
          <a:noFill/>
        </p:spPr>
        <p:txBody>
          <a:bodyPr wrap="none">
            <a:spAutoFit/>
          </a:bodyPr>
          <a:lstStyle/>
          <a:p>
            <a:r>
              <a:rPr sz="2000" b="1">
                <a:solidFill>
                  <a:srgbClr val="1E2761"/>
                </a:solidFill>
                <a:latin typeface="Calibri"/>
              </a:rPr>
              <a:t>Problem Statement No.</a:t>
            </a:r>
          </a:p>
        </p:txBody>
      </p:sp>
      <p:sp>
        <p:nvSpPr>
          <p:cNvPr id="49" name="Rectangle 48"/>
          <p:cNvSpPr/>
          <p:nvPr/>
        </p:nvSpPr>
        <p:spPr>
          <a:xfrm>
            <a:off x="5486400" y="6876288"/>
            <a:ext cx="22860" cy="731520"/>
          </a:xfrm>
          <a:prstGeom prst="rect">
            <a:avLst/>
          </a:prstGeom>
          <a:solidFill>
            <a:srgbClr val="D8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52160" y="6922008"/>
            <a:ext cx="6400800" cy="640080"/>
          </a:xfrm>
          <a:prstGeom prst="rect">
            <a:avLst/>
          </a:prstGeom>
          <a:noFill/>
        </p:spPr>
        <p:txBody>
          <a:bodyPr wrap="none">
            <a:spAutoFit/>
          </a:bodyPr>
          <a:lstStyle/>
          <a:p>
            <a:r>
              <a:rPr sz="2200" b="1">
                <a:solidFill>
                  <a:srgbClr val="1E2761"/>
                </a:solidFill>
                <a:latin typeface="Calibri"/>
              </a:rPr>
              <a:t>2</a:t>
            </a:r>
          </a:p>
        </p:txBody>
      </p:sp>
      <p:sp>
        <p:nvSpPr>
          <p:cNvPr id="51" name="Rectangle 50"/>
          <p:cNvSpPr/>
          <p:nvPr/>
        </p:nvSpPr>
        <p:spPr>
          <a:xfrm>
            <a:off x="1188720" y="7626096"/>
            <a:ext cx="10972800" cy="16459"/>
          </a:xfrm>
          <a:prstGeom prst="rect">
            <a:avLst/>
          </a:prstGeom>
          <a:solidFill>
            <a:srgbClr val="D8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88720" y="7790688"/>
            <a:ext cx="4023360" cy="640080"/>
          </a:xfrm>
          <a:prstGeom prst="rect">
            <a:avLst/>
          </a:prstGeom>
          <a:noFill/>
        </p:spPr>
        <p:txBody>
          <a:bodyPr wrap="none">
            <a:spAutoFit/>
          </a:bodyPr>
          <a:lstStyle/>
          <a:p>
            <a:r>
              <a:rPr sz="2000" b="1">
                <a:solidFill>
                  <a:srgbClr val="1E2761"/>
                </a:solidFill>
                <a:latin typeface="Calibri"/>
              </a:rPr>
              <a:t>Problem Statement Title</a:t>
            </a:r>
          </a:p>
        </p:txBody>
      </p:sp>
      <p:sp>
        <p:nvSpPr>
          <p:cNvPr id="53" name="Rectangle 52"/>
          <p:cNvSpPr/>
          <p:nvPr/>
        </p:nvSpPr>
        <p:spPr>
          <a:xfrm>
            <a:off x="5486400" y="7744967"/>
            <a:ext cx="22860" cy="731520"/>
          </a:xfrm>
          <a:prstGeom prst="rect">
            <a:avLst/>
          </a:prstGeom>
          <a:solidFill>
            <a:srgbClr val="D8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852160" y="7790688"/>
            <a:ext cx="6400800" cy="640080"/>
          </a:xfrm>
          <a:prstGeom prst="rect">
            <a:avLst/>
          </a:prstGeom>
          <a:noFill/>
        </p:spPr>
        <p:txBody>
          <a:bodyPr wrap="none">
            <a:spAutoFit/>
          </a:bodyPr>
          <a:lstStyle/>
          <a:p>
            <a:r>
              <a:rPr sz="2200" b="1">
                <a:solidFill>
                  <a:srgbClr val="1E2761"/>
                </a:solidFill>
                <a:latin typeface="Calibri"/>
              </a:rPr>
              <a:t>Improving Safety at Large Public Events</a:t>
            </a:r>
          </a:p>
        </p:txBody>
      </p:sp>
      <p:sp>
        <p:nvSpPr>
          <p:cNvPr id="55" name="Rectangle 54"/>
          <p:cNvSpPr/>
          <p:nvPr/>
        </p:nvSpPr>
        <p:spPr>
          <a:xfrm>
            <a:off x="1188720" y="8494776"/>
            <a:ext cx="10972800" cy="16459"/>
          </a:xfrm>
          <a:prstGeom prst="rect">
            <a:avLst/>
          </a:prstGeom>
          <a:solidFill>
            <a:srgbClr val="D8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88720" y="8659367"/>
            <a:ext cx="4023360" cy="640080"/>
          </a:xfrm>
          <a:prstGeom prst="rect">
            <a:avLst/>
          </a:prstGeom>
          <a:noFill/>
        </p:spPr>
        <p:txBody>
          <a:bodyPr wrap="none">
            <a:spAutoFit/>
          </a:bodyPr>
          <a:lstStyle/>
          <a:p>
            <a:r>
              <a:rPr sz="2000" b="1">
                <a:solidFill>
                  <a:srgbClr val="1E2761"/>
                </a:solidFill>
                <a:latin typeface="Calibri"/>
              </a:rPr>
              <a:t>Team Leader Name</a:t>
            </a:r>
          </a:p>
        </p:txBody>
      </p:sp>
      <p:sp>
        <p:nvSpPr>
          <p:cNvPr id="57" name="Rectangle 56"/>
          <p:cNvSpPr/>
          <p:nvPr/>
        </p:nvSpPr>
        <p:spPr>
          <a:xfrm>
            <a:off x="5486400" y="8613647"/>
            <a:ext cx="22860" cy="731520"/>
          </a:xfrm>
          <a:prstGeom prst="rect">
            <a:avLst/>
          </a:prstGeom>
          <a:solidFill>
            <a:srgbClr val="D8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852160" y="8659367"/>
            <a:ext cx="6400800" cy="640080"/>
          </a:xfrm>
          <a:prstGeom prst="rect">
            <a:avLst/>
          </a:prstGeom>
          <a:noFill/>
        </p:spPr>
        <p:txBody>
          <a:bodyPr wrap="none">
            <a:spAutoFit/>
          </a:bodyPr>
          <a:lstStyle/>
          <a:p>
            <a:r>
              <a:rPr sz="2200" b="1">
                <a:solidFill>
                  <a:srgbClr val="1E2761"/>
                </a:solidFill>
                <a:latin typeface="Calibri"/>
              </a:rPr>
              <a:t>Shounak Joshi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81879" y="2449173"/>
            <a:ext cx="7724251" cy="5388654"/>
            <a:chOff x="0" y="0"/>
            <a:chExt cx="10299002" cy="7184873"/>
          </a:xfrm>
        </p:grpSpPr>
        <p:sp>
          <p:nvSpPr>
            <p:cNvPr name="Freeform 3" id="3"/>
            <p:cNvSpPr/>
            <p:nvPr/>
          </p:nvSpPr>
          <p:spPr>
            <a:xfrm flipH="false" flipV="false" rot="0">
              <a:off x="0" y="0"/>
              <a:ext cx="10298938" cy="7184898"/>
            </a:xfrm>
            <a:custGeom>
              <a:avLst/>
              <a:gdLst/>
              <a:ahLst/>
              <a:cxnLst/>
              <a:rect r="r" b="b" t="t" l="l"/>
              <a:pathLst>
                <a:path h="7184898" w="10298938">
                  <a:moveTo>
                    <a:pt x="0" y="0"/>
                  </a:moveTo>
                  <a:lnTo>
                    <a:pt x="10298938" y="0"/>
                  </a:lnTo>
                  <a:lnTo>
                    <a:pt x="10298938" y="7184898"/>
                  </a:lnTo>
                  <a:lnTo>
                    <a:pt x="0" y="7184898"/>
                  </a:lnTo>
                  <a:lnTo>
                    <a:pt x="0" y="0"/>
                  </a:lnTo>
                  <a:close/>
                </a:path>
              </a:pathLst>
            </a:custGeom>
            <a:blipFill>
              <a:blip r:embed="rId2">
                <a:alphaModFix amt="13000"/>
              </a:blip>
              <a:stretch>
                <a:fillRect l="0" t="0" r="0" b="0"/>
              </a:stretch>
            </a:blipFill>
          </p:spPr>
        </p:sp>
      </p:grpSp>
      <p:sp>
        <p:nvSpPr>
          <p:cNvPr name="TextBox 4" id="4"/>
          <p:cNvSpPr txBox="true"/>
          <p:nvPr/>
        </p:nvSpPr>
        <p:spPr>
          <a:xfrm rot="0">
            <a:off x="759771" y="569100"/>
            <a:ext cx="3360391" cy="1162050"/>
          </a:xfrm>
          <a:prstGeom prst="rect">
            <a:avLst/>
          </a:prstGeom>
        </p:spPr>
        <p:txBody>
          <a:bodyPr anchor="t" rtlCol="false" tIns="0" lIns="0" bIns="0" rIns="0">
            <a:spAutoFit/>
          </a:bodyPr>
          <a:lstStyle/>
          <a:p>
            <a:pPr algn="ctr">
              <a:lnSpc>
                <a:spcPts val="7261"/>
              </a:lnSpc>
            </a:pPr>
            <a:r>
              <a:rPr lang="en-US" sz="6051" b="true">
                <a:solidFill>
                  <a:srgbClr val="000000"/>
                </a:solidFill>
                <a:latin typeface="Calibri"/>
                <a:ea typeface="Calibri"/>
                <a:cs typeface="Calibri"/>
                <a:sym typeface="Calibri"/>
              </a:rPr>
              <a:t>THE PROBLEM</a:t>
            </a:r>
          </a:p>
        </p:txBody>
      </p:sp>
      <p:sp>
        <p:nvSpPr>
          <p:cNvPr id="101" name="TextBox 101"/>
          <p:cNvSpPr txBox="1"/>
          <p:nvPr/>
        </p:nvSpPr>
        <p:spPr>
          <a:xfrm>
            <a:off x="731520" y="2606040"/>
            <a:ext cx="7863840" cy="2286000"/>
          </a:xfrm>
          <a:prstGeom prst="rect">
            <a:avLst/>
          </a:prstGeom>
          <a:noFill/>
          <a:ln>
            <a:noFill/>
          </a:ln>
        </p:spPr>
        <p:txBody>
          <a:bodyPr wrap="square" lIns="45720" tIns="18288" rIns="45720" bIns="18288" anchor="ctr" rtlCol="0"/>
          <a:lstStyle/>
          <a:p>
            <a:pPr algn="l">
              <a:lnSpc>
                <a:spcPct val="95000"/>
              </a:lnSpc>
              <a:spcBef>
                <a:spcPts val="0"/>
              </a:spcBef>
              <a:spcAft>
                <a:spcPts val="1000"/>
              </a:spcAft>
            </a:pPr>
            <a:r>
              <a:rPr sz="3200" b="1" i="0">
                <a:solidFill>
                  <a:srgbClr val="1E2761"/>
                </a:solidFill>
                <a:latin typeface="Calibri"/>
              </a:rPr>
              <a:t>Guards watch screens. Danger builds unseen.</a:t>
            </a:r>
          </a:p>
          <a:p>
            <a:pPr algn="l"/>
            <a:r>
              <a:rPr sz="2000" b="0" i="0">
                <a:solidFill>
                  <a:srgbClr val="111111"/>
                </a:solidFill>
                <a:latin typeface="Calibri"/>
              </a:rPr>
              <a:t>A control room watches dozens of flat camera feeds. A guard spots trouble only after the crowd stops moving. By then, crushing pressure is already passing body to body. Stillness is not the warning. It is the accident.</a:t>
            </a:r>
          </a:p>
        </p:txBody>
      </p:sp>
      <p:sp>
        <p:nvSpPr>
          <p:cNvPr id="102" name="Stat 102"/>
          <p:cNvSpPr/>
          <p:nvPr/>
        </p:nvSpPr>
        <p:spPr>
          <a:xfrm>
            <a:off x="731520" y="4983480"/>
            <a:ext cx="2423160" cy="169164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200"/>
              </a:spcAft>
            </a:pPr>
            <a:r>
              <a:rPr sz="2000" b="1" i="0">
                <a:solidFill>
                  <a:srgbClr val="1E2761"/>
                </a:solidFill>
                <a:latin typeface="Calibri"/>
              </a:rPr>
              <a:t>Hathras 2024</a:t>
            </a:r>
          </a:p>
          <a:p>
            <a:r>
              <a:rPr sz="1500" b="0" i="0">
                <a:solidFill>
                  <a:srgbClr val="111111"/>
                </a:solidFill>
                <a:latin typeface="Calibri"/>
              </a:rPr>
              <a:t>121 dead. 80k permit, 250k crowd. Exits blocked.</a:t>
            </a:r>
          </a:p>
        </p:txBody>
      </p:sp>
      <p:sp>
        <p:nvSpPr>
          <p:cNvPr id="103" name="Stat 103"/>
          <p:cNvSpPr/>
          <p:nvPr/>
        </p:nvSpPr>
        <p:spPr>
          <a:xfrm>
            <a:off x="3429000" y="4983480"/>
            <a:ext cx="2423160" cy="169164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200"/>
              </a:spcAft>
            </a:pPr>
            <a:r>
              <a:rPr sz="2000" b="1" i="0">
                <a:solidFill>
                  <a:srgbClr val="1E2761"/>
                </a:solidFill>
                <a:latin typeface="Calibri"/>
              </a:rPr>
              <a:t>Mumbai 2017</a:t>
            </a:r>
          </a:p>
          <a:p>
            <a:r>
              <a:rPr sz="1500" b="0" i="0">
                <a:solidFill>
                  <a:srgbClr val="111111"/>
                </a:solidFill>
                <a:latin typeface="Calibri"/>
              </a:rPr>
              <a:t>23 dead on a station footbridge. Rain, rush hour, no metering.</a:t>
            </a:r>
          </a:p>
        </p:txBody>
      </p:sp>
      <p:sp>
        <p:nvSpPr>
          <p:cNvPr id="104" name="Stat 104"/>
          <p:cNvSpPr/>
          <p:nvPr/>
        </p:nvSpPr>
        <p:spPr>
          <a:xfrm>
            <a:off x="6126480" y="4983480"/>
            <a:ext cx="2423160" cy="169164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200"/>
              </a:spcAft>
            </a:pPr>
            <a:r>
              <a:rPr sz="2000" b="1" i="0">
                <a:solidFill>
                  <a:srgbClr val="1E2761"/>
                </a:solidFill>
                <a:latin typeface="Calibri"/>
              </a:rPr>
              <a:t>7 per m2</a:t>
            </a:r>
          </a:p>
          <a:p>
            <a:pPr algn="l"/>
            <a:r>
              <a:rPr sz="1500" b="0" i="0">
                <a:solidFill>
                  <a:srgbClr val="111111"/>
                </a:solidFill>
                <a:latin typeface="Calibri"/>
              </a:rPr>
              <a:t>A crowd turns fluid. Shockwaves throw people metres. (Fruin)</a:t>
            </a:r>
          </a:p>
        </p:txBody>
      </p:sp>
      <p:sp>
        <p:nvSpPr>
          <p:cNvPr id="113" name="TextBox 113"/>
          <p:cNvSpPr txBox="1"/>
          <p:nvPr/>
        </p:nvSpPr>
        <p:spPr>
          <a:xfrm>
            <a:off x="8961120" y="7269480"/>
            <a:ext cx="8595360" cy="365760"/>
          </a:xfrm>
          <a:prstGeom prst="rect">
            <a:avLst/>
          </a:prstGeom>
          <a:noFill/>
          <a:ln>
            <a:noFill/>
          </a:ln>
        </p:spPr>
        <p:txBody>
          <a:bodyPr wrap="square" lIns="45720" tIns="18288" rIns="45720" bIns="18288" anchor="ctr" rtlCol="0"/>
          <a:lstStyle/>
          <a:p>
            <a:pPr algn="l">
              <a:spcBef>
                <a:spcPts val="0"/>
              </a:spcBef>
              <a:spcAft>
                <a:spcPts val="0"/>
              </a:spcAft>
            </a:pPr>
            <a:r>
              <a:rPr sz="1600" b="0" i="1">
                <a:solidFill>
                  <a:srgbClr val="5A5A5A"/>
                </a:solidFill>
                <a:latin typeface="Calibri"/>
              </a:rPr>
              <a:t>Alerts existed. Action did not follow in time.</a:t>
            </a:r>
          </a:p>
        </p:txBody>
      </p:sp>
      <p:sp>
        <p:nvSpPr>
          <p:cNvPr id="122" name="TextBox 122"/>
          <p:cNvSpPr txBox="1"/>
          <p:nvPr/>
        </p:nvSpPr>
        <p:spPr>
          <a:xfrm>
            <a:off x="731520" y="9802368"/>
            <a:ext cx="16824960" cy="292608"/>
          </a:xfrm>
          <a:prstGeom prst="rect">
            <a:avLst/>
          </a:prstGeom>
          <a:noFill/>
          <a:ln>
            <a:noFill/>
          </a:ln>
        </p:spPr>
        <p:txBody>
          <a:bodyPr wrap="square" lIns="0" tIns="0" rIns="0" bIns="0" anchor="ctr" rtlCol="0">
            <a:noAutofit/>
          </a:bodyPr>
          <a:lstStyle/>
          <a:p>
            <a:pPr algn="r">
              <a:spcBef>
                <a:spcPts val="0"/>
              </a:spcBef>
              <a:spcAft>
                <a:spcPts val="0"/>
              </a:spcAft>
            </a:pPr>
            <a:r>
              <a:rPr lang="en-US" sz="1400" b="0" i="0" dirty="0">
                <a:solidFill>
                  <a:srgbClr val="5A5A5A"/>
                </a:solidFill>
                <a:latin typeface="Calibri"/>
                <a:cs typeface="Calibri"/>
              </a:rPr>
              <a:t>Team Raksha  |  Team Leader: Shounak Joshi</a:t>
            </a:r>
          </a:p>
        </p:txBody>
      </p:sp>
      <p:sp>
        <p:nvSpPr>
          <p:cNvPr id="123" name="P2 time"/>
          <p:cNvSpPr/>
          <p:nvPr/>
        </p:nvSpPr>
        <p:spPr>
          <a:xfrm>
            <a:off x="8961120" y="2606040"/>
            <a:ext cx="8595360" cy="4572000"/>
          </a:xfrm>
          <a:prstGeom prst="roundRect">
            <a:avLst>
              <a:gd name="adj" fmla="val 7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2 timet"/>
          <p:cNvSpPr txBox="1"/>
          <p:nvPr/>
        </p:nvSpPr>
        <p:spPr>
          <a:xfrm>
            <a:off x="9235440" y="2743200"/>
            <a:ext cx="8046720" cy="548640"/>
          </a:xfrm>
          <a:prstGeom prst="rect">
            <a:avLst/>
          </a:prstGeom>
          <a:noFill/>
        </p:spPr>
        <p:txBody>
          <a:bodyPr wrap="square" anchor="ctr" lIns="45720" rIns="45720" tIns="18288" bIns="18288"/>
          <a:lstStyle/>
          <a:p>
            <a:pPr algn="l"/>
            <a:r>
              <a:rPr sz="2000" b="1" i="0">
                <a:solidFill>
                  <a:srgbClr val="1E2761"/>
                </a:solidFill>
                <a:latin typeface="Calibri"/>
              </a:rPr>
              <a:t>Kumbh, 29 January 2025</a:t>
            </a:r>
          </a:p>
        </p:txBody>
      </p:sp>
      <p:sp>
        <p:nvSpPr>
          <p:cNvPr id="125" name="P2 dot"/>
          <p:cNvSpPr/>
          <p:nvPr/>
        </p:nvSpPr>
        <p:spPr>
          <a:xfrm>
            <a:off x="9418320" y="3584448"/>
            <a:ext cx="502920" cy="5029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2 ev"/>
          <p:cNvSpPr txBox="1"/>
          <p:nvPr/>
        </p:nvSpPr>
        <p:spPr>
          <a:xfrm>
            <a:off x="10104120" y="3474720"/>
            <a:ext cx="3017520" cy="868680"/>
          </a:xfrm>
          <a:prstGeom prst="rect">
            <a:avLst/>
          </a:prstGeom>
          <a:noFill/>
        </p:spPr>
        <p:txBody>
          <a:bodyPr wrap="square" anchor="ctr" lIns="45720" rIns="45720" tIns="18288" bIns="18288"/>
          <a:lstStyle/>
          <a:p>
            <a:pPr algn="l"/>
            <a:r>
              <a:rPr sz="1600" b="1">
                <a:solidFill>
                  <a:srgbClr val="1E2761"/>
                </a:solidFill>
                <a:latin typeface="Calibri"/>
              </a:rPr>
              <a:t>Months before</a:t>
            </a:r>
            <a:r>
              <a:rPr sz="1400" b="0">
                <a:solidFill>
                  <a:srgbClr val="111111"/>
                </a:solidFill>
                <a:latin typeface="Calibri"/>
              </a:rPr>
              <a:t>
2,751 cameras and AI alerts go live (TOI).</a:t>
            </a:r>
          </a:p>
        </p:txBody>
      </p:sp>
      <p:sp>
        <p:nvSpPr>
          <p:cNvPr id="127" name="P2 dot"/>
          <p:cNvSpPr/>
          <p:nvPr/>
        </p:nvSpPr>
        <p:spPr>
          <a:xfrm>
            <a:off x="9418320" y="4681728"/>
            <a:ext cx="502920" cy="5029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2 ev"/>
          <p:cNvSpPr txBox="1"/>
          <p:nvPr/>
        </p:nvSpPr>
        <p:spPr>
          <a:xfrm>
            <a:off x="10104120" y="4572000"/>
            <a:ext cx="3017520" cy="868680"/>
          </a:xfrm>
          <a:prstGeom prst="rect">
            <a:avLst/>
          </a:prstGeom>
          <a:noFill/>
        </p:spPr>
        <p:txBody>
          <a:bodyPr wrap="square" anchor="ctr" lIns="45720" rIns="45720" tIns="18288" bIns="18288"/>
          <a:lstStyle/>
          <a:p>
            <a:pPr algn="l"/>
            <a:r>
              <a:rPr sz="1600" b="1" i="0">
                <a:solidFill>
                  <a:srgbClr val="1E2761"/>
                </a:solidFill>
                <a:latin typeface="Calibri"/>
              </a:rPr>
              <a:t>01:00</a:t>
            </a:r>
            <a:r>
              <a:rPr sz="1400" b="0" i="0">
                <a:solidFill>
                  <a:srgbClr val="111111"/>
                </a:solidFill>
                <a:latin typeface="Calibri"/>
              </a:rPr>
              <a:t>
Barricades jumped at the Sangam nose. Crores press forward.</a:t>
            </a:r>
          </a:p>
        </p:txBody>
      </p:sp>
      <p:sp>
        <p:nvSpPr>
          <p:cNvPr id="129" name="P2 dot"/>
          <p:cNvSpPr/>
          <p:nvPr/>
        </p:nvSpPr>
        <p:spPr>
          <a:xfrm>
            <a:off x="9418320" y="5779008"/>
            <a:ext cx="502920" cy="5029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2 ev"/>
          <p:cNvSpPr txBox="1"/>
          <p:nvPr/>
        </p:nvSpPr>
        <p:spPr>
          <a:xfrm>
            <a:off x="10104120" y="5669280"/>
            <a:ext cx="3017520" cy="868680"/>
          </a:xfrm>
          <a:prstGeom prst="rect">
            <a:avLst/>
          </a:prstGeom>
          <a:noFill/>
        </p:spPr>
        <p:txBody>
          <a:bodyPr wrap="square" anchor="ctr" lIns="45720" rIns="45720" tIns="18288" bIns="18288"/>
          <a:lstStyle/>
          <a:p>
            <a:pPr algn="l"/>
            <a:r>
              <a:rPr sz="1600" b="1">
                <a:solidFill>
                  <a:srgbClr val="1E2761"/>
                </a:solidFill>
                <a:latin typeface="Calibri"/>
              </a:rPr>
              <a:t>After</a:t>
            </a:r>
            <a:r>
              <a:rPr sz="1400" b="0">
                <a:solidFill>
                  <a:srgbClr val="111111"/>
                </a:solidFill>
                <a:latin typeface="Calibri"/>
              </a:rPr>
              <a:t>
30 dead officially, despite live AI alerts. No action followed in time.</a:t>
            </a:r>
          </a:p>
        </p:txBody>
      </p:sp>
      <p:sp>
        <p:nvSpPr>
          <p:cNvPr id="131" name="P2 claim"/>
          <p:cNvSpPr/>
          <p:nvPr/>
        </p:nvSpPr>
        <p:spPr>
          <a:xfrm>
            <a:off x="8961120" y="7818120"/>
            <a:ext cx="8595360" cy="1737360"/>
          </a:xfrm>
          <a:prstGeom prst="roundRect">
            <a:avLst>
              <a:gd name="adj" fmla="val 7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1800" b="1" i="0">
                <a:solidFill>
                  <a:srgbClr val="FFFFFF"/>
                </a:solidFill>
                <a:latin typeface="Calibri"/>
              </a:rPr>
              <a:t>Danger is invisible pressure, not visible stillness.</a:t>
            </a:r>
          </a:p>
          <a:p>
            <a:pPr algn="l"/>
            <a:r>
              <a:rPr sz="1500" b="0" i="0">
                <a:solidFill>
                  <a:srgbClr val="FFFFFF"/>
                </a:solidFill>
                <a:latin typeface="Calibri"/>
              </a:rPr>
              <a:t>Measure pressure, warn early, open gates.</a:t>
            </a:r>
          </a:p>
        </p:txBody>
      </p:sp>
      <p:sp>
        <p:nvSpPr>
          <p:cNvPr id="132" name="P2 still"/>
          <p:cNvSpPr/>
          <p:nvPr/>
        </p:nvSpPr>
        <p:spPr>
          <a:xfrm>
            <a:off x="731520" y="6812280"/>
            <a:ext cx="7863840" cy="2651760"/>
          </a:xfrm>
          <a:prstGeom prst="roundRect">
            <a:avLst>
              <a:gd name="adj" fmla="val 7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2000" b="1" i="0">
                <a:solidFill>
                  <a:srgbClr val="1E2761"/>
                </a:solidFill>
                <a:latin typeface="Calibri"/>
              </a:rPr>
              <a:t>Why stillness lies</a:t>
            </a:r>
          </a:p>
          <a:p>
            <a:pPr algn="l"/>
            <a:r>
              <a:rPr sz="1600" b="0" i="0">
                <a:solidFill>
                  <a:srgbClr val="111111"/>
                </a:solidFill>
                <a:latin typeface="Calibri"/>
              </a:rPr>
              <a:t>A stopped crowd is not a warning. It is the accident. Pressure passes body to body long before feet stop. That is why cameras must read force, not faces.</a:t>
            </a:r>
          </a:p>
        </p:txBody>
      </p:sp>
      <p:pic>
        <p:nvPicPr>
          <p:cNvPr id="133" name="P2 kumbh" descr="kumbh_crowd.jpg"/>
          <p:cNvPicPr>
            <a:picLocks noChangeAspect="1"/>
          </p:cNvPicPr>
          <p:nvPr/>
        </p:nvPicPr>
        <p:blipFill>
          <a:blip r:embed="rId3"/>
          <a:stretch>
            <a:fillRect/>
          </a:stretch>
        </p:blipFill>
        <p:spPr>
          <a:xfrm>
            <a:off x="13441680" y="3566160"/>
            <a:ext cx="3566160" cy="2002536"/>
          </a:xfrm>
          <a:prstGeom prst="rect">
            <a:avLst/>
          </a:prstGeom>
          <a:ln>
            <a:noFill/>
          </a:ln>
        </p:spPr>
      </p:pic>
      <p:sp>
        <p:nvSpPr>
          <p:cNvPr id="134" name="P2 kumbhc"/>
          <p:cNvSpPr txBox="1"/>
          <p:nvPr/>
        </p:nvSpPr>
        <p:spPr>
          <a:xfrm>
            <a:off x="13441680" y="5623560"/>
            <a:ext cx="3566160" cy="822960"/>
          </a:xfrm>
          <a:prstGeom prst="rect">
            <a:avLst/>
          </a:prstGeom>
          <a:noFill/>
        </p:spPr>
        <p:txBody>
          <a:bodyPr wrap="square" anchor="ctr" lIns="45720" rIns="45720" tIns="18288" bIns="18288"/>
          <a:lstStyle/>
          <a:p>
            <a:pPr algn="l"/>
            <a:r>
              <a:rPr sz="1100" b="0" i="0">
                <a:solidFill>
                  <a:srgbClr val="5A5A5A"/>
                </a:solidFill>
                <a:latin typeface="Calibri"/>
              </a:rPr>
              <a:t>Kumbh mela ground at night, Jan 2025. Photo: Wikimedia Commons.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81879" y="2449173"/>
            <a:ext cx="7724251" cy="5388654"/>
            <a:chOff x="0" y="0"/>
            <a:chExt cx="10299002" cy="7184873"/>
          </a:xfrm>
        </p:grpSpPr>
        <p:sp>
          <p:nvSpPr>
            <p:cNvPr name="Freeform 3" id="3"/>
            <p:cNvSpPr/>
            <p:nvPr/>
          </p:nvSpPr>
          <p:spPr>
            <a:xfrm flipH="false" flipV="false" rot="0">
              <a:off x="0" y="0"/>
              <a:ext cx="10298938" cy="7184898"/>
            </a:xfrm>
            <a:custGeom>
              <a:avLst/>
              <a:gdLst/>
              <a:ahLst/>
              <a:cxnLst/>
              <a:rect r="r" b="b" t="t" l="l"/>
              <a:pathLst>
                <a:path h="7184898" w="10298938">
                  <a:moveTo>
                    <a:pt x="0" y="0"/>
                  </a:moveTo>
                  <a:lnTo>
                    <a:pt x="10298938" y="0"/>
                  </a:lnTo>
                  <a:lnTo>
                    <a:pt x="10298938" y="7184898"/>
                  </a:lnTo>
                  <a:lnTo>
                    <a:pt x="0" y="7184898"/>
                  </a:lnTo>
                  <a:lnTo>
                    <a:pt x="0" y="0"/>
                  </a:lnTo>
                  <a:close/>
                </a:path>
              </a:pathLst>
            </a:custGeom>
            <a:blipFill>
              <a:blip r:embed="rId2">
                <a:alphaModFix amt="13000"/>
              </a:blip>
              <a:stretch>
                <a:fillRect l="0" t="0" r="0" b="0"/>
              </a:stretch>
            </a:blipFill>
          </p:spPr>
        </p:sp>
      </p:grpSp>
      <p:sp>
        <p:nvSpPr>
          <p:cNvPr name="TextBox 4" id="4"/>
          <p:cNvSpPr txBox="true"/>
          <p:nvPr/>
        </p:nvSpPr>
        <p:spPr>
          <a:xfrm rot="0">
            <a:off x="0" y="509340"/>
            <a:ext cx="7914084" cy="1962150"/>
          </a:xfrm>
          <a:prstGeom prst="rect">
            <a:avLst/>
          </a:prstGeom>
        </p:spPr>
        <p:txBody>
          <a:bodyPr anchor="t" rtlCol="false" tIns="0" lIns="0" bIns="0" rIns="0">
            <a:spAutoFit/>
          </a:bodyPr>
          <a:lstStyle/>
          <a:p>
            <a:pPr algn="ctr">
              <a:lnSpc>
                <a:spcPts val="6719"/>
              </a:lnSpc>
            </a:pPr>
            <a:r>
              <a:rPr lang="en-US" sz="5598" b="true">
                <a:solidFill>
                  <a:srgbClr val="000000"/>
                </a:solidFill>
                <a:latin typeface="Calibri"/>
                <a:ea typeface="Calibri"/>
                <a:cs typeface="Calibri"/>
                <a:sym typeface="Calibri"/>
              </a:rPr>
              <a:t>HOW IT WORKS</a:t>
            </a:r>
          </a:p>
          <a:p>
            <a:pPr algn="ctr">
              <a:lnSpc>
                <a:spcPts val="6719"/>
              </a:lnSpc>
            </a:pPr>
          </a:p>
        </p:txBody>
      </p:sp>
      <p:sp>
        <p:nvSpPr>
          <p:cNvPr id="101" name="Chevron 101"/>
          <p:cNvSpPr/>
          <p:nvPr/>
        </p:nvSpPr>
        <p:spPr>
          <a:xfrm>
            <a:off x="731520" y="2651760"/>
            <a:ext cx="3108960" cy="1188720"/>
          </a:xfrm>
          <a:prstGeom prst="chevron">
            <a:avLst/>
          </a:prstGeom>
          <a:solidFill>
            <a:srgbClr val="1E2761"/>
          </a:solidFill>
          <a:ln>
            <a:noFill/>
          </a:ln>
        </p:spPr>
        <p:txBody>
          <a:bodyPr wrap="square" lIns="45720" tIns="18288" rIns="45720" bIns="18288" anchor="ctr" rtlCol="0"/>
          <a:lstStyle/>
          <a:p>
            <a:pPr algn="ctr">
              <a:spcBef>
                <a:spcPts val="0"/>
              </a:spcBef>
              <a:spcAft>
                <a:spcPts val="0"/>
              </a:spcAft>
            </a:pPr>
            <a:r>
              <a:rPr sz="2000" b="1" i="0">
                <a:solidFill>
                  <a:srgbClr val="FFFFFF"/>
                </a:solidFill>
                <a:latin typeface="Calibri"/>
              </a:rPr>
              <a:t>Calibrate</a:t>
            </a:r>
          </a:p>
        </p:txBody>
      </p:sp>
      <p:sp>
        <p:nvSpPr>
          <p:cNvPr id="102" name="TextBox 102"/>
          <p:cNvSpPr txBox="1"/>
          <p:nvPr/>
        </p:nvSpPr>
        <p:spPr>
          <a:xfrm>
            <a:off x="868680" y="3931920"/>
            <a:ext cx="2651760" cy="822960"/>
          </a:xfrm>
          <a:prstGeom prst="rect">
            <a:avLst/>
          </a:prstGeom>
          <a:noFill/>
          <a:ln>
            <a:noFill/>
          </a:ln>
        </p:spPr>
        <p:txBody>
          <a:bodyPr wrap="square" lIns="45720" tIns="18288" rIns="45720" bIns="18288" anchor="ctr" rtlCol="0"/>
          <a:lstStyle/>
          <a:p>
            <a:pPr algn="ctr">
              <a:spcBef>
                <a:spcPts val="0"/>
              </a:spcBef>
              <a:spcAft>
                <a:spcPts val="0"/>
              </a:spcAft>
            </a:pPr>
            <a:r>
              <a:rPr sz="1500" b="0" i="0">
                <a:solidFill>
                  <a:srgbClr val="5A5A5A"/>
                </a:solidFill>
                <a:latin typeface="Calibri"/>
              </a:rPr>
              <a:t>pixels to ground, once per camera</a:t>
            </a:r>
          </a:p>
        </p:txBody>
      </p:sp>
      <p:sp>
        <p:nvSpPr>
          <p:cNvPr id="103" name="Chevron 103"/>
          <p:cNvSpPr/>
          <p:nvPr/>
        </p:nvSpPr>
        <p:spPr>
          <a:xfrm>
            <a:off x="3474720" y="2651760"/>
            <a:ext cx="3108960" cy="1188720"/>
          </a:xfrm>
          <a:prstGeom prst="chevron">
            <a:avLst/>
          </a:prstGeom>
          <a:solidFill>
            <a:srgbClr val="1E2761"/>
          </a:solidFill>
          <a:ln>
            <a:noFill/>
          </a:ln>
        </p:spPr>
        <p:txBody>
          <a:bodyPr wrap="square" lIns="45720" tIns="18288" rIns="45720" bIns="18288" anchor="ctr" rtlCol="0"/>
          <a:lstStyle/>
          <a:p>
            <a:pPr algn="ctr">
              <a:spcBef>
                <a:spcPts val="0"/>
              </a:spcBef>
              <a:spcAft>
                <a:spcPts val="0"/>
              </a:spcAft>
            </a:pPr>
            <a:r>
              <a:rPr sz="2000" b="1" i="0">
                <a:solidFill>
                  <a:srgbClr val="FFFFFF"/>
                </a:solidFill>
                <a:latin typeface="Calibri"/>
              </a:rPr>
              <a:t>Map density</a:t>
            </a:r>
          </a:p>
        </p:txBody>
      </p:sp>
      <p:sp>
        <p:nvSpPr>
          <p:cNvPr id="104" name="TextBox 104"/>
          <p:cNvSpPr txBox="1"/>
          <p:nvPr/>
        </p:nvSpPr>
        <p:spPr>
          <a:xfrm>
            <a:off x="3611880" y="3931920"/>
            <a:ext cx="2651760" cy="822960"/>
          </a:xfrm>
          <a:prstGeom prst="rect">
            <a:avLst/>
          </a:prstGeom>
          <a:noFill/>
          <a:ln>
            <a:noFill/>
          </a:ln>
        </p:spPr>
        <p:txBody>
          <a:bodyPr wrap="square" lIns="45720" tIns="18288" rIns="45720" bIns="18288" anchor="ctr" rtlCol="0"/>
          <a:lstStyle/>
          <a:p>
            <a:pPr algn="ctr">
              <a:spcBef>
                <a:spcPts val="0"/>
              </a:spcBef>
              <a:spcAft>
                <a:spcPts val="0"/>
              </a:spcAft>
            </a:pPr>
            <a:r>
              <a:rPr sz="1500" b="0" i="0">
                <a:solidFill>
                  <a:srgbClr val="5A5A5A"/>
                </a:solidFill>
                <a:latin typeface="Calibri"/>
              </a:rPr>
              <a:t>heatmaps count overlap</a:t>
            </a:r>
          </a:p>
        </p:txBody>
      </p:sp>
      <p:sp>
        <p:nvSpPr>
          <p:cNvPr id="105" name="Chevron 105"/>
          <p:cNvSpPr/>
          <p:nvPr/>
        </p:nvSpPr>
        <p:spPr>
          <a:xfrm>
            <a:off x="6217920" y="2651760"/>
            <a:ext cx="3108960" cy="1188720"/>
          </a:xfrm>
          <a:prstGeom prst="chevron">
            <a:avLst/>
          </a:prstGeom>
          <a:solidFill>
            <a:srgbClr val="1E2761"/>
          </a:solidFill>
          <a:ln>
            <a:noFill/>
          </a:ln>
        </p:spPr>
        <p:txBody>
          <a:bodyPr wrap="square" lIns="45720" tIns="18288" rIns="45720" bIns="18288" anchor="ctr" rtlCol="0"/>
          <a:lstStyle/>
          <a:p>
            <a:pPr algn="ctr">
              <a:spcBef>
                <a:spcPts val="0"/>
              </a:spcBef>
              <a:spcAft>
                <a:spcPts val="0"/>
              </a:spcAft>
            </a:pPr>
            <a:r>
              <a:rPr sz="2000" b="1" i="0">
                <a:solidFill>
                  <a:srgbClr val="FFFFFF"/>
                </a:solidFill>
                <a:latin typeface="Calibri"/>
              </a:rPr>
              <a:t>Track flow</a:t>
            </a:r>
          </a:p>
        </p:txBody>
      </p:sp>
      <p:sp>
        <p:nvSpPr>
          <p:cNvPr id="106" name="TextBox 106"/>
          <p:cNvSpPr txBox="1"/>
          <p:nvPr/>
        </p:nvSpPr>
        <p:spPr>
          <a:xfrm>
            <a:off x="6355080" y="3931920"/>
            <a:ext cx="2651760" cy="822960"/>
          </a:xfrm>
          <a:prstGeom prst="rect">
            <a:avLst/>
          </a:prstGeom>
          <a:noFill/>
          <a:ln>
            <a:noFill/>
          </a:ln>
        </p:spPr>
        <p:txBody>
          <a:bodyPr wrap="square" lIns="45720" tIns="18288" rIns="45720" bIns="18288" anchor="ctr" rtlCol="0"/>
          <a:lstStyle/>
          <a:p>
            <a:pPr algn="ctr">
              <a:spcBef>
                <a:spcPts val="0"/>
              </a:spcBef>
              <a:spcAft>
                <a:spcPts val="0"/>
              </a:spcAft>
            </a:pPr>
            <a:r>
              <a:rPr sz="1500" b="0" i="0">
                <a:solidFill>
                  <a:srgbClr val="5A5A5A"/>
                </a:solidFill>
                <a:latin typeface="Calibri"/>
              </a:rPr>
              <a:t>flow reads crowd currents</a:t>
            </a:r>
          </a:p>
        </p:txBody>
      </p:sp>
      <p:sp>
        <p:nvSpPr>
          <p:cNvPr id="107" name="Chevron 107"/>
          <p:cNvSpPr/>
          <p:nvPr/>
        </p:nvSpPr>
        <p:spPr>
          <a:xfrm>
            <a:off x="8961120" y="2651760"/>
            <a:ext cx="3108960" cy="1188720"/>
          </a:xfrm>
          <a:prstGeom prst="chevron">
            <a:avLst/>
          </a:prstGeom>
          <a:solidFill>
            <a:srgbClr val="1E2761"/>
          </a:solidFill>
          <a:ln>
            <a:noFill/>
          </a:ln>
        </p:spPr>
        <p:txBody>
          <a:bodyPr wrap="square" lIns="45720" tIns="18288" rIns="45720" bIns="18288" anchor="ctr" rtlCol="0"/>
          <a:lstStyle/>
          <a:p>
            <a:pPr algn="ctr">
              <a:spcBef>
                <a:spcPts val="0"/>
              </a:spcBef>
              <a:spcAft>
                <a:spcPts val="0"/>
              </a:spcAft>
            </a:pPr>
            <a:r>
              <a:rPr sz="2000" b="1" i="0">
                <a:solidFill>
                  <a:srgbClr val="FFFFFF"/>
                </a:solidFill>
                <a:latin typeface="Calibri"/>
              </a:rPr>
              <a:t>Measure pressure</a:t>
            </a:r>
          </a:p>
        </p:txBody>
      </p:sp>
      <p:sp>
        <p:nvSpPr>
          <p:cNvPr id="108" name="TextBox 108"/>
          <p:cNvSpPr txBox="1"/>
          <p:nvPr/>
        </p:nvSpPr>
        <p:spPr>
          <a:xfrm>
            <a:off x="9098280" y="3931920"/>
            <a:ext cx="2651760" cy="822960"/>
          </a:xfrm>
          <a:prstGeom prst="rect">
            <a:avLst/>
          </a:prstGeom>
          <a:noFill/>
          <a:ln>
            <a:noFill/>
          </a:ln>
        </p:spPr>
        <p:txBody>
          <a:bodyPr wrap="square" lIns="45720" tIns="18288" rIns="45720" bIns="18288" anchor="ctr" rtlCol="0"/>
          <a:lstStyle/>
          <a:p>
            <a:pPr algn="ctr">
              <a:spcBef>
                <a:spcPts val="0"/>
              </a:spcBef>
              <a:spcAft>
                <a:spcPts val="0"/>
              </a:spcAft>
            </a:pPr>
            <a:r>
              <a:rPr sz="1350" b="0" i="0">
                <a:solidFill>
                  <a:srgbClr val="5A5A5A"/>
                </a:solidFill>
                <a:latin typeface="Calibri"/>
              </a:rPr>
              <a:t>density x movement variance</a:t>
            </a:r>
          </a:p>
        </p:txBody>
      </p:sp>
      <p:sp>
        <p:nvSpPr>
          <p:cNvPr id="109" name="Chevron 109"/>
          <p:cNvSpPr/>
          <p:nvPr/>
        </p:nvSpPr>
        <p:spPr>
          <a:xfrm>
            <a:off x="11704320" y="2651760"/>
            <a:ext cx="3108960" cy="1188720"/>
          </a:xfrm>
          <a:prstGeom prst="chevron">
            <a:avLst/>
          </a:prstGeom>
          <a:solidFill>
            <a:srgbClr val="1E2761"/>
          </a:solidFill>
          <a:ln>
            <a:noFill/>
          </a:ln>
        </p:spPr>
        <p:txBody>
          <a:bodyPr wrap="square" lIns="45720" tIns="18288" rIns="45720" bIns="18288" anchor="ctr" rtlCol="0"/>
          <a:lstStyle/>
          <a:p>
            <a:pPr algn="ctr">
              <a:spcBef>
                <a:spcPts val="0"/>
              </a:spcBef>
              <a:spcAft>
                <a:spcPts val="0"/>
              </a:spcAft>
            </a:pPr>
            <a:r>
              <a:rPr sz="2000" b="1" i="0">
                <a:solidFill>
                  <a:srgbClr val="FFFFFF"/>
                </a:solidFill>
                <a:latin typeface="Calibri"/>
              </a:rPr>
              <a:t>Forecast jam</a:t>
            </a:r>
          </a:p>
        </p:txBody>
      </p:sp>
      <p:sp>
        <p:nvSpPr>
          <p:cNvPr id="110" name="TextBox 110"/>
          <p:cNvSpPr txBox="1"/>
          <p:nvPr/>
        </p:nvSpPr>
        <p:spPr>
          <a:xfrm>
            <a:off x="11841480" y="3931920"/>
            <a:ext cx="2651760" cy="822960"/>
          </a:xfrm>
          <a:prstGeom prst="rect">
            <a:avLst/>
          </a:prstGeom>
          <a:noFill/>
          <a:ln>
            <a:noFill/>
          </a:ln>
        </p:spPr>
        <p:txBody>
          <a:bodyPr wrap="square" lIns="45720" tIns="18288" rIns="45720" bIns="18288" anchor="ctr" rtlCol="0"/>
          <a:lstStyle/>
          <a:p>
            <a:pPr algn="ctr">
              <a:spcBef>
                <a:spcPts val="0"/>
              </a:spcBef>
              <a:spcAft>
                <a:spcPts val="0"/>
              </a:spcAft>
            </a:pPr>
            <a:r>
              <a:rPr sz="1500" b="0" i="0">
                <a:solidFill>
                  <a:srgbClr val="5A5A5A"/>
                </a:solidFill>
                <a:latin typeface="Calibri"/>
              </a:rPr>
              <a:t>inflow beats outflow</a:t>
            </a:r>
          </a:p>
        </p:txBody>
      </p:sp>
      <p:sp>
        <p:nvSpPr>
          <p:cNvPr id="111" name="Chevron 111"/>
          <p:cNvSpPr/>
          <p:nvPr/>
        </p:nvSpPr>
        <p:spPr>
          <a:xfrm>
            <a:off x="14447520" y="2651760"/>
            <a:ext cx="3108960" cy="1188720"/>
          </a:xfrm>
          <a:prstGeom prst="chevron">
            <a:avLst/>
          </a:prstGeom>
          <a:solidFill>
            <a:srgbClr val="D9A441"/>
          </a:solidFill>
          <a:ln>
            <a:noFill/>
          </a:ln>
        </p:spPr>
        <p:txBody>
          <a:bodyPr wrap="square" lIns="45720" tIns="18288" rIns="45720" bIns="18288" anchor="ctr" rtlCol="0"/>
          <a:lstStyle/>
          <a:p>
            <a:pPr algn="ctr">
              <a:spcBef>
                <a:spcPts val="0"/>
              </a:spcBef>
              <a:spcAft>
                <a:spcPts val="0"/>
              </a:spcAft>
            </a:pPr>
            <a:r>
              <a:rPr sz="2000" b="1" i="0">
                <a:solidFill>
                  <a:srgbClr val="1E2761"/>
                </a:solidFill>
                <a:latin typeface="Calibri"/>
              </a:rPr>
              <a:t>Warn</a:t>
            </a:r>
          </a:p>
        </p:txBody>
      </p:sp>
      <p:sp>
        <p:nvSpPr>
          <p:cNvPr id="112" name="TextBox 112"/>
          <p:cNvSpPr txBox="1"/>
          <p:nvPr/>
        </p:nvSpPr>
        <p:spPr>
          <a:xfrm>
            <a:off x="14584680" y="3931920"/>
            <a:ext cx="2651760" cy="822960"/>
          </a:xfrm>
          <a:prstGeom prst="rect">
            <a:avLst/>
          </a:prstGeom>
          <a:noFill/>
          <a:ln>
            <a:noFill/>
          </a:ln>
        </p:spPr>
        <p:txBody>
          <a:bodyPr wrap="square" lIns="45720" tIns="18288" rIns="45720" bIns="18288" anchor="ctr" rtlCol="0"/>
          <a:lstStyle/>
          <a:p>
            <a:pPr algn="ctr">
              <a:spcBef>
                <a:spcPts val="0"/>
              </a:spcBef>
              <a:spcAft>
                <a:spcPts val="0"/>
              </a:spcAft>
            </a:pPr>
            <a:r>
              <a:rPr sz="1500" b="0" i="0">
                <a:solidFill>
                  <a:srgbClr val="5A5A5A"/>
                </a:solidFill>
                <a:latin typeface="Calibri"/>
              </a:rPr>
              <a:t>open gates upstream</a:t>
            </a:r>
          </a:p>
        </p:txBody>
      </p:sp>
      <p:sp>
        <p:nvSpPr>
          <p:cNvPr id="113" name="Banner 113"/>
          <p:cNvSpPr/>
          <p:nvPr/>
        </p:nvSpPr>
        <p:spPr>
          <a:xfrm>
            <a:off x="731520" y="4937760"/>
            <a:ext cx="16824960" cy="777240"/>
          </a:xfrm>
          <a:prstGeom prst="roundRect">
            <a:avLst>
              <a:gd name="adj" fmla="val 20000"/>
            </a:avLst>
          </a:prstGeom>
          <a:solidFill>
            <a:srgbClr val="EEF2FF"/>
          </a:solidFill>
          <a:ln>
            <a:noFill/>
          </a:ln>
        </p:spPr>
        <p:txBody>
          <a:bodyPr wrap="square" lIns="45720" tIns="18288" rIns="45720" bIns="18288" anchor="ctr" rtlCol="0"/>
          <a:lstStyle/>
          <a:p>
            <a:pPr algn="l">
              <a:spcBef>
                <a:spcPts val="0"/>
              </a:spcBef>
              <a:spcAft>
                <a:spcPts val="0"/>
              </a:spcAft>
            </a:pPr>
            <a:r>
              <a:rPr sz="2000" b="0" i="0">
                <a:solidFill>
                  <a:srgbClr val="1E2761"/>
                </a:solidFill>
                <a:latin typeface="Calibri"/>
              </a:rPr>
              <a:t>In plain words: map the ground right, count the crowd as heat, read its currents, warn on pressure.</a:t>
            </a:r>
          </a:p>
        </p:txBody>
      </p:sp>
      <p:sp>
        <p:nvSpPr>
          <p:cNvPr id="115" name="Card 115"/>
          <p:cNvSpPr/>
          <p:nvPr/>
        </p:nvSpPr>
        <p:spPr>
          <a:xfrm>
            <a:off x="7863840" y="5989320"/>
            <a:ext cx="9692640" cy="109728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1800" b="1" i="0">
                <a:solidFill>
                  <a:srgbClr val="1E2761"/>
                </a:solidFill>
                <a:latin typeface="Calibri"/>
              </a:rPr>
              <a:t>Heatmaps beat boxes</a:t>
            </a:r>
          </a:p>
          <a:p>
            <a:pPr algn="l"/>
            <a:r>
              <a:rPr sz="1300" b="0" i="0">
                <a:solidFill>
                  <a:srgbClr val="111111"/>
                </a:solidFill>
                <a:latin typeface="Calibri"/>
              </a:rPr>
              <a:t>Published research shows box detectors collapse under overlap: F1 0.07 vs 0.71 point-based. Density maps cut counting error 265 to 105 MAE. (NWPU-Crowd)</a:t>
            </a:r>
          </a:p>
        </p:txBody>
      </p:sp>
      <p:sp>
        <p:nvSpPr>
          <p:cNvPr id="116" name="Card 116"/>
          <p:cNvSpPr/>
          <p:nvPr/>
        </p:nvSpPr>
        <p:spPr>
          <a:xfrm>
            <a:off x="7863840" y="7269480"/>
            <a:ext cx="9692640" cy="109728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1800" b="1" i="0">
                <a:solidFill>
                  <a:srgbClr val="1E2761"/>
                </a:solidFill>
                <a:latin typeface="Calibri"/>
              </a:rPr>
              <a:t>Pressure, not stillness</a:t>
            </a:r>
          </a:p>
          <a:p>
            <a:pPr algn="l"/>
            <a:r>
              <a:rPr sz="1350" b="0" i="0">
                <a:solidFill>
                  <a:srgbClr val="111111"/>
                </a:solidFill>
                <a:latin typeface="Calibri"/>
              </a:rPr>
              <a:t>Pressure is density times movement variance. Density or speed alone cannot warn. (Johansson 2008)</a:t>
            </a:r>
          </a:p>
        </p:txBody>
      </p:sp>
      <p:sp>
        <p:nvSpPr>
          <p:cNvPr id="117" name="Card 117"/>
          <p:cNvSpPr/>
          <p:nvPr/>
        </p:nvSpPr>
        <p:spPr>
          <a:xfrm>
            <a:off x="7863840" y="8549640"/>
            <a:ext cx="9692640" cy="109728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1800" b="1" i="0">
                <a:solidFill>
                  <a:srgbClr val="1E2761"/>
                </a:solidFill>
                <a:latin typeface="Calibri"/>
              </a:rPr>
              <a:t>Warns before stillness</a:t>
            </a:r>
          </a:p>
          <a:p>
            <a:pPr algn="l"/>
            <a:r>
              <a:rPr sz="1300" b="0" i="0">
                <a:solidFill>
                  <a:srgbClr val="111111"/>
                </a:solidFill>
                <a:latin typeface="Calibri"/>
              </a:rPr>
              <a:t>Stop-and-go waves and rising pressure fire the alert while feet still move. Shown on Hajj 2006 footage; multi-site trials are the pilot's job.</a:t>
            </a:r>
          </a:p>
        </p:txBody>
      </p:sp>
      <p:sp>
        <p:nvSpPr>
          <p:cNvPr id="118" name="TextBox 118"/>
          <p:cNvSpPr txBox="1"/>
          <p:nvPr/>
        </p:nvSpPr>
        <p:spPr>
          <a:xfrm>
            <a:off x="731520" y="9802368"/>
            <a:ext cx="16824960" cy="292608"/>
          </a:xfrm>
          <a:prstGeom prst="rect">
            <a:avLst/>
          </a:prstGeom>
          <a:noFill/>
          <a:ln>
            <a:noFill/>
          </a:ln>
        </p:spPr>
        <p:txBody>
          <a:bodyPr wrap="square" lIns="0" tIns="0" rIns="0" bIns="0" anchor="ctr" rtlCol="0">
            <a:noAutofit/>
          </a:bodyPr>
          <a:lstStyle/>
          <a:p>
            <a:pPr algn="r">
              <a:spcBef>
                <a:spcPts val="0"/>
              </a:spcBef>
              <a:spcAft>
                <a:spcPts val="0"/>
              </a:spcAft>
            </a:pPr>
            <a:r>
              <a:rPr lang="en-US" sz="1400" b="0" i="0" dirty="0">
                <a:solidFill>
                  <a:srgbClr val="5A5A5A"/>
                </a:solidFill>
                <a:latin typeface="Calibri"/>
                <a:cs typeface="Calibri"/>
              </a:rPr>
              <a:t>Team Raksha  |  Team Leader: Shounak Joshi</a:t>
            </a:r>
          </a:p>
        </p:txBody>
      </p:sp>
      <p:sp>
        <p:nvSpPr>
          <p:cNvPr id="119" name="P3 mae"/>
          <p:cNvSpPr/>
          <p:nvPr/>
        </p:nvSpPr>
        <p:spPr>
          <a:xfrm>
            <a:off x="731520" y="5989320"/>
            <a:ext cx="6766560" cy="3657600"/>
          </a:xfrm>
          <a:prstGeom prst="roundRect">
            <a:avLst>
              <a:gd name="adj" fmla="val 7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3 maet"/>
          <p:cNvSpPr txBox="1"/>
          <p:nvPr/>
        </p:nvSpPr>
        <p:spPr>
          <a:xfrm>
            <a:off x="960120" y="6126480"/>
            <a:ext cx="6309360" cy="411480"/>
          </a:xfrm>
          <a:prstGeom prst="rect">
            <a:avLst/>
          </a:prstGeom>
          <a:noFill/>
        </p:spPr>
        <p:txBody>
          <a:bodyPr wrap="square" anchor="ctr" lIns="45720" rIns="45720" tIns="18288" bIns="18288"/>
          <a:lstStyle/>
          <a:p>
            <a:pPr algn="l"/>
            <a:r>
              <a:rPr sz="1500" b="1" i="0">
                <a:solidFill>
                  <a:srgbClr val="1E2761"/>
                </a:solidFill>
                <a:latin typeface="Calibri"/>
              </a:rPr>
              <a:t>What the machine sees</a:t>
            </a:r>
          </a:p>
        </p:txBody>
      </p:sp>
      <p:pic>
        <p:nvPicPr>
          <p:cNvPr id="121" name="P3 density" descr="jh_fig3_new.png"/>
          <p:cNvPicPr>
            <a:picLocks noChangeAspect="1"/>
          </p:cNvPicPr>
          <p:nvPr/>
        </p:nvPicPr>
        <p:blipFill>
          <a:blip r:embed="rId3"/>
          <a:stretch>
            <a:fillRect/>
          </a:stretch>
        </p:blipFill>
        <p:spPr>
          <a:xfrm>
            <a:off x="960120" y="6583680"/>
            <a:ext cx="2743200" cy="2423160"/>
          </a:xfrm>
          <a:prstGeom prst="rect">
            <a:avLst/>
          </a:prstGeom>
          <a:ln>
            <a:noFill/>
          </a:ln>
        </p:spPr>
      </p:pic>
      <p:sp>
        <p:nvSpPr>
          <p:cNvPr id="122" name="P3 densityc"/>
          <p:cNvSpPr txBox="1"/>
          <p:nvPr/>
        </p:nvSpPr>
        <p:spPr>
          <a:xfrm>
            <a:off x="960120" y="9034272"/>
            <a:ext cx="2743200" cy="502920"/>
          </a:xfrm>
          <a:prstGeom prst="rect">
            <a:avLst/>
          </a:prstGeom>
          <a:noFill/>
        </p:spPr>
        <p:txBody>
          <a:bodyPr wrap="square" anchor="ctr" lIns="45720" rIns="45720" tIns="18288" bIns="18288"/>
          <a:lstStyle/>
          <a:p>
            <a:pPr algn="l"/>
            <a:r>
              <a:rPr sz="1050" b="0" i="0">
                <a:solidFill>
                  <a:srgbClr val="5A5A5A"/>
                </a:solidFill>
                <a:latin typeface="Calibri"/>
              </a:rPr>
              <a:t>Head-density surface: each peak is one head, the sum is the count. (Johansson 2008).</a:t>
            </a:r>
          </a:p>
        </p:txBody>
      </p:sp>
      <p:pic>
        <p:nvPicPr>
          <p:cNvPr id="123" name="P3 flow" descr="dis_flow.png"/>
          <p:cNvPicPr>
            <a:picLocks noChangeAspect="1"/>
          </p:cNvPicPr>
          <p:nvPr/>
        </p:nvPicPr>
        <p:blipFill>
          <a:blip r:embed="rId5"/>
          <a:stretch>
            <a:fillRect/>
          </a:stretch>
        </p:blipFill>
        <p:spPr>
          <a:xfrm>
            <a:off x="3840480" y="6583680"/>
            <a:ext cx="3429000" cy="960120"/>
          </a:xfrm>
          <a:prstGeom prst="rect">
            <a:avLst/>
          </a:prstGeom>
          <a:ln>
            <a:noFill/>
          </a:ln>
        </p:spPr>
      </p:pic>
      <p:sp>
        <p:nvSpPr>
          <p:cNvPr id="124" name="P3 flowc"/>
          <p:cNvSpPr txBox="1"/>
          <p:nvPr/>
        </p:nvSpPr>
        <p:spPr>
          <a:xfrm>
            <a:off x="3840480" y="7589520"/>
            <a:ext cx="3429000" cy="1920240"/>
          </a:xfrm>
          <a:prstGeom prst="rect">
            <a:avLst/>
          </a:prstGeom>
          <a:noFill/>
        </p:spPr>
        <p:txBody>
          <a:bodyPr wrap="square" anchor="ctr" lIns="45720" rIns="45720" tIns="18288" bIns="18288"/>
          <a:lstStyle/>
          <a:p>
            <a:pPr algn="l"/>
            <a:r>
              <a:rPr sz="1100" b="0" i="0">
                <a:solidFill>
                  <a:srgbClr val="111111"/>
                </a:solidFill>
                <a:latin typeface="Calibri"/>
              </a:rPr>
              <a:t>Flow field on our station clip (DIS optical flow). Movers glow, stillness stays black.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81879" y="2449173"/>
            <a:ext cx="7724251" cy="5388654"/>
            <a:chOff x="0" y="0"/>
            <a:chExt cx="10299002" cy="7184873"/>
          </a:xfrm>
        </p:grpSpPr>
        <p:sp>
          <p:nvSpPr>
            <p:cNvPr name="Freeform 3" id="3"/>
            <p:cNvSpPr/>
            <p:nvPr/>
          </p:nvSpPr>
          <p:spPr>
            <a:xfrm flipH="false" flipV="false" rot="0">
              <a:off x="0" y="0"/>
              <a:ext cx="10298938" cy="7184898"/>
            </a:xfrm>
            <a:custGeom>
              <a:avLst/>
              <a:gdLst/>
              <a:ahLst/>
              <a:cxnLst/>
              <a:rect r="r" b="b" t="t" l="l"/>
              <a:pathLst>
                <a:path h="7184898" w="10298938">
                  <a:moveTo>
                    <a:pt x="0" y="0"/>
                  </a:moveTo>
                  <a:lnTo>
                    <a:pt x="10298938" y="0"/>
                  </a:lnTo>
                  <a:lnTo>
                    <a:pt x="10298938" y="7184898"/>
                  </a:lnTo>
                  <a:lnTo>
                    <a:pt x="0" y="7184898"/>
                  </a:lnTo>
                  <a:lnTo>
                    <a:pt x="0" y="0"/>
                  </a:lnTo>
                  <a:close/>
                </a:path>
              </a:pathLst>
            </a:custGeom>
            <a:blipFill>
              <a:blip r:embed="rId2">
                <a:alphaModFix amt="13000"/>
              </a:blip>
              <a:stretch>
                <a:fillRect l="0" t="0" r="0" b="0"/>
              </a:stretch>
            </a:blipFill>
          </p:spPr>
        </p:sp>
      </p:grpSp>
      <p:sp>
        <p:nvSpPr>
          <p:cNvPr name="TextBox 4" id="4"/>
          <p:cNvSpPr txBox="true"/>
          <p:nvPr/>
        </p:nvSpPr>
        <p:spPr>
          <a:xfrm rot="0">
            <a:off x="599484" y="390363"/>
            <a:ext cx="8544516" cy="2058810"/>
          </a:xfrm>
          <a:prstGeom prst="rect">
            <a:avLst/>
          </a:prstGeom>
        </p:spPr>
        <p:txBody>
          <a:bodyPr anchor="t" rtlCol="false" tIns="0" lIns="0" bIns="0" rIns="0">
            <a:spAutoFit/>
          </a:bodyPr>
          <a:lstStyle/>
          <a:p>
            <a:pPr algn="ctr">
              <a:lnSpc>
                <a:spcPts val="7240"/>
              </a:lnSpc>
            </a:pPr>
            <a:r>
              <a:rPr lang="en-US" sz="6033" b="true">
                <a:solidFill>
                  <a:srgbClr val="000000"/>
                </a:solidFill>
                <a:latin typeface="Calibri"/>
                <a:ea typeface="Calibri"/>
                <a:cs typeface="Calibri"/>
                <a:sym typeface="Calibri"/>
              </a:rPr>
              <a:t>FEASIBILITY AND VIABILITY</a:t>
            </a:r>
          </a:p>
          <a:p>
            <a:pPr algn="ctr">
              <a:lnSpc>
                <a:spcPts val="7240"/>
              </a:lnSpc>
            </a:pPr>
          </a:p>
        </p:txBody>
      </p:sp>
      <p:sp>
        <p:nvSpPr>
          <p:cNvPr id="101" name="ChartCard 101"/>
          <p:cNvSpPr/>
          <p:nvPr/>
        </p:nvSpPr>
        <p:spPr>
          <a:xfrm>
            <a:off x="731520" y="2651760"/>
            <a:ext cx="8229600" cy="6949440"/>
          </a:xfrm>
          <a:prstGeom prst="roundRect">
            <a:avLst>
              <a:gd name="adj" fmla="val 5000"/>
            </a:avLst>
          </a:prstGeom>
          <a:solidFill>
            <a:srgbClr val="EEF2FF"/>
          </a:solidFill>
          <a:ln>
            <a:noFill/>
          </a:ln>
          <a:effectLst>
            <a:outerShdw blurRad="127000" dist="38100" dir="5400000" algn="t" rotWithShape="0">
              <a:srgbClr val="1E2761">
                <a:alpha val="16000"/>
              </a:srgbClr>
            </a:outerShdw>
          </a:effectLst>
        </p:spPr>
        <p:txBody>
          <a:bodyPr wrap="square" lIns="0" tIns="0" rIns="0" bIns="0" anchor="ctr" rtlCol="0">
            <a:noAutofit/>
          </a:bodyPr>
          <a:lstStyle/>
          <a:p>
            <a:pPr algn="l">
              <a:spcBef>
                <a:spcPts val="0"/>
              </a:spcBef>
              <a:spcAft>
                <a:spcPts val="0"/>
              </a:spcAft>
            </a:pPr>
            <a:r>
              <a:rPr lang="en-US" sz="1200" b="0" i="0" dirty="0">
                <a:solidFill>
                  <a:srgbClr val="111111"/>
                </a:solidFill>
                <a:latin typeface="Calibri"/>
                <a:cs typeface="Calibri"/>
              </a:rPr>
              <a:t/>
            </a:r>
          </a:p>
        </p:txBody>
      </p:sp>
      <p:sp>
        <p:nvSpPr>
          <p:cNvPr id="103" name="Card 103"/>
          <p:cNvSpPr/>
          <p:nvPr/>
        </p:nvSpPr>
        <p:spPr>
          <a:xfrm>
            <a:off x="9326880" y="2651760"/>
            <a:ext cx="8229600" cy="123444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2000" b="1" i="0">
                <a:solidFill>
                  <a:srgbClr val="1E2761"/>
                </a:solidFill>
                <a:latin typeface="Calibri"/>
              </a:rPr>
              <a:t>Video stays put</a:t>
            </a:r>
          </a:p>
          <a:p>
            <a:pPr algn="l"/>
            <a:r>
              <a:rPr sz="1350" b="0" i="0">
                <a:solidFill>
                  <a:srgbClr val="111111"/>
                </a:solidFill>
                <a:latin typeface="Calibri"/>
              </a:rPr>
              <a:t>Each edge box keeps a 10-minute rolling buffer and sends JSON numbers over site LAN or 4G failover. Only a confirmed Red alert exports its clip, signed.</a:t>
            </a:r>
          </a:p>
        </p:txBody>
      </p:sp>
      <p:sp>
        <p:nvSpPr>
          <p:cNvPr id="104" name="Card 104"/>
          <p:cNvSpPr/>
          <p:nvPr/>
        </p:nvSpPr>
        <p:spPr>
          <a:xfrm>
            <a:off x="9326880" y="4023360"/>
            <a:ext cx="8229600" cy="123444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2000" b="1" i="0">
                <a:solidFill>
                  <a:srgbClr val="1E2761"/>
                </a:solidFill>
                <a:latin typeface="Calibri"/>
              </a:rPr>
              <a:t>Calibrated where it counts</a:t>
            </a:r>
          </a:p>
          <a:p>
            <a:pPr algn="l"/>
            <a:r>
              <a:rPr sz="1400" b="0" i="0">
                <a:solidFill>
                  <a:srgbClr val="111111"/>
                </a:solidFill>
                <a:latin typeface="Calibri"/>
              </a:rPr>
              <a:t>Fixed gates are measured once; Kumbh ran 3-month surveys for its alarm. Open grounds and PTZ cameras run relative levels plus entry counts.</a:t>
            </a:r>
          </a:p>
        </p:txBody>
      </p:sp>
      <p:sp>
        <p:nvSpPr>
          <p:cNvPr id="105" name="Card 105"/>
          <p:cNvSpPr/>
          <p:nvPr/>
        </p:nvSpPr>
        <p:spPr>
          <a:xfrm>
            <a:off x="9326880" y="5394960"/>
            <a:ext cx="8229600" cy="123444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2000" b="1" i="0">
                <a:solidFill>
                  <a:srgbClr val="1E2761"/>
                </a:solidFill>
                <a:latin typeface="Calibri"/>
              </a:rPr>
              <a:t>Private by design</a:t>
            </a:r>
          </a:p>
          <a:p>
            <a:pPr algn="l"/>
            <a:r>
              <a:rPr sz="1400" b="0" i="0">
                <a:solidFill>
                  <a:srgbClr val="111111"/>
                </a:solidFill>
                <a:latin typeface="Calibri"/>
              </a:rPr>
              <a:t>Heatmaps cannot show a face. Saved video is blurred, wiped after 7 days, zero identity in core. Police clips are access-logged, designed to align with DPDP Act 2023 principles.</a:t>
            </a:r>
          </a:p>
        </p:txBody>
      </p:sp>
      <p:sp>
        <p:nvSpPr>
          <p:cNvPr id="107" name="TextBox 107"/>
          <p:cNvSpPr txBox="1"/>
          <p:nvPr/>
        </p:nvSpPr>
        <p:spPr>
          <a:xfrm>
            <a:off x="731520" y="9802368"/>
            <a:ext cx="16824960" cy="292608"/>
          </a:xfrm>
          <a:prstGeom prst="rect">
            <a:avLst/>
          </a:prstGeom>
          <a:noFill/>
          <a:ln>
            <a:noFill/>
          </a:ln>
        </p:spPr>
        <p:txBody>
          <a:bodyPr wrap="square" lIns="0" tIns="0" rIns="0" bIns="0" anchor="ctr" rtlCol="0">
            <a:noAutofit/>
          </a:bodyPr>
          <a:lstStyle/>
          <a:p>
            <a:pPr algn="r">
              <a:spcBef>
                <a:spcPts val="0"/>
              </a:spcBef>
              <a:spcAft>
                <a:spcPts val="0"/>
              </a:spcAft>
            </a:pPr>
            <a:r>
              <a:rPr lang="en-US" sz="1400" b="0" i="0" dirty="0">
                <a:solidFill>
                  <a:srgbClr val="5A5A5A"/>
                </a:solidFill>
                <a:latin typeface="Calibri"/>
                <a:cs typeface="Calibri"/>
              </a:rPr>
              <a:t>Team Raksha  |  Team Leader: Shounak Joshi</a:t>
            </a:r>
          </a:p>
        </p:txBody>
      </p:sp>
      <p:sp>
        <p:nvSpPr>
          <p:cNvPr id="108" name="P4 edget"/>
          <p:cNvSpPr txBox="1"/>
          <p:nvPr/>
        </p:nvSpPr>
        <p:spPr>
          <a:xfrm>
            <a:off x="1005840" y="2788920"/>
            <a:ext cx="7680960" cy="548640"/>
          </a:xfrm>
          <a:prstGeom prst="rect">
            <a:avLst/>
          </a:prstGeom>
          <a:noFill/>
        </p:spPr>
        <p:txBody>
          <a:bodyPr wrap="square" anchor="ctr" lIns="45720" rIns="45720" tIns="18288" bIns="18288"/>
          <a:lstStyle/>
          <a:p>
            <a:pPr algn="l"/>
            <a:r>
              <a:rPr sz="2000" b="1" i="0">
                <a:solidFill>
                  <a:srgbClr val="1E2761"/>
                </a:solidFill>
                <a:latin typeface="Calibri"/>
              </a:rPr>
              <a:t>One camera, one edge box</a:t>
            </a:r>
          </a:p>
        </p:txBody>
      </p:sp>
      <p:sp>
        <p:nvSpPr>
          <p:cNvPr id="109" name="P4 node"/>
          <p:cNvSpPr/>
          <p:nvPr/>
        </p:nvSpPr>
        <p:spPr>
          <a:xfrm>
            <a:off x="1417320" y="3474720"/>
            <a:ext cx="6858000" cy="731520"/>
          </a:xfrm>
          <a:prstGeom prst="roundRect">
            <a:avLst>
              <a:gd name="adj" fmla="val 7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FFFFFF"/>
                </a:solidFill>
                <a:latin typeface="Calibri"/>
              </a:rPr>
              <a:t>Camera: fixed gate view</a:t>
            </a:r>
          </a:p>
        </p:txBody>
      </p:sp>
      <p:sp>
        <p:nvSpPr>
          <p:cNvPr id="110" name="P4 arrow"/>
          <p:cNvSpPr/>
          <p:nvPr/>
        </p:nvSpPr>
        <p:spPr>
          <a:xfrm>
            <a:off x="4389120" y="4224528"/>
            <a:ext cx="365760" cy="256032"/>
          </a:xfrm>
          <a:prstGeom prst="downArrow">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4 node"/>
          <p:cNvSpPr/>
          <p:nvPr/>
        </p:nvSpPr>
        <p:spPr>
          <a:xfrm>
            <a:off x="1417320" y="4526280"/>
            <a:ext cx="6858000" cy="731520"/>
          </a:xfrm>
          <a:prstGeom prst="roundRect">
            <a:avLst>
              <a:gd name="adj" fmla="val 7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FFFFFF"/>
                </a:solidFill>
                <a:latin typeface="Calibri"/>
              </a:rPr>
              <a:t>Edge box: density plus flow plus pressure on device</a:t>
            </a:r>
          </a:p>
        </p:txBody>
      </p:sp>
      <p:sp>
        <p:nvSpPr>
          <p:cNvPr id="112" name="P4 arrow"/>
          <p:cNvSpPr/>
          <p:nvPr/>
        </p:nvSpPr>
        <p:spPr>
          <a:xfrm>
            <a:off x="4389120" y="5276088"/>
            <a:ext cx="365760" cy="256032"/>
          </a:xfrm>
          <a:prstGeom prst="downArrow">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4 node"/>
          <p:cNvSpPr/>
          <p:nvPr/>
        </p:nvSpPr>
        <p:spPr>
          <a:xfrm>
            <a:off x="1417320" y="5577840"/>
            <a:ext cx="6858000" cy="731520"/>
          </a:xfrm>
          <a:prstGeom prst="roundRect">
            <a:avLst>
              <a:gd name="adj" fmla="val 7000"/>
            </a:avLst>
          </a:prstGeom>
          <a:solidFill>
            <a:srgbClr val="E5B822"/>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1E2761"/>
                </a:solidFill>
                <a:latin typeface="Calibri"/>
              </a:rPr>
              <a:t>Sends JSON numbers, not continuous video</a:t>
            </a:r>
          </a:p>
        </p:txBody>
      </p:sp>
      <p:sp>
        <p:nvSpPr>
          <p:cNvPr id="114" name="P4 arrow"/>
          <p:cNvSpPr/>
          <p:nvPr/>
        </p:nvSpPr>
        <p:spPr>
          <a:xfrm>
            <a:off x="4389120" y="6327648"/>
            <a:ext cx="365760" cy="256032"/>
          </a:xfrm>
          <a:prstGeom prst="downArrow">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4 node"/>
          <p:cNvSpPr/>
          <p:nvPr/>
        </p:nvSpPr>
        <p:spPr>
          <a:xfrm>
            <a:off x="1417320" y="6629400"/>
            <a:ext cx="6858000" cy="731520"/>
          </a:xfrm>
          <a:prstGeom prst="roundRect">
            <a:avLst>
              <a:gd name="adj" fmla="val 7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i="0">
                <a:solidFill>
                  <a:srgbClr val="FFFFFF"/>
                </a:solidFill>
                <a:latin typeface="Calibri"/>
              </a:rPr>
              <a:t>Venue servers (paired): fuse every camera into one map</a:t>
            </a:r>
          </a:p>
        </p:txBody>
      </p:sp>
      <p:sp>
        <p:nvSpPr>
          <p:cNvPr id="116" name="P4 arrow"/>
          <p:cNvSpPr/>
          <p:nvPr/>
        </p:nvSpPr>
        <p:spPr>
          <a:xfrm>
            <a:off x="4389120" y="7379208"/>
            <a:ext cx="365760" cy="256032"/>
          </a:xfrm>
          <a:prstGeom prst="downArrow">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4 node"/>
          <p:cNvSpPr/>
          <p:nvPr/>
        </p:nvSpPr>
        <p:spPr>
          <a:xfrm>
            <a:off x="1417320" y="7680960"/>
            <a:ext cx="6858000" cy="731520"/>
          </a:xfrm>
          <a:prstGeom prst="roundRect">
            <a:avLst>
              <a:gd name="adj" fmla="val 7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FFFFFF"/>
                </a:solidFill>
                <a:latin typeface="Calibri"/>
              </a:rPr>
              <a:t>Guard wall: ranked zones, early warning</a:t>
            </a:r>
          </a:p>
        </p:txBody>
      </p:sp>
      <p:sp>
        <p:nvSpPr>
          <p:cNvPr id="118" name="P4 edgef"/>
          <p:cNvSpPr txBox="1"/>
          <p:nvPr/>
        </p:nvSpPr>
        <p:spPr>
          <a:xfrm>
            <a:off x="1005840" y="8595360"/>
            <a:ext cx="7680960" cy="868680"/>
          </a:xfrm>
          <a:prstGeom prst="rect">
            <a:avLst/>
          </a:prstGeom>
          <a:noFill/>
        </p:spPr>
        <p:txBody>
          <a:bodyPr wrap="square" anchor="ctr" lIns="45720" rIns="45720" tIns="18288" bIns="18288"/>
          <a:lstStyle/>
          <a:p>
            <a:pPr algn="l"/>
            <a:r>
              <a:rPr sz="1250" b="0" i="0">
                <a:solidFill>
                  <a:srgbClr val="5A5A5A"/>
                </a:solidFill>
                <a:latin typeface="Calibri"/>
              </a:rPr>
              <a:t>Compute target: 5 to 10 FPS per camera at reduced resolution; pressure moves over seconds, not frames. About $250 and 15 watts per edge box (1 to 4 cameras); server, handsets, network extra. Reuses existing CCTV.</a:t>
            </a:r>
          </a:p>
        </p:txBody>
      </p:sp>
      <p:sp>
        <p:nvSpPr>
          <p:cNvPr id="119" name="P4 site"/>
          <p:cNvSpPr/>
          <p:nvPr/>
        </p:nvSpPr>
        <p:spPr>
          <a:xfrm>
            <a:off x="9326880" y="6812280"/>
            <a:ext cx="8229600" cy="2788920"/>
          </a:xfrm>
          <a:prstGeom prst="roundRect">
            <a:avLst>
              <a:gd name="adj" fmla="val 7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4 sitet"/>
          <p:cNvSpPr txBox="1"/>
          <p:nvPr/>
        </p:nvSpPr>
        <p:spPr>
          <a:xfrm>
            <a:off x="9601200" y="6931152"/>
            <a:ext cx="7680960" cy="411480"/>
          </a:xfrm>
          <a:prstGeom prst="rect">
            <a:avLst/>
          </a:prstGeom>
          <a:noFill/>
        </p:spPr>
        <p:txBody>
          <a:bodyPr wrap="square" anchor="ctr" lIns="45720" rIns="45720" tIns="18288" bIns="18288"/>
          <a:lstStyle/>
          <a:p>
            <a:pPr algn="l"/>
            <a:r>
              <a:rPr sz="1600" b="1" i="0">
                <a:solidFill>
                  <a:srgbClr val="1E2761"/>
                </a:solidFill>
                <a:latin typeface="Calibri"/>
              </a:rPr>
              <a:t>Pressure warned first</a:t>
            </a:r>
          </a:p>
        </p:txBody>
      </p:sp>
      <p:pic>
        <p:nvPicPr>
          <p:cNvPr id="121" name="P4 pressure" descr="pressure_strip.png"/>
          <p:cNvPicPr>
            <a:picLocks noChangeAspect="1"/>
          </p:cNvPicPr>
          <p:nvPr/>
        </p:nvPicPr>
        <p:blipFill>
          <a:blip r:embed="rId4"/>
          <a:stretch>
            <a:fillRect/>
          </a:stretch>
        </p:blipFill>
        <p:spPr>
          <a:xfrm>
            <a:off x="9601200" y="7360920"/>
            <a:ext cx="4480560" cy="1938528"/>
          </a:xfrm>
          <a:prstGeom prst="rect">
            <a:avLst/>
          </a:prstGeom>
          <a:ln>
            <a:noFill/>
          </a:ln>
        </p:spPr>
      </p:pic>
      <p:sp>
        <p:nvSpPr>
          <p:cNvPr id="122" name="P4 pressurec"/>
          <p:cNvSpPr txBox="1"/>
          <p:nvPr/>
        </p:nvSpPr>
        <p:spPr>
          <a:xfrm>
            <a:off x="14264640" y="7360920"/>
            <a:ext cx="3017520" cy="1938528"/>
          </a:xfrm>
          <a:prstGeom prst="rect">
            <a:avLst/>
          </a:prstGeom>
          <a:noFill/>
        </p:spPr>
        <p:txBody>
          <a:bodyPr wrap="square" anchor="ctr" lIns="45720" rIns="45720" tIns="18288" bIns="18288"/>
          <a:lstStyle/>
          <a:p>
            <a:pPr algn="l"/>
            <a:r>
              <a:rPr sz="1150" b="0" i="0">
                <a:solidFill>
                  <a:srgbClr val="111111"/>
                </a:solidFill>
                <a:latin typeface="Calibri"/>
              </a:rPr>
              <a:t>Pressure (density x movement variance) crossed its warning line before turbulence began. The accident came after. Hajj 2006 data (Johansson et 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81879" y="2449173"/>
            <a:ext cx="7724251" cy="5388654"/>
            <a:chOff x="0" y="0"/>
            <a:chExt cx="10299002" cy="7184873"/>
          </a:xfrm>
        </p:grpSpPr>
        <p:sp>
          <p:nvSpPr>
            <p:cNvPr name="Freeform 3" id="3"/>
            <p:cNvSpPr/>
            <p:nvPr/>
          </p:nvSpPr>
          <p:spPr>
            <a:xfrm flipH="false" flipV="false" rot="0">
              <a:off x="0" y="0"/>
              <a:ext cx="10298938" cy="7184898"/>
            </a:xfrm>
            <a:custGeom>
              <a:avLst/>
              <a:gdLst/>
              <a:ahLst/>
              <a:cxnLst/>
              <a:rect r="r" b="b" t="t" l="l"/>
              <a:pathLst>
                <a:path h="7184898" w="10298938">
                  <a:moveTo>
                    <a:pt x="0" y="0"/>
                  </a:moveTo>
                  <a:lnTo>
                    <a:pt x="10298938" y="0"/>
                  </a:lnTo>
                  <a:lnTo>
                    <a:pt x="10298938" y="7184898"/>
                  </a:lnTo>
                  <a:lnTo>
                    <a:pt x="0" y="7184898"/>
                  </a:lnTo>
                  <a:lnTo>
                    <a:pt x="0" y="0"/>
                  </a:lnTo>
                  <a:close/>
                </a:path>
              </a:pathLst>
            </a:custGeom>
            <a:blipFill>
              <a:blip r:embed="rId2">
                <a:alphaModFix amt="13000"/>
              </a:blip>
              <a:stretch>
                <a:fillRect l="0" t="0" r="0" b="0"/>
              </a:stretch>
            </a:blipFill>
          </p:spPr>
        </p:sp>
      </p:grpSp>
      <p:sp>
        <p:nvSpPr>
          <p:cNvPr name="TextBox 4" id="4"/>
          <p:cNvSpPr txBox="true"/>
          <p:nvPr/>
        </p:nvSpPr>
        <p:spPr>
          <a:xfrm rot="0">
            <a:off x="759562" y="334623"/>
            <a:ext cx="7307761" cy="2114550"/>
          </a:xfrm>
          <a:prstGeom prst="rect">
            <a:avLst/>
          </a:prstGeom>
        </p:spPr>
        <p:txBody>
          <a:bodyPr anchor="t" rtlCol="false" tIns="0" lIns="0" bIns="0" rIns="0">
            <a:spAutoFit/>
          </a:bodyPr>
          <a:lstStyle/>
          <a:p>
            <a:pPr algn="ctr">
              <a:lnSpc>
                <a:spcPts val="7300"/>
              </a:lnSpc>
            </a:pPr>
            <a:r>
              <a:rPr lang="en-US" sz="6083" b="true">
                <a:solidFill>
                  <a:srgbClr val="000000"/>
                </a:solidFill>
                <a:latin typeface="Calibri"/>
                <a:ea typeface="Calibri"/>
                <a:cs typeface="Calibri"/>
                <a:sym typeface="Calibri"/>
              </a:rPr>
              <a:t>IMPACT AND BENEFITS</a:t>
            </a:r>
          </a:p>
          <a:p>
            <a:pPr algn="ctr">
              <a:lnSpc>
                <a:spcPts val="7300"/>
              </a:lnSpc>
            </a:pPr>
          </a:p>
        </p:txBody>
      </p:sp>
      <p:sp>
        <p:nvSpPr>
          <p:cNvPr id="102" name="Before 102"/>
          <p:cNvSpPr/>
          <p:nvPr/>
        </p:nvSpPr>
        <p:spPr>
          <a:xfrm>
            <a:off x="8869680" y="2651760"/>
            <a:ext cx="8686800" cy="1188720"/>
          </a:xfrm>
          <a:prstGeom prst="roundRect">
            <a:avLst>
              <a:gd name="adj" fmla="val 9000"/>
            </a:avLst>
          </a:prstGeom>
          <a:solidFill>
            <a:srgbClr val="F1F2F6"/>
          </a:solidFill>
          <a:ln>
            <a:noFill/>
          </a:ln>
        </p:spPr>
        <p:txBody>
          <a:bodyPr wrap="square" lIns="320040" tIns="91440" rIns="320040" bIns="91440" anchor="ctr" rtlCol="0">
            <a:noAutofit/>
          </a:bodyPr>
          <a:lstStyle/>
          <a:p>
            <a:pPr algn="l">
              <a:spcBef>
                <a:spcPts val="0"/>
              </a:spcBef>
              <a:spcAft>
                <a:spcPts val="200"/>
              </a:spcAft>
            </a:pPr>
            <a:r>
              <a:rPr lang="en-US" sz="2000" b="1" i="0" dirty="0">
                <a:solidFill>
                  <a:srgbClr val="5A5A5A"/>
                </a:solidFill>
                <a:latin typeface="Calibri"/>
                <a:cs typeface="Calibri"/>
              </a:rPr>
              <a:t>Before</a:t>
            </a:r>
          </a:p>
          <a:p>
            <a:pPr algn="l">
              <a:spcBef>
                <a:spcPts val="0"/>
              </a:spcBef>
              <a:spcAft>
                <a:spcPts val="0"/>
              </a:spcAft>
            </a:pPr>
            <a:r>
              <a:rPr lang="en-US" sz="2100" b="0" i="0" dirty="0">
                <a:solidFill>
                  <a:srgbClr val="111111"/>
                </a:solidFill>
                <a:latin typeface="Calibri"/>
                <a:cs typeface="Calibri"/>
              </a:rPr>
              <a:t>A wall of screens, one tired guard, and risks get missed.</a:t>
            </a:r>
          </a:p>
        </p:txBody>
      </p:sp>
      <p:sp>
        <p:nvSpPr>
          <p:cNvPr id="103" name="After 103"/>
          <p:cNvSpPr/>
          <p:nvPr/>
        </p:nvSpPr>
        <p:spPr>
          <a:xfrm>
            <a:off x="8869680" y="3977640"/>
            <a:ext cx="8686800" cy="1188720"/>
          </a:xfrm>
          <a:prstGeom prst="roundRect">
            <a:avLst>
              <a:gd name="adj" fmla="val 9000"/>
            </a:avLst>
          </a:prstGeom>
          <a:solidFill>
            <a:srgbClr val="1E2761"/>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200"/>
              </a:spcAft>
            </a:pPr>
            <a:r>
              <a:rPr sz="1800" b="1" i="0">
                <a:solidFill>
                  <a:srgbClr val="E5B822"/>
                </a:solidFill>
                <a:latin typeface="Calibri"/>
              </a:rPr>
              <a:t>After</a:t>
            </a:r>
          </a:p>
          <a:p>
            <a:r>
              <a:rPr sz="1500" b="1" i="0">
                <a:solidFill>
                  <a:srgbClr val="FFFFFF"/>
                </a:solidFill>
                <a:latin typeface="Calibri"/>
              </a:rPr>
              <a:t>Pressure at Gate B opens overflow at Gate A upstream. Kumbh's alarms reportedly went unactioned; ours forces an answer: owner, timer, log.</a:t>
            </a:r>
          </a:p>
        </p:txBody>
      </p:sp>
      <p:sp>
        <p:nvSpPr>
          <p:cNvPr id="104" name="Card 104"/>
          <p:cNvSpPr/>
          <p:nvPr/>
        </p:nvSpPr>
        <p:spPr>
          <a:xfrm>
            <a:off x="8869680" y="5440680"/>
            <a:ext cx="8686800" cy="128016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2000" b="1" i="0">
                <a:solidFill>
                  <a:srgbClr val="1E2761"/>
                </a:solidFill>
                <a:latin typeface="Calibri"/>
              </a:rPr>
              <a:t>Organizers</a:t>
            </a:r>
          </a:p>
          <a:p>
            <a:pPr algn="l"/>
            <a:r>
              <a:rPr sz="1500" b="0" i="0">
                <a:solidFill>
                  <a:srgbClr val="111111"/>
                </a:solidFill>
                <a:latin typeface="Calibri"/>
              </a:rPr>
              <a:t>Spot a growing jam early, and tell guards which zone to clear. Built for stations, mela grounds, stadiums.</a:t>
            </a:r>
          </a:p>
        </p:txBody>
      </p:sp>
      <p:sp>
        <p:nvSpPr>
          <p:cNvPr id="105" name="Card 105"/>
          <p:cNvSpPr/>
          <p:nvPr/>
        </p:nvSpPr>
        <p:spPr>
          <a:xfrm>
            <a:off x="8869680" y="6858000"/>
            <a:ext cx="8686800" cy="128016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2000" b="1" i="0">
                <a:solidFill>
                  <a:srgbClr val="1E2761"/>
                </a:solidFill>
                <a:latin typeface="Calibri"/>
              </a:rPr>
              <a:t>Police</a:t>
            </a:r>
          </a:p>
          <a:p>
            <a:pPr algn="l"/>
            <a:r>
              <a:rPr sz="1500" b="0" i="0">
                <a:solidFill>
                  <a:srgbClr val="111111"/>
                </a:solidFill>
                <a:latin typeface="Calibri"/>
              </a:rPr>
              <a:t>Every alert, zone and action exports as one evidence pack in a click, with the signed 10-minute incident clip.</a:t>
            </a:r>
          </a:p>
        </p:txBody>
      </p:sp>
      <p:sp>
        <p:nvSpPr>
          <p:cNvPr id="106" name="Card 106"/>
          <p:cNvSpPr/>
          <p:nvPr/>
        </p:nvSpPr>
        <p:spPr>
          <a:xfrm>
            <a:off x="8869680" y="8275320"/>
            <a:ext cx="8686800" cy="1280160"/>
          </a:xfrm>
          <a:prstGeom prst="roundRect">
            <a:avLst>
              <a:gd name="adj" fmla="val 9000"/>
            </a:avLst>
          </a:prstGeom>
          <a:solidFill>
            <a:srgbClr val="EEF2FF"/>
          </a:solidFill>
          <a:ln>
            <a:noFill/>
          </a:ln>
          <a:effectLst>
            <a:outerShdw blurRad="127000" dist="38100" dir="5400000" algn="t" rotWithShape="0">
              <a:srgbClr val="1E2761">
                <a:alpha val="16000"/>
              </a:srgbClr>
            </a:outerShdw>
          </a:effectLst>
        </p:spPr>
        <p:txBody>
          <a:bodyPr wrap="square" lIns="320040" tIns="109728" rIns="320040" bIns="109728" anchor="ctr" rtlCol="0">
            <a:noAutofit/>
          </a:bodyPr>
          <a:lstStyle/>
          <a:p>
            <a:pPr algn="l">
              <a:spcBef>
                <a:spcPts val="0"/>
              </a:spcBef>
              <a:spcAft>
                <a:spcPts val="400"/>
              </a:spcAft>
            </a:pPr>
            <a:r>
              <a:rPr lang="en-US" sz="2200" b="1" i="0" dirty="0">
                <a:solidFill>
                  <a:srgbClr val="1E2761"/>
                </a:solidFill>
                <a:latin typeface="Calibri"/>
                <a:cs typeface="Calibri"/>
              </a:rPr>
              <a:t>Public</a:t>
            </a:r>
          </a:p>
          <a:p>
            <a:pPr algn="l">
              <a:lnSpc>
                <a:spcPct val="100000"/>
              </a:lnSpc>
              <a:spcBef>
                <a:spcPts val="0"/>
              </a:spcBef>
              <a:spcAft>
                <a:spcPts val="0"/>
              </a:spcAft>
            </a:pPr>
            <a:r>
              <a:rPr lang="en-US" sz="1800" b="0" i="0" dirty="0">
                <a:solidFill>
                  <a:srgbClr val="111111"/>
                </a:solidFill>
                <a:latin typeface="Calibri"/>
                <a:cs typeface="Calibri"/>
              </a:rPr>
              <a:t>Faces stay blurred in saved video.</a:t>
            </a:r>
          </a:p>
        </p:txBody>
      </p:sp>
      <p:sp>
        <p:nvSpPr>
          <p:cNvPr id="107" name="TextBox 107"/>
          <p:cNvSpPr txBox="1"/>
          <p:nvPr/>
        </p:nvSpPr>
        <p:spPr>
          <a:xfrm>
            <a:off x="731520" y="9802368"/>
            <a:ext cx="16824960" cy="292608"/>
          </a:xfrm>
          <a:prstGeom prst="rect">
            <a:avLst/>
          </a:prstGeom>
          <a:noFill/>
          <a:ln>
            <a:noFill/>
          </a:ln>
        </p:spPr>
        <p:txBody>
          <a:bodyPr wrap="square" lIns="45720" tIns="18288" rIns="45720" bIns="18288" anchor="ctr" rtlCol="0"/>
          <a:lstStyle/>
          <a:p>
            <a:pPr algn="l">
              <a:spcBef>
                <a:spcPts val="0"/>
              </a:spcBef>
              <a:spcAft>
                <a:spcPts val="0"/>
              </a:spcAft>
            </a:pPr>
            <a:r>
              <a:rPr sz="1200">
                <a:solidFill>
                  <a:srgbClr val="5A5A5A"/>
                </a:solidFill>
                <a:latin typeface="Calibri"/>
              </a:rPr>
              <a:t>Team Raksha  |  Team Leader: Shounak Joshi</a:t>
            </a:r>
          </a:p>
        </p:txBody>
      </p:sp>
      <p:sp>
        <p:nvSpPr>
          <p:cNvPr id="108" name="TextBox 107"/>
          <p:cNvSpPr txBox="1"/>
          <p:nvPr/>
        </p:nvSpPr>
        <p:spPr>
          <a:xfrm>
            <a:off x="731520" y="2651760"/>
            <a:ext cx="7680960" cy="548640"/>
          </a:xfrm>
          <a:prstGeom prst="rect">
            <a:avLst/>
          </a:prstGeom>
          <a:noFill/>
        </p:spPr>
        <p:txBody>
          <a:bodyPr wrap="none">
            <a:spAutoFit/>
          </a:bodyPr>
          <a:lstStyle/>
          <a:p>
            <a:r>
              <a:rPr sz="2000" b="1">
                <a:solidFill>
                  <a:srgbClr val="1E2761"/>
                </a:solidFill>
                <a:latin typeface="Calibri"/>
              </a:rPr>
              <a:t>When pressure rises</a:t>
            </a:r>
          </a:p>
        </p:txBody>
      </p:sp>
      <p:sp>
        <p:nvSpPr>
          <p:cNvPr id="109" name="Rounded Rectangle 108"/>
          <p:cNvSpPr/>
          <p:nvPr/>
        </p:nvSpPr>
        <p:spPr>
          <a:xfrm>
            <a:off x="731520" y="3337560"/>
            <a:ext cx="7680960" cy="16002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05840" y="3520440"/>
            <a:ext cx="7132320" cy="1234440"/>
          </a:xfrm>
          <a:prstGeom prst="rect">
            <a:avLst/>
          </a:prstGeom>
          <a:noFill/>
        </p:spPr>
        <p:txBody>
          <a:bodyPr wrap="square" anchor="ctr" lIns="45720" rIns="45720" tIns="18288" bIns="18288"/>
          <a:lstStyle/>
          <a:p>
            <a:pPr algn="l"/>
            <a:r>
              <a:rPr sz="2000" b="1" i="0">
                <a:solidFill>
                  <a:srgbClr val="FFFFFF"/>
                </a:solidFill>
                <a:latin typeface="Calibri"/>
              </a:rPr>
              <a:t>Yellow watch</a:t>
            </a:r>
          </a:p>
          <a:p>
            <a:pPr algn="l"/>
            <a:r>
              <a:rPr sz="1500" b="0" i="0">
                <a:solidFill>
                  <a:srgbClr val="FFFFFF"/>
                </a:solidFill>
                <a:latin typeface="Calibri"/>
              </a:rPr>
              <a:t>Auto-pages the zone guard with a 2-minute ack timer. Overflow gates get ready.</a:t>
            </a:r>
          </a:p>
        </p:txBody>
      </p:sp>
      <p:sp>
        <p:nvSpPr>
          <p:cNvPr id="111" name="Rounded Rectangle 110"/>
          <p:cNvSpPr/>
          <p:nvPr/>
        </p:nvSpPr>
        <p:spPr>
          <a:xfrm>
            <a:off x="731520" y="5074920"/>
            <a:ext cx="7680960" cy="16002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05840" y="5257800"/>
            <a:ext cx="7132320" cy="1234440"/>
          </a:xfrm>
          <a:prstGeom prst="rect">
            <a:avLst/>
          </a:prstGeom>
          <a:noFill/>
        </p:spPr>
        <p:txBody>
          <a:bodyPr wrap="square" anchor="ctr" lIns="45720" rIns="45720" tIns="18288" bIns="18288"/>
          <a:lstStyle/>
          <a:p>
            <a:pPr algn="l"/>
            <a:r>
              <a:rPr sz="2000" b="1" i="0">
                <a:solidFill>
                  <a:srgbClr val="FFFFFF"/>
                </a:solidFill>
                <a:latin typeface="Calibri"/>
              </a:rPr>
              <a:t>Red alert</a:t>
            </a:r>
          </a:p>
          <a:p>
            <a:pPr algn="l"/>
            <a:r>
              <a:rPr sz="1500" b="0" i="0">
                <a:solidFill>
                  <a:srgbClr val="FFFFFF"/>
                </a:solidFill>
                <a:latin typeface="Calibri"/>
              </a:rPr>
              <a:t>Guards confirm on handsets; unanswered reds climb to venue command, then city control (planned link).</a:t>
            </a:r>
          </a:p>
        </p:txBody>
      </p:sp>
      <p:sp>
        <p:nvSpPr>
          <p:cNvPr id="113" name="Rounded Rectangle 112"/>
          <p:cNvSpPr/>
          <p:nvPr/>
        </p:nvSpPr>
        <p:spPr>
          <a:xfrm>
            <a:off x="731520" y="6812280"/>
            <a:ext cx="7680960" cy="16002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05840" y="6995160"/>
            <a:ext cx="7132320" cy="1234440"/>
          </a:xfrm>
          <a:prstGeom prst="rect">
            <a:avLst/>
          </a:prstGeom>
          <a:noFill/>
        </p:spPr>
        <p:txBody>
          <a:bodyPr wrap="square" anchor="ctr" lIns="45720" rIns="45720" tIns="18288" bIns="18288"/>
          <a:lstStyle/>
          <a:p>
            <a:pPr algn="l"/>
            <a:r>
              <a:rPr sz="2000" b="1" i="0">
                <a:solidFill>
                  <a:srgbClr val="FFFFFF"/>
                </a:solidFill>
                <a:latin typeface="Calibri"/>
              </a:rPr>
              <a:t>Handover</a:t>
            </a:r>
          </a:p>
          <a:p>
            <a:pPr algn="l"/>
            <a:r>
              <a:rPr sz="1500" b="0" i="0">
                <a:solidFill>
                  <a:srgbClr val="FFFFFF"/>
                </a:solidFill>
                <a:latin typeface="Calibri"/>
              </a:rPr>
              <a:t>A sealed evidence pack goes to the police.</a:t>
            </a:r>
          </a:p>
        </p:txBody>
      </p:sp>
      <p:sp>
        <p:nvSpPr>
          <p:cNvPr id="115" name="Rounded Rectangle 114"/>
          <p:cNvSpPr/>
          <p:nvPr/>
        </p:nvSpPr>
        <p:spPr>
          <a:xfrm>
            <a:off x="731520" y="8549640"/>
            <a:ext cx="7680960" cy="86868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005840" y="8485632"/>
            <a:ext cx="7132320" cy="1115568"/>
          </a:xfrm>
          <a:prstGeom prst="rect">
            <a:avLst/>
          </a:prstGeom>
          <a:noFill/>
        </p:spPr>
        <p:txBody>
          <a:bodyPr wrap="square" anchor="ctr" lIns="45720" rIns="45720" tIns="18288" bIns="18288"/>
          <a:lstStyle/>
          <a:p>
            <a:pPr algn="l"/>
            <a:r>
              <a:rPr sz="1250" b="1">
                <a:solidFill>
                  <a:srgbClr val="1E2761"/>
                </a:solidFill>
                <a:latin typeface="Calibri"/>
              </a:rPr>
              <a:t>Pilot targets: warn before critical, alerts reach guards in seconds, publish the false-alarm rate. Still to prove: thresholds, survey-free calibration, night/rain/angle tests.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81879" y="2449173"/>
            <a:ext cx="7724251" cy="5388654"/>
            <a:chOff x="0" y="0"/>
            <a:chExt cx="10299002" cy="7184873"/>
          </a:xfrm>
        </p:grpSpPr>
        <p:sp>
          <p:nvSpPr>
            <p:cNvPr name="Freeform 3" id="3"/>
            <p:cNvSpPr/>
            <p:nvPr/>
          </p:nvSpPr>
          <p:spPr>
            <a:xfrm flipH="false" flipV="false" rot="0">
              <a:off x="0" y="0"/>
              <a:ext cx="10298938" cy="7184898"/>
            </a:xfrm>
            <a:custGeom>
              <a:avLst/>
              <a:gdLst/>
              <a:ahLst/>
              <a:cxnLst/>
              <a:rect r="r" b="b" t="t" l="l"/>
              <a:pathLst>
                <a:path h="7184898" w="10298938">
                  <a:moveTo>
                    <a:pt x="0" y="0"/>
                  </a:moveTo>
                  <a:lnTo>
                    <a:pt x="10298938" y="0"/>
                  </a:lnTo>
                  <a:lnTo>
                    <a:pt x="10298938" y="7184898"/>
                  </a:lnTo>
                  <a:lnTo>
                    <a:pt x="0" y="7184898"/>
                  </a:lnTo>
                  <a:lnTo>
                    <a:pt x="0" y="0"/>
                  </a:lnTo>
                  <a:close/>
                </a:path>
              </a:pathLst>
            </a:custGeom>
            <a:blipFill>
              <a:blip r:embed="rId2">
                <a:alphaModFix amt="13000"/>
              </a:blip>
              <a:stretch>
                <a:fillRect l="0" t="0" r="0" b="0"/>
              </a:stretch>
            </a:blipFill>
          </p:spPr>
        </p:sp>
      </p:grpSp>
      <p:sp>
        <p:nvSpPr>
          <p:cNvPr name="TextBox 4" id="4"/>
          <p:cNvSpPr txBox="true"/>
          <p:nvPr/>
        </p:nvSpPr>
        <p:spPr>
          <a:xfrm rot="0">
            <a:off x="664188" y="561975"/>
            <a:ext cx="9197283" cy="2076450"/>
          </a:xfrm>
          <a:prstGeom prst="rect">
            <a:avLst/>
          </a:prstGeom>
        </p:spPr>
        <p:txBody>
          <a:bodyPr anchor="t" rtlCol="false" tIns="0" lIns="0" bIns="0" rIns="0">
            <a:spAutoFit/>
          </a:bodyPr>
          <a:lstStyle/>
          <a:p>
            <a:pPr algn="ctr">
              <a:lnSpc>
                <a:spcPts val="7198"/>
              </a:lnSpc>
            </a:pPr>
            <a:r>
              <a:rPr lang="en-US" sz="5999" b="true">
                <a:solidFill>
                  <a:srgbClr val="000000"/>
                </a:solidFill>
                <a:latin typeface="Calibri"/>
                <a:ea typeface="Calibri"/>
                <a:cs typeface="Calibri"/>
                <a:sym typeface="Calibri"/>
              </a:rPr>
              <a:t>RESEARCH AND REFERENCES</a:t>
            </a:r>
          </a:p>
          <a:p>
            <a:pPr algn="ctr">
              <a:lnSpc>
                <a:spcPts val="7198"/>
              </a:lnSpc>
            </a:pPr>
          </a:p>
        </p:txBody>
      </p:sp>
      <p:sp>
        <p:nvSpPr>
          <p:cNvPr id="101" name="TextBox 101"/>
          <p:cNvSpPr txBox="1"/>
          <p:nvPr/>
        </p:nvSpPr>
        <p:spPr>
          <a:xfrm>
            <a:off x="731520" y="2514600"/>
            <a:ext cx="9144000" cy="457200"/>
          </a:xfrm>
          <a:prstGeom prst="rect">
            <a:avLst/>
          </a:prstGeom>
          <a:noFill/>
          <a:ln>
            <a:noFill/>
          </a:ln>
        </p:spPr>
        <p:txBody>
          <a:bodyPr wrap="square" lIns="45720" tIns="18288" rIns="45720" bIns="18288" anchor="ctr" rtlCol="0"/>
          <a:lstStyle/>
          <a:p>
            <a:pPr algn="l">
              <a:spcBef>
                <a:spcPts val="0"/>
              </a:spcBef>
              <a:spcAft>
                <a:spcPts val="0"/>
              </a:spcAft>
            </a:pPr>
            <a:r>
              <a:rPr sz="2000" b="1" i="0">
                <a:solidFill>
                  <a:srgbClr val="1E2761"/>
                </a:solidFill>
                <a:latin typeface="Calibri"/>
              </a:rPr>
              <a:t>The science behind it</a:t>
            </a:r>
          </a:p>
        </p:txBody>
      </p:sp>
      <p:sp>
        <p:nvSpPr>
          <p:cNvPr id="106" name="TextBox 106"/>
          <p:cNvSpPr txBox="1"/>
          <p:nvPr/>
        </p:nvSpPr>
        <p:spPr>
          <a:xfrm>
            <a:off x="731520" y="6583680"/>
            <a:ext cx="9144000" cy="457200"/>
          </a:xfrm>
          <a:prstGeom prst="rect">
            <a:avLst/>
          </a:prstGeom>
          <a:noFill/>
          <a:ln>
            <a:noFill/>
          </a:ln>
        </p:spPr>
        <p:txBody>
          <a:bodyPr wrap="square" lIns="45720" tIns="18288" rIns="45720" bIns="18288" anchor="ctr" rtlCol="0"/>
          <a:lstStyle/>
          <a:p>
            <a:pPr algn="l">
              <a:spcBef>
                <a:spcPts val="0"/>
              </a:spcBef>
              <a:spcAft>
                <a:spcPts val="0"/>
              </a:spcAft>
            </a:pPr>
            <a:r>
              <a:rPr sz="2000" b="1" i="0">
                <a:solidFill>
                  <a:srgbClr val="1E2761"/>
                </a:solidFill>
                <a:latin typeface="Calibri"/>
              </a:rPr>
              <a:t>Disasters, limits, footage</a:t>
            </a:r>
          </a:p>
        </p:txBody>
      </p:sp>
      <p:sp>
        <p:nvSpPr>
          <p:cNvPr id="107" name="Card 107"/>
          <p:cNvSpPr/>
          <p:nvPr/>
        </p:nvSpPr>
        <p:spPr>
          <a:xfrm>
            <a:off x="731520" y="7178040"/>
            <a:ext cx="3931920" cy="2286000"/>
          </a:xfrm>
          <a:prstGeom prst="roundRect">
            <a:avLst>
              <a:gd name="adj" fmla="val 9000"/>
            </a:avLst>
          </a:prstGeom>
          <a:solidFill>
            <a:srgbClr val="1E2761"/>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1600" b="1" i="0">
                <a:solidFill>
                  <a:srgbClr val="FFFFFF"/>
                </a:solidFill>
                <a:latin typeface="Calibri"/>
              </a:rPr>
              <a:t>Itaewon and Love Parade</a:t>
            </a:r>
          </a:p>
          <a:p>
            <a:pPr algn="l"/>
            <a:r>
              <a:rPr sz="1300" b="0" i="0">
                <a:solidFill>
                  <a:srgbClr val="FFFFFF"/>
                </a:solidFill>
                <a:latin typeface="Calibri"/>
              </a:rPr>
              <a:t>159 dead, Seoul 2022, ignored calls. 21 dead, Duisburg 2010. Turbulence, not panic.</a:t>
            </a:r>
          </a:p>
        </p:txBody>
      </p:sp>
      <p:sp>
        <p:nvSpPr>
          <p:cNvPr id="108" name="Card 108"/>
          <p:cNvSpPr/>
          <p:nvPr/>
        </p:nvSpPr>
        <p:spPr>
          <a:xfrm>
            <a:off x="5029200" y="7178040"/>
            <a:ext cx="3931920" cy="2286000"/>
          </a:xfrm>
          <a:prstGeom prst="roundRect">
            <a:avLst>
              <a:gd name="adj" fmla="val 9000"/>
            </a:avLst>
          </a:prstGeom>
          <a:solidFill>
            <a:srgbClr val="1E2761"/>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1600" b="1" i="0">
                <a:solidFill>
                  <a:srgbClr val="FFFFFF"/>
                </a:solidFill>
                <a:latin typeface="Calibri"/>
              </a:rPr>
              <a:t>Three Indian disasters</a:t>
            </a:r>
          </a:p>
          <a:p>
            <a:pPr algn="l"/>
            <a:r>
              <a:rPr sz="1250" b="0" i="0">
                <a:solidFill>
                  <a:srgbClr val="FFFFFF"/>
                </a:solidFill>
                <a:latin typeface="Calibri"/>
              </a:rPr>
              <a:t>Kumbh, Jan 2025: 30 dead, AI live. Hathras, Jul 2024: 121 dead, 80k vs 250k. Mumbai, Sep 2017: 23 dead, station footbridge.</a:t>
            </a:r>
          </a:p>
          <a:p>
            <a:pPr algn="l"/>
            <a:r>
              <a:rPr sz="1000" b="0" i="0">
                <a:solidFill>
                  <a:srgbClr val="FFFFFF"/>
                </a:solidFill>
                <a:latin typeface="Calibri"/>
              </a:rPr>
              <a:t>Sources: Indian Express, Feb 2025; AP, Jul 2024; BBC, Sep 2017.</a:t>
            </a:r>
          </a:p>
        </p:txBody>
      </p:sp>
      <p:sp>
        <p:nvSpPr>
          <p:cNvPr id="109" name="Card 109"/>
          <p:cNvSpPr/>
          <p:nvPr/>
        </p:nvSpPr>
        <p:spPr>
          <a:xfrm>
            <a:off x="9326880" y="7178040"/>
            <a:ext cx="3931920" cy="2286000"/>
          </a:xfrm>
          <a:prstGeom prst="roundRect">
            <a:avLst>
              <a:gd name="adj" fmla="val 9000"/>
            </a:avLst>
          </a:prstGeom>
          <a:solidFill>
            <a:srgbClr val="1E2761"/>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1600" b="1" i="0">
                <a:solidFill>
                  <a:srgbClr val="FFFFFF"/>
                </a:solidFill>
                <a:latin typeface="Calibri"/>
              </a:rPr>
              <a:t>Danger thresholds</a:t>
            </a:r>
          </a:p>
          <a:p>
            <a:pPr algn="l"/>
            <a:r>
              <a:rPr sz="1300" b="0" i="0">
                <a:solidFill>
                  <a:srgbClr val="FFFFFF"/>
                </a:solidFill>
                <a:latin typeface="Calibri"/>
              </a:rPr>
              <a:t>Fluid at 7 per m2. Serious above 4. Flow peaks at 2 to 3. (Fruin, Still)</a:t>
            </a:r>
          </a:p>
        </p:txBody>
      </p:sp>
      <p:sp>
        <p:nvSpPr>
          <p:cNvPr id="110" name="Card 110"/>
          <p:cNvSpPr/>
          <p:nvPr/>
        </p:nvSpPr>
        <p:spPr>
          <a:xfrm>
            <a:off x="13624560" y="7178040"/>
            <a:ext cx="3931920" cy="2286000"/>
          </a:xfrm>
          <a:prstGeom prst="roundRect">
            <a:avLst>
              <a:gd name="adj" fmla="val 9000"/>
            </a:avLst>
          </a:prstGeom>
          <a:solidFill>
            <a:srgbClr val="1E2761"/>
          </a:solidFill>
          <a:ln>
            <a:noFill/>
          </a:ln>
          <a:effectLst>
            <a:outerShdw blurRad="127000" dist="38100" dir="5400000" algn="t" rotWithShape="0">
              <a:srgbClr val="1E2761">
                <a:alpha val="16000"/>
              </a:srgbClr>
            </a:outerShdw>
          </a:effectLst>
        </p:spPr>
        <p:txBody>
          <a:bodyPr wrap="square" lIns="45720" tIns="18288" rIns="45720" bIns="18288" anchor="ctr" rtlCol="0"/>
          <a:lstStyle/>
          <a:p>
            <a:pPr algn="l">
              <a:spcBef>
                <a:spcPts val="0"/>
              </a:spcBef>
              <a:spcAft>
                <a:spcPts val="400"/>
              </a:spcAft>
            </a:pPr>
            <a:r>
              <a:rPr sz="1600" b="1" i="0">
                <a:solidFill>
                  <a:srgbClr val="FFFFFF"/>
                </a:solidFill>
                <a:latin typeface="Calibri"/>
              </a:rPr>
              <a:t>Test footage</a:t>
            </a:r>
          </a:p>
          <a:p>
            <a:pPr algn="l"/>
            <a:r>
              <a:rPr sz="1300" b="0" i="0">
                <a:solidFill>
                  <a:srgbClr val="FFFFFF"/>
                </a:solidFill>
                <a:latin typeface="Calibri"/>
              </a:rPr>
              <a:t>Public clips: station, crossing, temple.</a:t>
            </a:r>
          </a:p>
          <a:p>
            <a:pPr algn="l"/>
            <a:r>
              <a:rPr sz="1100" b="0" i="0">
                <a:solidFill>
                  <a:srgbClr val="5A5A5A"/>
                </a:solidFill>
                <a:latin typeface="Calibri"/>
                <a:hlinkClick r:id="rId19"/>
              </a:rPr>
              <a:t>Wikimedia Commons</a:t>
            </a:r>
          </a:p>
        </p:txBody>
      </p:sp>
      <p:sp>
        <p:nvSpPr>
          <p:cNvPr id="111" name="TextBox 111"/>
          <p:cNvSpPr txBox="1"/>
          <p:nvPr/>
        </p:nvSpPr>
        <p:spPr>
          <a:xfrm>
            <a:off x="731520" y="9802368"/>
            <a:ext cx="16824960" cy="292608"/>
          </a:xfrm>
          <a:prstGeom prst="rect">
            <a:avLst/>
          </a:prstGeom>
          <a:noFill/>
          <a:ln>
            <a:noFill/>
          </a:ln>
        </p:spPr>
        <p:txBody>
          <a:bodyPr wrap="square" lIns="0" tIns="0" rIns="0" bIns="0" anchor="ctr" rtlCol="0">
            <a:noAutofit/>
          </a:bodyPr>
          <a:lstStyle/>
          <a:p>
            <a:pPr algn="r">
              <a:spcBef>
                <a:spcPts val="0"/>
              </a:spcBef>
              <a:spcAft>
                <a:spcPts val="0"/>
              </a:spcAft>
            </a:pPr>
            <a:r>
              <a:rPr lang="en-US" sz="1400" b="0" i="0" dirty="0">
                <a:solidFill>
                  <a:srgbClr val="5A5A5A"/>
                </a:solidFill>
                <a:latin typeface="Calibri"/>
                <a:cs typeface="Calibri"/>
              </a:rPr>
              <a:t>Team Raksha  |  Team Leader: Shounak Joshi</a:t>
            </a:r>
          </a:p>
        </p:txBody>
      </p:sp>
      <p:sp>
        <p:nvSpPr>
          <p:cNvPr id="112" name="R6 colh"/>
          <p:cNvSpPr txBox="1"/>
          <p:nvPr/>
        </p:nvSpPr>
        <p:spPr>
          <a:xfrm>
            <a:off x="731520" y="3017520"/>
            <a:ext cx="5120640" cy="384048"/>
          </a:xfrm>
          <a:prstGeom prst="rect">
            <a:avLst/>
          </a:prstGeom>
          <a:noFill/>
        </p:spPr>
        <p:txBody>
          <a:bodyPr wrap="square" anchor="ctr" lIns="45720" rIns="45720" tIns="18288" bIns="18288"/>
          <a:lstStyle/>
          <a:p>
            <a:pPr algn="l"/>
            <a:r>
              <a:rPr sz="1300" b="1" i="0">
                <a:solidFill>
                  <a:srgbClr val="1E2761"/>
                </a:solidFill>
                <a:latin typeface="Calibri"/>
              </a:rPr>
              <a:t>Count the overlap</a:t>
            </a:r>
          </a:p>
        </p:txBody>
      </p:sp>
      <p:sp>
        <p:nvSpPr>
          <p:cNvPr id="113" name="R6 row"/>
          <p:cNvSpPr txBox="1"/>
          <p:nvPr/>
        </p:nvSpPr>
        <p:spPr>
          <a:xfrm>
            <a:off x="731520" y="345643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9"/>
              </a:rPr>
              <a:t>CSRNet, CVPR 2018</a:t>
            </a:r>
          </a:p>
        </p:txBody>
      </p:sp>
      <p:sp>
        <p:nvSpPr>
          <p:cNvPr id="114" name="R6 row"/>
          <p:cNvSpPr txBox="1"/>
          <p:nvPr/>
        </p:nvSpPr>
        <p:spPr>
          <a:xfrm>
            <a:off x="731520" y="3867911"/>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10"/>
              </a:rPr>
              <a:t>Bayesian Loss, ICCV 2019</a:t>
            </a:r>
          </a:p>
        </p:txBody>
      </p:sp>
      <p:sp>
        <p:nvSpPr>
          <p:cNvPr id="115" name="R6 row"/>
          <p:cNvSpPr txBox="1"/>
          <p:nvPr/>
        </p:nvSpPr>
        <p:spPr>
          <a:xfrm>
            <a:off x="731520" y="427939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11"/>
              </a:rPr>
              <a:t>DM-Count, NeurIPS 2020</a:t>
            </a:r>
          </a:p>
        </p:txBody>
      </p:sp>
      <p:sp>
        <p:nvSpPr>
          <p:cNvPr id="116" name="R6 row"/>
          <p:cNvSpPr txBox="1"/>
          <p:nvPr/>
        </p:nvSpPr>
        <p:spPr>
          <a:xfrm>
            <a:off x="731520" y="469087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20"/>
              </a:rPr>
              <a:t>P2PNet, ICCV 2021</a:t>
            </a:r>
          </a:p>
        </p:txBody>
      </p:sp>
      <p:sp>
        <p:nvSpPr>
          <p:cNvPr id="117" name="R6 row"/>
          <p:cNvSpPr txBox="1"/>
          <p:nvPr/>
        </p:nvSpPr>
        <p:spPr>
          <a:xfrm>
            <a:off x="731520" y="510235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21"/>
              </a:rPr>
              <a:t>STEERER / APGCC, 2023-24</a:t>
            </a:r>
          </a:p>
        </p:txBody>
      </p:sp>
      <p:sp>
        <p:nvSpPr>
          <p:cNvPr id="118" name="R6 row"/>
          <p:cNvSpPr txBox="1"/>
          <p:nvPr/>
        </p:nvSpPr>
        <p:spPr>
          <a:xfrm>
            <a:off x="731520" y="5513831"/>
            <a:ext cx="5120640" cy="384048"/>
          </a:xfrm>
          <a:prstGeom prst="rect">
            <a:avLst/>
          </a:prstGeom>
          <a:noFill/>
        </p:spPr>
        <p:txBody>
          <a:bodyPr wrap="square" anchor="ctr" lIns="45720" rIns="45720" tIns="18288" bIns="18288"/>
          <a:lstStyle/>
          <a:p>
            <a:pPr algn="l"/>
            <a:r>
              <a:rPr sz="1050" b="0" i="0">
                <a:solidFill>
                  <a:srgbClr val="5A5A5A"/>
                </a:solidFill>
                <a:latin typeface="Calibri"/>
              </a:rPr>
              <a:t>Tests: ShanghaiTech, QNRF, NWPU</a:t>
            </a:r>
          </a:p>
        </p:txBody>
      </p:sp>
      <p:sp>
        <p:nvSpPr>
          <p:cNvPr id="119" name="R6 colh"/>
          <p:cNvSpPr txBox="1"/>
          <p:nvPr/>
        </p:nvSpPr>
        <p:spPr>
          <a:xfrm>
            <a:off x="6400800" y="3017520"/>
            <a:ext cx="5120640" cy="384048"/>
          </a:xfrm>
          <a:prstGeom prst="rect">
            <a:avLst/>
          </a:prstGeom>
          <a:noFill/>
        </p:spPr>
        <p:txBody>
          <a:bodyPr wrap="square" anchor="ctr" lIns="45720" rIns="45720" tIns="18288" bIns="18288"/>
          <a:lstStyle/>
          <a:p>
            <a:pPr algn="l"/>
            <a:r>
              <a:rPr sz="1300" b="1" i="0">
                <a:solidFill>
                  <a:srgbClr val="1E2761"/>
                </a:solidFill>
                <a:latin typeface="Calibri"/>
              </a:rPr>
              <a:t>Ground and currents</a:t>
            </a:r>
          </a:p>
        </p:txBody>
      </p:sp>
      <p:sp>
        <p:nvSpPr>
          <p:cNvPr id="120" name="R6 row"/>
          <p:cNvSpPr txBox="1"/>
          <p:nvPr/>
        </p:nvSpPr>
        <p:spPr>
          <a:xfrm>
            <a:off x="6400800" y="345643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12"/>
              </a:rPr>
              <a:t>Chan perspective maps, CVPR 2008</a:t>
            </a:r>
          </a:p>
        </p:txBody>
      </p:sp>
      <p:sp>
        <p:nvSpPr>
          <p:cNvPr id="121" name="R6 row"/>
          <p:cNvSpPr txBox="1"/>
          <p:nvPr/>
        </p:nvSpPr>
        <p:spPr>
          <a:xfrm>
            <a:off x="6400800" y="3867911"/>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13"/>
              </a:rPr>
              <a:t>Zhang ground-plane fusion, CVPR 2019</a:t>
            </a:r>
          </a:p>
        </p:txBody>
      </p:sp>
      <p:sp>
        <p:nvSpPr>
          <p:cNvPr id="122" name="R6 row"/>
          <p:cNvSpPr txBox="1"/>
          <p:nvPr/>
        </p:nvSpPr>
        <p:spPr>
          <a:xfrm>
            <a:off x="6400800" y="427939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22"/>
              </a:rPr>
              <a:t>PACNN perspective, CVPR 2019</a:t>
            </a:r>
          </a:p>
        </p:txBody>
      </p:sp>
      <p:sp>
        <p:nvSpPr>
          <p:cNvPr id="123" name="R6 row"/>
          <p:cNvSpPr txBox="1"/>
          <p:nvPr/>
        </p:nvSpPr>
        <p:spPr>
          <a:xfrm>
            <a:off x="6400800" y="469087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14"/>
              </a:rPr>
              <a:t>Mehran social force, CVPR 2009</a:t>
            </a:r>
          </a:p>
        </p:txBody>
      </p:sp>
      <p:sp>
        <p:nvSpPr>
          <p:cNvPr id="124" name="R6 row"/>
          <p:cNvSpPr txBox="1"/>
          <p:nvPr/>
        </p:nvSpPr>
        <p:spPr>
          <a:xfrm>
            <a:off x="6400800" y="510235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15"/>
              </a:rPr>
              <a:t>Mehran streaklines, ECCV 2010</a:t>
            </a:r>
          </a:p>
        </p:txBody>
      </p:sp>
      <p:sp>
        <p:nvSpPr>
          <p:cNvPr id="125" name="R6 row"/>
          <p:cNvSpPr txBox="1"/>
          <p:nvPr/>
        </p:nvSpPr>
        <p:spPr>
          <a:xfrm>
            <a:off x="6400800" y="5513831"/>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23"/>
              </a:rPr>
              <a:t>DIS optical flow (OpenCV)</a:t>
            </a:r>
          </a:p>
        </p:txBody>
      </p:sp>
      <p:sp>
        <p:nvSpPr>
          <p:cNvPr id="126" name="R6 colh"/>
          <p:cNvSpPr txBox="1"/>
          <p:nvPr/>
        </p:nvSpPr>
        <p:spPr>
          <a:xfrm>
            <a:off x="12070080" y="3017520"/>
            <a:ext cx="5120640" cy="384048"/>
          </a:xfrm>
          <a:prstGeom prst="rect">
            <a:avLst/>
          </a:prstGeom>
          <a:noFill/>
        </p:spPr>
        <p:txBody>
          <a:bodyPr wrap="square" anchor="ctr" lIns="45720" rIns="45720" tIns="18288" bIns="18288"/>
          <a:lstStyle/>
          <a:p>
            <a:pPr algn="l"/>
            <a:r>
              <a:rPr sz="1300" b="1" i="0">
                <a:solidFill>
                  <a:srgbClr val="1E2761"/>
                </a:solidFill>
                <a:latin typeface="Calibri"/>
              </a:rPr>
              <a:t>Pressure and risk</a:t>
            </a:r>
          </a:p>
        </p:txBody>
      </p:sp>
      <p:sp>
        <p:nvSpPr>
          <p:cNvPr id="127" name="R6 row"/>
          <p:cNvSpPr txBox="1"/>
          <p:nvPr/>
        </p:nvSpPr>
        <p:spPr>
          <a:xfrm>
            <a:off x="12070080" y="345643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16"/>
              </a:rPr>
              <a:t>Helbing social force, 1995</a:t>
            </a:r>
          </a:p>
        </p:txBody>
      </p:sp>
      <p:sp>
        <p:nvSpPr>
          <p:cNvPr id="128" name="R6 row"/>
          <p:cNvSpPr txBox="1"/>
          <p:nvPr/>
        </p:nvSpPr>
        <p:spPr>
          <a:xfrm>
            <a:off x="12070080" y="3867911"/>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17"/>
              </a:rPr>
              <a:t>Helbing crowd disasters, 2007</a:t>
            </a:r>
          </a:p>
        </p:txBody>
      </p:sp>
      <p:sp>
        <p:nvSpPr>
          <p:cNvPr id="129" name="R6 row"/>
          <p:cNvSpPr txBox="1"/>
          <p:nvPr/>
        </p:nvSpPr>
        <p:spPr>
          <a:xfrm>
            <a:off x="12070080" y="427939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18"/>
              </a:rPr>
              <a:t>Johansson pressure, 2008</a:t>
            </a:r>
          </a:p>
        </p:txBody>
      </p:sp>
      <p:sp>
        <p:nvSpPr>
          <p:cNvPr id="130" name="R6 row"/>
          <p:cNvSpPr txBox="1"/>
          <p:nvPr/>
        </p:nvSpPr>
        <p:spPr>
          <a:xfrm>
            <a:off x="12070080" y="469087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24"/>
              </a:rPr>
              <a:t>Hughes continuum, 2002</a:t>
            </a:r>
          </a:p>
        </p:txBody>
      </p:sp>
      <p:sp>
        <p:nvSpPr>
          <p:cNvPr id="131" name="R6 row"/>
          <p:cNvSpPr txBox="1"/>
          <p:nvPr/>
        </p:nvSpPr>
        <p:spPr>
          <a:xfrm>
            <a:off x="12070080" y="5102352"/>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25"/>
              </a:rPr>
              <a:t>Nakayama divergence, BMVC 2025</a:t>
            </a:r>
          </a:p>
        </p:txBody>
      </p:sp>
      <p:sp>
        <p:nvSpPr>
          <p:cNvPr id="132" name="R6 row"/>
          <p:cNvSpPr txBox="1"/>
          <p:nvPr/>
        </p:nvSpPr>
        <p:spPr>
          <a:xfrm>
            <a:off x="12070080" y="5513831"/>
            <a:ext cx="5120640" cy="384048"/>
          </a:xfrm>
          <a:prstGeom prst="rect">
            <a:avLst/>
          </a:prstGeom>
          <a:noFill/>
        </p:spPr>
        <p:txBody>
          <a:bodyPr wrap="square" anchor="ctr" lIns="45720" rIns="45720" tIns="18288" bIns="18288"/>
          <a:lstStyle/>
          <a:p>
            <a:pPr algn="l"/>
            <a:r>
              <a:rPr sz="1050" b="0" i="0">
                <a:solidFill>
                  <a:srgbClr val="5A5A5A"/>
                </a:solidFill>
                <a:latin typeface="Calibri"/>
                <a:hlinkClick r:id="rId26"/>
              </a:rPr>
              <a:t>Harding early warning, PLoS ONE 2011</a:t>
            </a:r>
          </a:p>
        </p:txBody>
      </p:sp>
      <p:sp>
        <p:nvSpPr>
          <p:cNvPr id="133" name="R6 build"/>
          <p:cNvSpPr txBox="1"/>
          <p:nvPr/>
        </p:nvSpPr>
        <p:spPr>
          <a:xfrm>
            <a:off x="731520" y="5989320"/>
            <a:ext cx="16824960" cy="566928"/>
          </a:xfrm>
          <a:prstGeom prst="rect">
            <a:avLst/>
          </a:prstGeom>
          <a:noFill/>
        </p:spPr>
        <p:txBody>
          <a:bodyPr wrap="square" anchor="ctr" lIns="45720" rIns="45720" tIns="18288" bIns="18288"/>
          <a:lstStyle/>
          <a:p>
            <a:pPr algn="l"/>
            <a:r>
              <a:rPr sz="1050" b="1" i="0">
                <a:solidFill>
                  <a:srgbClr val="1E2761"/>
                </a:solidFill>
                <a:latin typeface="Calibri"/>
              </a:rPr>
              <a:t>Status: idea stage. Numbers above are published research we build on, not our measurements.</a:t>
            </a:r>
          </a:p>
          <a:p>
            <a:pPr algn="l"/>
            <a:r>
              <a:rPr sz="1000" b="0" i="0">
                <a:solidFill>
                  <a:srgbClr val="1E2761"/>
                </a:solidFill>
                <a:latin typeface="Calibri"/>
              </a:rPr>
              <a:t>Build from:  </a:t>
            </a:r>
            <a:r>
              <a:rPr sz="1000" b="0" i="0">
                <a:solidFill>
                  <a:srgbClr val="5A5A5A"/>
                </a:solidFill>
                <a:latin typeface="Calibri"/>
                <a:hlinkClick r:id="rId11"/>
              </a:rPr>
              <a:t>DM-Count code (MIT)  </a:t>
            </a:r>
            <a:r>
              <a:rPr sz="1000" b="0" i="0">
                <a:solidFill>
                  <a:srgbClr val="5A5A5A"/>
                </a:solidFill>
                <a:latin typeface="Calibri"/>
                <a:hlinkClick r:id="rId27"/>
              </a:rPr>
              <a:t>CSRNet model  </a:t>
            </a:r>
            <a:r>
              <a:rPr sz="1000" b="0" i="0">
                <a:solidFill>
                  <a:srgbClr val="5A5A5A"/>
                </a:solidFill>
                <a:latin typeface="Calibri"/>
                <a:hlinkClick r:id="rId28"/>
              </a:rPr>
              <a:t>homography calibrator  </a:t>
            </a:r>
            <a:r>
              <a:rPr sz="1000" b="0" i="0">
                <a:solidFill>
                  <a:srgbClr val="5A5A5A"/>
                </a:solidFill>
                <a:latin typeface="Calibri"/>
                <a:hlinkClick r:id="rId29"/>
              </a:rPr>
              <a:t>DeepStream docs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DAHVV4k08Hg</dc:identifier>
  <dcterms:modified xsi:type="dcterms:W3CDTF">2011-08-01T06:04:30Z</dcterms:modified>
  <cp:revision>1</cp:revision>
  <dc:title>HACKATHON 2026.pptx</dc:title>
</cp:coreProperties>
</file>