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Checks per second as the crowd grows</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Sheet1!$A$2:$A$5</c:f>
              <c:strCache>
                <c:ptCount val="4"/>
                <c:pt idx="0">
                  <c:v>Sparse
0-4 people</c:v>
                </c:pt>
                <c:pt idx="1">
                  <c:v>Light
5-8</c:v>
                </c:pt>
                <c:pt idx="2">
                  <c:v>Busy
9-12</c:v>
                </c:pt>
                <c:pt idx="3">
                  <c:v>Packed
13+</c:v>
                </c:pt>
              </c:strCache>
            </c:strRef>
          </c:cat>
          <c:val>
            <c:numRef>
              <c:f>Sheet1!$B$2:$B$5</c:f>
              <c:numCache>
                <c:formatCode>General</c:formatCode>
                <c:ptCount val="4"/>
                <c:pt idx="0">
                  <c:v>45.4</c:v>
                </c:pt>
                <c:pt idx="1">
                  <c:v>39.0</c:v>
                </c:pt>
                <c:pt idx="2">
                  <c:v>38.6</c:v>
                </c:pt>
                <c:pt idx="3">
                  <c:v>34.7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60.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IDEA TITLE</a:t>
            </a:r>
          </a:p>
        </p:txBody>
      </p:sp>
      <p:sp>
        <p:nvSpPr>
          <p:cNvPr id="101" name="TextBox 101"/>
          <p:cNvSpPr txBox="1"/>
          <p:nvPr/>
        </p:nvSpPr>
        <p:spPr>
          <a:xfrm>
            <a:off x="731520" y="2606040"/>
            <a:ext cx="7863840" cy="2286000"/>
          </a:xfrm>
          <a:prstGeom prst="rect">
            <a:avLst/>
          </a:prstGeom>
          <a:noFill/>
          <a:ln>
            <a:noFill/>
          </a:ln>
        </p:spPr>
        <p:txBody>
          <a:bodyPr wrap="square" lIns="0" tIns="0" rIns="0" bIns="0" anchor="t" rtlCol="0">
            <a:noAutofit/>
          </a:bodyPr>
          <a:lstStyle/>
          <a:p>
            <a:pPr algn="l">
              <a:lnSpc>
                <a:spcPct val="95000"/>
              </a:lnSpc>
              <a:spcBef>
                <a:spcPts val="0"/>
              </a:spcBef>
              <a:spcAft>
                <a:spcPts val="1000"/>
              </a:spcAft>
            </a:pPr>
            <a:r>
              <a:rPr lang="en-US" sz="3400" b="1" i="0" dirty="0">
                <a:solidFill>
                  <a:srgbClr val="1E2761"/>
                </a:solidFill>
                <a:latin typeface="Calibri"/>
                <a:cs typeface="Calibri"/>
              </a:rPr>
              <a:t>Know the crowd. Catch the bottleneck. Stop the surge.</a:t>
            </a:r>
          </a:p>
          <a:p>
            <a:pPr algn="l">
              <a:spcBef>
                <a:spcPts val="0"/>
              </a:spcBef>
              <a:spcAft>
                <a:spcPts val="600"/>
              </a:spcAft>
            </a:pPr>
            <a:r>
              <a:rPr lang="en-US" sz="2200" b="0" i="0" dirty="0">
                <a:solidFill>
                  <a:srgbClr val="111111"/>
                </a:solidFill>
                <a:latin typeface="Calibri"/>
                <a:cs typeface="Calibri"/>
              </a:rPr>
              <a:t>Cameras measure how dense each zone is, and how fast it moves.</a:t>
            </a:r>
          </a:p>
          <a:p>
            <a:pPr algn="l">
              <a:spcBef>
                <a:spcPts val="0"/>
              </a:spcBef>
              <a:spcAft>
                <a:spcPts val="0"/>
              </a:spcAft>
            </a:pPr>
            <a:r>
              <a:rPr lang="en-US" sz="2200" b="0" i="0" dirty="0">
                <a:solidFill>
                  <a:srgbClr val="111111"/>
                </a:solidFill>
                <a:latin typeface="Calibri"/>
                <a:cs typeface="Calibri"/>
              </a:rPr>
              <a:t>It warns guards before a crush builds.</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18</a:t>
            </a:r>
          </a:p>
          <a:p>
            <a:pPr algn="ctr">
              <a:spcBef>
                <a:spcPts val="0"/>
              </a:spcBef>
              <a:spcAft>
                <a:spcPts val="0"/>
              </a:spcAft>
            </a:pPr>
            <a:r>
              <a:rPr lang="en-US" sz="1700" b="0" i="0" dirty="0">
                <a:solidFill>
                  <a:srgbClr val="5A5A5A"/>
                </a:solidFill>
                <a:latin typeface="Calibri"/>
                <a:cs typeface="Calibri"/>
              </a:rPr>
              <a:t>tracked at once</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&lt;1s</a:t>
            </a:r>
          </a:p>
          <a:p>
            <a:pPr algn="ctr">
              <a:spcBef>
                <a:spcPts val="0"/>
              </a:spcBef>
              <a:spcAft>
                <a:spcPts val="0"/>
              </a:spcAft>
            </a:pPr>
            <a:r>
              <a:rPr lang="en-US" sz="1700" b="0" i="0" dirty="0">
                <a:solidFill>
                  <a:srgbClr val="5A5A5A"/>
                </a:solidFill>
                <a:latin typeface="Calibri"/>
                <a:cs typeface="Calibri"/>
              </a:rPr>
              <a:t>guard warned</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15</a:t>
            </a:r>
          </a:p>
          <a:p>
            <a:pPr algn="ctr">
              <a:spcBef>
                <a:spcPts val="0"/>
              </a:spcBef>
              <a:spcAft>
                <a:spcPts val="0"/>
              </a:spcAft>
            </a:pPr>
            <a:r>
              <a:rPr lang="en-US" sz="1700" b="0" i="0" dirty="0">
                <a:solidFill>
                  <a:srgbClr val="5A5A5A"/>
                </a:solidFill>
                <a:latin typeface="Calibri"/>
                <a:cs typeface="Calibri"/>
              </a:rPr>
              <a:t>video checks every second</a:t>
            </a:r>
          </a:p>
        </p:txBody>
      </p:sp>
      <p:sp>
        <p:nvSpPr>
          <p:cNvPr id="105" name="TextBox 105"/>
          <p:cNvSpPr txBox="1"/>
          <p:nvPr/>
        </p:nvSpPr>
        <p:spPr>
          <a:xfrm>
            <a:off x="731520" y="6949440"/>
            <a:ext cx="786384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Watch it work</a:t>
            </a:r>
          </a:p>
        </p:txBody>
      </p:sp>
      <p:sp>
        <p:nvSpPr>
          <p:cNvPr id="106" name="Num 106"/>
          <p:cNvSpPr/>
          <p:nvPr/>
        </p:nvSpPr>
        <p:spPr>
          <a:xfrm>
            <a:off x="731520" y="7589520"/>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1</a:t>
            </a:r>
          </a:p>
        </p:txBody>
      </p:sp>
      <p:sp>
        <p:nvSpPr>
          <p:cNvPr id="107" name="TextBox 107"/>
          <p:cNvSpPr txBox="1"/>
          <p:nvPr/>
        </p:nvSpPr>
        <p:spPr>
          <a:xfrm>
            <a:off x="1417320" y="7552944"/>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Live feed: every person counted, zone density tracked.</a:t>
            </a:r>
          </a:p>
        </p:txBody>
      </p:sp>
      <p:sp>
        <p:nvSpPr>
          <p:cNvPr id="108" name="Num 108"/>
          <p:cNvSpPr/>
          <p:nvPr/>
        </p:nvSpPr>
        <p:spPr>
          <a:xfrm>
            <a:off x="731520" y="8247888"/>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2</a:t>
            </a:r>
          </a:p>
        </p:txBody>
      </p:sp>
      <p:sp>
        <p:nvSpPr>
          <p:cNvPr id="109" name="TextBox 109"/>
          <p:cNvSpPr txBox="1"/>
          <p:nvPr/>
        </p:nvSpPr>
        <p:spPr>
          <a:xfrm>
            <a:off x="1417320" y="8211312"/>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A zone packs up and stops: bottleneck flagged.</a:t>
            </a:r>
          </a:p>
        </p:txBody>
      </p:sp>
      <p:sp>
        <p:nvSpPr>
          <p:cNvPr id="110" name="Num 110"/>
          <p:cNvSpPr/>
          <p:nvPr/>
        </p:nvSpPr>
        <p:spPr>
          <a:xfrm>
            <a:off x="731520" y="8906256"/>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3</a:t>
            </a:r>
          </a:p>
        </p:txBody>
      </p:sp>
      <p:sp>
        <p:nvSpPr>
          <p:cNvPr id="111" name="TextBox 111"/>
          <p:cNvSpPr txBox="1"/>
          <p:nvPr/>
        </p:nvSpPr>
        <p:spPr>
          <a:xfrm>
            <a:off x="1417320" y="8869680"/>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Guard warned in seconds; wall shows time left to critical.</a:t>
            </a:r>
          </a:p>
        </p:txBody>
      </p:sp>
      <p:sp>
        <p:nvSpPr>
          <p:cNvPr id="113" name="TextBox 113"/>
          <p:cNvSpPr txBox="1"/>
          <p:nvPr/>
        </p:nvSpPr>
        <p:spPr>
          <a:xfrm>
            <a:off x="8961120" y="7269480"/>
            <a:ext cx="8595360" cy="365760"/>
          </a:xfrm>
          <a:prstGeom prst="rect">
            <a:avLst/>
          </a:prstGeom>
          <a:noFill/>
          <a:ln>
            <a:noFill/>
          </a:ln>
        </p:spPr>
        <p:txBody>
          <a:bodyPr wrap="square" lIns="0" tIns="0" rIns="0" bIns="0" anchor="ctr" rtlCol="0">
            <a:noAutofit/>
          </a:bodyPr>
          <a:lstStyle/>
          <a:p>
            <a:pPr algn="l">
              <a:spcBef>
                <a:spcPts val="0"/>
              </a:spcBef>
              <a:spcAft>
                <a:spcPts val="0"/>
              </a:spcAft>
            </a:pPr>
            <a:r>
              <a:rPr lang="en-US" sz="1600" b="0" i="1" dirty="0">
                <a:solidFill>
                  <a:srgbClr val="5A5A5A"/>
                </a:solidFill>
                <a:latin typeface="Calibri"/>
                <a:cs typeface="Calibri"/>
              </a:rPr>
              <a:t>Guard screen: one map with every zone ranked by risk.</a:t>
            </a:r>
          </a:p>
        </p:txBody>
      </p:sp>
      <p:sp>
        <p:nvSpPr>
          <p:cNvPr id="114" name="Legend 114"/>
          <p:cNvSpPr/>
          <p:nvPr/>
        </p:nvSpPr>
        <p:spPr>
          <a:xfrm>
            <a:off x="8961120" y="7818120"/>
            <a:ext cx="8595360" cy="17373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5" name="TextBox 115"/>
          <p:cNvSpPr txBox="1"/>
          <p:nvPr/>
        </p:nvSpPr>
        <p:spPr>
          <a:xfrm>
            <a:off x="9281160" y="7936992"/>
            <a:ext cx="7955280" cy="411480"/>
          </a:xfrm>
          <a:prstGeom prst="rect">
            <a:avLst/>
          </a:prstGeom>
          <a:noFill/>
          <a:ln>
            <a:noFill/>
          </a:ln>
        </p:spPr>
        <p:txBody>
          <a:bodyPr wrap="square" lIns="0" tIns="0" rIns="0" bIns="0" anchor="ctr" rtlCol="0">
            <a:noAutofit/>
          </a:bodyPr>
          <a:lstStyle/>
          <a:p>
            <a:pPr algn="l">
              <a:spcBef>
                <a:spcPts val="0"/>
              </a:spcBef>
              <a:spcAft>
                <a:spcPts val="0"/>
              </a:spcAft>
            </a:pPr>
            <a:r>
              <a:rPr lang="en-US" sz="2000" b="1" i="0" dirty="0">
                <a:solidFill>
                  <a:srgbClr val="1E2761"/>
                </a:solidFill>
                <a:latin typeface="Calibri"/>
                <a:cs typeface="Calibri"/>
              </a:rPr>
              <a:t>What the colours mean</a:t>
            </a:r>
          </a:p>
        </p:txBody>
      </p:sp>
      <p:sp>
        <p:nvSpPr>
          <p:cNvPr id="116" name="Dot 116"/>
          <p:cNvSpPr/>
          <p:nvPr/>
        </p:nvSpPr>
        <p:spPr>
          <a:xfrm>
            <a:off x="9281160" y="8522208"/>
            <a:ext cx="256032" cy="256032"/>
          </a:xfrm>
          <a:prstGeom prst="ellipse">
            <a:avLst/>
          </a:prstGeom>
          <a:solidFill>
            <a:srgbClr val="2E9E5B"/>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7" name="TextBox 117"/>
          <p:cNvSpPr txBox="1"/>
          <p:nvPr/>
        </p:nvSpPr>
        <p:spPr>
          <a:xfrm>
            <a:off x="96469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Calm</a:t>
            </a:r>
          </a:p>
          <a:p>
            <a:pPr algn="l">
              <a:spcBef>
                <a:spcPts val="0"/>
              </a:spcBef>
              <a:spcAft>
                <a:spcPts val="0"/>
              </a:spcAft>
            </a:pPr>
            <a:r>
              <a:rPr lang="en-US" sz="1500" b="0" i="0" dirty="0">
                <a:solidFill>
                  <a:srgbClr val="5A5A5A"/>
                </a:solidFill>
                <a:latin typeface="Calibri"/>
                <a:cs typeface="Calibri"/>
              </a:rPr>
              <a:t>All is well.</a:t>
            </a:r>
          </a:p>
        </p:txBody>
      </p:sp>
      <p:sp>
        <p:nvSpPr>
          <p:cNvPr id="118" name="Dot 118"/>
          <p:cNvSpPr/>
          <p:nvPr/>
        </p:nvSpPr>
        <p:spPr>
          <a:xfrm>
            <a:off x="12024360" y="8522208"/>
            <a:ext cx="256032" cy="256032"/>
          </a:xfrm>
          <a:prstGeom prst="ellipse">
            <a:avLst/>
          </a:prstGeom>
          <a:solidFill>
            <a:srgbClr val="E5B822"/>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9" name="TextBox 119"/>
          <p:cNvSpPr txBox="1"/>
          <p:nvPr/>
        </p:nvSpPr>
        <p:spPr>
          <a:xfrm>
            <a:off x="123901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Watch</a:t>
            </a:r>
          </a:p>
          <a:p>
            <a:pPr algn="l">
              <a:spcBef>
                <a:spcPts val="0"/>
              </a:spcBef>
              <a:spcAft>
                <a:spcPts val="0"/>
              </a:spcAft>
            </a:pPr>
            <a:r>
              <a:rPr lang="en-US" sz="1500" b="0" i="0" dirty="0">
                <a:solidFill>
                  <a:srgbClr val="5A5A5A"/>
                </a:solidFill>
                <a:latin typeface="Calibri"/>
                <a:cs typeface="Calibri"/>
              </a:rPr>
              <a:t>Getting crowded. Guards get an early warning.</a:t>
            </a:r>
          </a:p>
        </p:txBody>
      </p:sp>
      <p:sp>
        <p:nvSpPr>
          <p:cNvPr id="120" name="Dot 120"/>
          <p:cNvSpPr/>
          <p:nvPr/>
        </p:nvSpPr>
        <p:spPr>
          <a:xfrm>
            <a:off x="14767560" y="8522208"/>
            <a:ext cx="256032" cy="256032"/>
          </a:xfrm>
          <a:prstGeom prst="ellipse">
            <a:avLst/>
          </a:prstGeom>
          <a:solidFill>
            <a:srgbClr val="D64545"/>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21" name="TextBox 121"/>
          <p:cNvSpPr txBox="1"/>
          <p:nvPr/>
        </p:nvSpPr>
        <p:spPr>
          <a:xfrm>
            <a:off x="151333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Critical</a:t>
            </a:r>
          </a:p>
          <a:p>
            <a:pPr algn="l">
              <a:spcBef>
                <a:spcPts val="0"/>
              </a:spcBef>
              <a:spcAft>
                <a:spcPts val="0"/>
              </a:spcAft>
            </a:pPr>
            <a:r>
              <a:rPr lang="en-US" sz="1500" b="0" i="0" dirty="0">
                <a:solidFill>
                  <a:srgbClr val="5A5A5A"/>
                </a:solidFill>
                <a:latin typeface="Calibri"/>
                <a:cs typeface="Calibri"/>
              </a:rPr>
              <a:t>Crowd packed and stuck. Clear the area now.</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23" name="VM card"/>
          <p:cNvSpPr/>
          <p:nvPr/>
        </p:nvSpPr>
        <p:spPr>
          <a:xfrm>
            <a:off x="8961120" y="2606040"/>
            <a:ext cx="8595360" cy="45720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VM title"/>
          <p:cNvSpPr txBox="1"/>
          <p:nvPr/>
        </p:nvSpPr>
        <p:spPr>
          <a:xfrm>
            <a:off x="9235440" y="2743200"/>
            <a:ext cx="8046720" cy="502920"/>
          </a:xfrm>
          <a:prstGeom prst="rect">
            <a:avLst/>
          </a:prstGeom>
          <a:noFill/>
        </p:spPr>
        <p:txBody>
          <a:bodyPr wrap="square" anchor="ctr" lIns="27432" rIns="27432" tIns="9144" bIns="9144"/>
          <a:lstStyle/>
          <a:p>
            <a:pPr algn="l"/>
            <a:r>
              <a:rPr sz="2000" b="1" i="0">
                <a:solidFill>
                  <a:srgbClr val="1E2761"/>
                </a:solidFill>
                <a:latin typeface="Calibri"/>
              </a:rPr>
              <a:t>Venue map</a:t>
            </a:r>
            <a:r>
              <a:rPr sz="1600" b="0" i="0">
                <a:solidFill>
                  <a:srgbClr val="1E2761"/>
                </a:solidFill>
                <a:latin typeface="Calibri"/>
              </a:rPr>
              <a:t>  — every zone ranked by risk</a:t>
            </a:r>
          </a:p>
        </p:txBody>
      </p:sp>
      <p:sp>
        <p:nvSpPr>
          <p:cNvPr id="125" name="VM tile Stage"/>
          <p:cNvSpPr/>
          <p:nvPr/>
        </p:nvSpPr>
        <p:spPr>
          <a:xfrm>
            <a:off x="9235440" y="3474720"/>
            <a:ext cx="2240280" cy="2011680"/>
          </a:xfrm>
          <a:prstGeom prst="roundRect">
            <a:avLst>
              <a:gd name="adj" fmla="val 7000"/>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FFFFFF"/>
                </a:solidFill>
                <a:latin typeface="Calibri"/>
              </a:rPr>
              <a:t>Stage</a:t>
            </a:r>
            <a:r>
              <a:rPr sz="1200" b="0">
                <a:solidFill>
                  <a:srgbClr val="FFFFFF"/>
                </a:solidFill>
                <a:latin typeface="Calibri"/>
              </a:rPr>
              <a:t>
Calm — all is well</a:t>
            </a:r>
          </a:p>
        </p:txBody>
      </p:sp>
      <p:sp>
        <p:nvSpPr>
          <p:cNvPr id="126" name="VM rank Stage"/>
          <p:cNvSpPr/>
          <p:nvPr/>
        </p:nvSpPr>
        <p:spPr>
          <a:xfrm>
            <a:off x="9308592" y="3547872"/>
            <a:ext cx="457200" cy="45720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VM rankt Stage"/>
          <p:cNvSpPr txBox="1"/>
          <p:nvPr/>
        </p:nvSpPr>
        <p:spPr>
          <a:xfrm>
            <a:off x="9308592" y="3547872"/>
            <a:ext cx="457200" cy="457200"/>
          </a:xfrm>
          <a:prstGeom prst="rect">
            <a:avLst/>
          </a:prstGeom>
          <a:noFill/>
        </p:spPr>
        <p:txBody>
          <a:bodyPr wrap="square" anchor="ctr" lIns="27432" rIns="27432" tIns="9144" bIns="9144"/>
          <a:lstStyle/>
          <a:p>
            <a:pPr algn="ctr"/>
            <a:r>
              <a:rPr sz="1500" b="1" i="0">
                <a:solidFill>
                  <a:srgbClr val="FFFFFF"/>
                </a:solidFill>
                <a:latin typeface="Calibri"/>
              </a:rPr>
              <a:t>3</a:t>
            </a:r>
          </a:p>
        </p:txBody>
      </p:sp>
      <p:sp>
        <p:nvSpPr>
          <p:cNvPr id="128" name="VM tile Concourse"/>
          <p:cNvSpPr/>
          <p:nvPr/>
        </p:nvSpPr>
        <p:spPr>
          <a:xfrm>
            <a:off x="12015216" y="3474720"/>
            <a:ext cx="2240280" cy="2011680"/>
          </a:xfrm>
          <a:prstGeom prst="roundRect">
            <a:avLst>
              <a:gd name="adj" fmla="val 7000"/>
            </a:avLst>
          </a:prstGeom>
          <a:solidFill>
            <a:srgbClr val="E5B82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FFFFFF"/>
                </a:solidFill>
                <a:latin typeface="Calibri"/>
              </a:rPr>
              <a:t>Concourse</a:t>
            </a:r>
            <a:r>
              <a:rPr sz="1200" b="0">
                <a:solidFill>
                  <a:srgbClr val="FFFFFF"/>
                </a:solidFill>
                <a:latin typeface="Calibri"/>
              </a:rPr>
              <a:t>
Watch — getting crowded</a:t>
            </a:r>
          </a:p>
        </p:txBody>
      </p:sp>
      <p:sp>
        <p:nvSpPr>
          <p:cNvPr id="129" name="VM rank Concourse"/>
          <p:cNvSpPr/>
          <p:nvPr/>
        </p:nvSpPr>
        <p:spPr>
          <a:xfrm>
            <a:off x="12088368" y="3547872"/>
            <a:ext cx="457200" cy="45720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VM rankt Concourse"/>
          <p:cNvSpPr txBox="1"/>
          <p:nvPr/>
        </p:nvSpPr>
        <p:spPr>
          <a:xfrm>
            <a:off x="12088368" y="3547872"/>
            <a:ext cx="457200" cy="457200"/>
          </a:xfrm>
          <a:prstGeom prst="rect">
            <a:avLst/>
          </a:prstGeom>
          <a:noFill/>
        </p:spPr>
        <p:txBody>
          <a:bodyPr wrap="square" anchor="ctr" lIns="27432" rIns="27432" tIns="9144" bIns="9144"/>
          <a:lstStyle/>
          <a:p>
            <a:pPr algn="ctr"/>
            <a:r>
              <a:rPr sz="1500" b="1" i="0">
                <a:solidFill>
                  <a:srgbClr val="FFFFFF"/>
                </a:solidFill>
                <a:latin typeface="Calibri"/>
              </a:rPr>
              <a:t>2</a:t>
            </a:r>
          </a:p>
        </p:txBody>
      </p:sp>
      <p:sp>
        <p:nvSpPr>
          <p:cNvPr id="131" name="VM tile Gate"/>
          <p:cNvSpPr/>
          <p:nvPr/>
        </p:nvSpPr>
        <p:spPr>
          <a:xfrm>
            <a:off x="14794992" y="3474720"/>
            <a:ext cx="2240280" cy="2011680"/>
          </a:xfrm>
          <a:prstGeom prst="roundRect">
            <a:avLst>
              <a:gd name="adj" fmla="val 7000"/>
            </a:avLst>
          </a:prstGeom>
          <a:solidFill>
            <a:srgbClr val="D64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FFFFFF"/>
                </a:solidFill>
                <a:latin typeface="Calibri"/>
              </a:rPr>
              <a:t>Gate</a:t>
            </a:r>
            <a:r>
              <a:rPr sz="1200" b="0">
                <a:solidFill>
                  <a:srgbClr val="FFFFFF"/>
                </a:solidFill>
                <a:latin typeface="Calibri"/>
              </a:rPr>
              <a:t>
Critical — packed and stuck</a:t>
            </a:r>
          </a:p>
        </p:txBody>
      </p:sp>
      <p:sp>
        <p:nvSpPr>
          <p:cNvPr id="132" name="VM rank Gate"/>
          <p:cNvSpPr/>
          <p:nvPr/>
        </p:nvSpPr>
        <p:spPr>
          <a:xfrm>
            <a:off x="14868143" y="3547872"/>
            <a:ext cx="457200" cy="45720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VM rankt Gate"/>
          <p:cNvSpPr txBox="1"/>
          <p:nvPr/>
        </p:nvSpPr>
        <p:spPr>
          <a:xfrm>
            <a:off x="14868143" y="3547872"/>
            <a:ext cx="457200" cy="457200"/>
          </a:xfrm>
          <a:prstGeom prst="rect">
            <a:avLst/>
          </a:prstGeom>
          <a:noFill/>
        </p:spPr>
        <p:txBody>
          <a:bodyPr wrap="square" anchor="ctr" lIns="27432" rIns="27432" tIns="9144" bIns="9144"/>
          <a:lstStyle/>
          <a:p>
            <a:pPr algn="ctr"/>
            <a:r>
              <a:rPr sz="1500" b="1" i="0">
                <a:solidFill>
                  <a:srgbClr val="FFFFFF"/>
                </a:solidFill>
                <a:latin typeface="Calibri"/>
              </a:rPr>
              <a:t>1</a:t>
            </a:r>
          </a:p>
        </p:txBody>
      </p:sp>
      <p:sp>
        <p:nvSpPr>
          <p:cNvPr id="134" name="VM arrow"/>
          <p:cNvSpPr/>
          <p:nvPr/>
        </p:nvSpPr>
        <p:spPr>
          <a:xfrm>
            <a:off x="11539728" y="4251960"/>
            <a:ext cx="411480" cy="457200"/>
          </a:xfrm>
          <a:prstGeom prst="right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VM arrow"/>
          <p:cNvSpPr/>
          <p:nvPr/>
        </p:nvSpPr>
        <p:spPr>
          <a:xfrm>
            <a:off x="14319504" y="4251960"/>
            <a:ext cx="411480" cy="457200"/>
          </a:xfrm>
          <a:prstGeom prst="right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VM foot"/>
          <p:cNvSpPr txBox="1"/>
          <p:nvPr/>
        </p:nvSpPr>
        <p:spPr>
          <a:xfrm>
            <a:off x="9235440" y="5623560"/>
            <a:ext cx="8046720" cy="1371600"/>
          </a:xfrm>
          <a:prstGeom prst="rect">
            <a:avLst/>
          </a:prstGeom>
          <a:noFill/>
        </p:spPr>
        <p:txBody>
          <a:bodyPr wrap="square" anchor="ctr" lIns="27432" rIns="27432" tIns="9144" bIns="9144"/>
          <a:lstStyle/>
          <a:p>
            <a:pPr algn="l"/>
            <a:r>
              <a:rPr sz="1500" b="0" i="0">
                <a:solidFill>
                  <a:srgbClr val="5A5A5A"/>
                </a:solidFill>
                <a:latin typeface="Calibri"/>
              </a:rPr>
              <a:t>Arrows follow the crowd. Risk ranks the other way: Gate first.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TECHNICAL APPROACH</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Watch</a:t>
            </a:r>
          </a:p>
        </p:txBody>
      </p:sp>
      <p:sp>
        <p:nvSpPr>
          <p:cNvPr id="102" name="TextBox 102"/>
          <p:cNvSpPr txBox="1"/>
          <p:nvPr/>
        </p:nvSpPr>
        <p:spPr>
          <a:xfrm>
            <a:off x="868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takes in any camera feed</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Spot</a:t>
            </a:r>
          </a:p>
        </p:txBody>
      </p:sp>
      <p:sp>
        <p:nvSpPr>
          <p:cNvPr id="104" name="TextBox 104"/>
          <p:cNvSpPr txBox="1"/>
          <p:nvPr/>
        </p:nvSpPr>
        <p:spPr>
          <a:xfrm>
            <a:off x="36118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finds every person</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Follow</a:t>
            </a:r>
          </a:p>
        </p:txBody>
      </p:sp>
      <p:sp>
        <p:nvSpPr>
          <p:cNvPr id="106" name="TextBox 106"/>
          <p:cNvSpPr txBox="1"/>
          <p:nvPr/>
        </p:nvSpPr>
        <p:spPr>
          <a:xfrm>
            <a:off x="63550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keeps track of each one</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Know</a:t>
            </a:r>
          </a:p>
        </p:txBody>
      </p:sp>
      <p:sp>
        <p:nvSpPr>
          <p:cNvPr id="108" name="TextBox 108"/>
          <p:cNvSpPr txBox="1"/>
          <p:nvPr/>
        </p:nvSpPr>
        <p:spPr>
          <a:xfrm>
            <a:off x="90982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measures density and flow</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Predict</a:t>
            </a:r>
          </a:p>
        </p:txBody>
      </p:sp>
      <p:sp>
        <p:nvSpPr>
          <p:cNvPr id="110" name="TextBox 110"/>
          <p:cNvSpPr txBox="1"/>
          <p:nvPr/>
        </p:nvSpPr>
        <p:spPr>
          <a:xfrm>
            <a:off x="118414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forecasts time to critical</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0" tIns="0" rIns="0" bIns="0" anchor="ctr" rtlCol="0">
            <a:noAutofit/>
          </a:bodyPr>
          <a:lstStyle/>
          <a:p>
            <a:pPr algn="ctr">
              <a:spcBef>
                <a:spcPts val="0"/>
              </a:spcBef>
              <a:spcAft>
                <a:spcPts val="0"/>
              </a:spcAft>
            </a:pPr>
            <a:r>
              <a:rPr lang="en-US" sz="2200" b="1" i="0" dirty="0">
                <a:solidFill>
                  <a:srgbClr val="1E2761"/>
                </a:solidFill>
                <a:latin typeface="Calibri"/>
                <a:cs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alerts guards before a crush</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274320" tIns="45720" rIns="274320" bIns="45720" anchor="ctr" rtlCol="0">
            <a:noAutofit/>
          </a:bodyPr>
          <a:lstStyle/>
          <a:p>
            <a:pPr algn="ctr">
              <a:spcBef>
                <a:spcPts val="0"/>
              </a:spcBef>
              <a:spcAft>
                <a:spcPts val="0"/>
              </a:spcAft>
            </a:pPr>
            <a:r>
              <a:rPr lang="en-US" sz="2200" b="0" i="0" dirty="0">
                <a:solidFill>
                  <a:srgbClr val="1E2761"/>
                </a:solidFill>
                <a:latin typeface="Calibri"/>
                <a:cs typeface="Calibri"/>
              </a:rPr>
              <a:t>In plain words: cameras share one venue map, the software flags where the crowd stops moving, and it warns guards before a crush builds.</a:t>
            </a:r>
          </a:p>
        </p:txBody>
      </p:sp>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Crowd metrics, not faces</a:t>
            </a:r>
          </a:p>
          <a:p>
            <a:pPr algn="l">
              <a:lnSpc>
                <a:spcPct val="100000"/>
              </a:lnSpc>
              <a:spcBef>
                <a:spcPts val="0"/>
              </a:spcBef>
              <a:spcAft>
                <a:spcPts val="0"/>
              </a:spcAft>
            </a:pPr>
            <a:r>
              <a:rPr lang="en-US" sz="1800" b="0" i="0" dirty="0">
                <a:solidFill>
                  <a:srgbClr val="111111"/>
                </a:solidFill>
                <a:latin typeface="Calibri"/>
                <a:cs typeface="Calibri"/>
              </a:rPr>
              <a:t>Risk = density x stillness x counterflow. Stillness only escalates risk when the zone is also packed.</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Tested on real video</a:t>
            </a:r>
          </a:p>
          <a:p>
            <a:pPr algn="l">
              <a:lnSpc>
                <a:spcPct val="100000"/>
              </a:lnSpc>
              <a:spcBef>
                <a:spcPts val="0"/>
              </a:spcBef>
              <a:spcAft>
                <a:spcPts val="0"/>
              </a:spcAft>
            </a:pPr>
            <a:r>
              <a:rPr lang="en-US" sz="1800" b="0" i="0" dirty="0">
                <a:solidFill>
                  <a:srgbClr val="111111"/>
                </a:solidFill>
                <a:latin typeface="Calibri"/>
                <a:cs typeface="Calibri"/>
              </a:rPr>
              <a:t>Followed 18 people at once across 2 minutes of busy station video.</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Works with normal cameras</a:t>
            </a:r>
          </a:p>
          <a:p>
            <a:pPr algn="l">
              <a:lnSpc>
                <a:spcPct val="100000"/>
              </a:lnSpc>
              <a:spcBef>
                <a:spcPts val="0"/>
              </a:spcBef>
              <a:spcAft>
                <a:spcPts val="0"/>
              </a:spcAft>
            </a:pPr>
            <a:r>
              <a:rPr lang="en-US" sz="1800" b="0" i="0" dirty="0">
                <a:solidFill>
                  <a:srgbClr val="111111"/>
                </a:solidFill>
                <a:latin typeface="Calibri"/>
                <a:cs typeface="Calibri"/>
              </a:rPr>
              <a:t>Cameras link into one venue graph, so a jam is traced back to where it started. High, wide angles measure density best.</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9" name="VG card"/>
          <p:cNvSpPr/>
          <p:nvPr/>
        </p:nvSpPr>
        <p:spPr>
          <a:xfrm>
            <a:off x="731520" y="5989320"/>
            <a:ext cx="6766560" cy="36576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VG title"/>
          <p:cNvSpPr txBox="1"/>
          <p:nvPr/>
        </p:nvSpPr>
        <p:spPr>
          <a:xfrm>
            <a:off x="960120" y="6126480"/>
            <a:ext cx="6309360" cy="457200"/>
          </a:xfrm>
          <a:prstGeom prst="rect">
            <a:avLst/>
          </a:prstGeom>
          <a:noFill/>
        </p:spPr>
        <p:txBody>
          <a:bodyPr wrap="square" anchor="ctr" lIns="27432" rIns="27432" tIns="9144" bIns="9144"/>
          <a:lstStyle/>
          <a:p>
            <a:pPr algn="l"/>
            <a:r>
              <a:rPr sz="1800" b="1" i="0">
                <a:solidFill>
                  <a:srgbClr val="1E2761"/>
                </a:solidFill>
                <a:latin typeface="Calibri"/>
              </a:rPr>
              <a:t>One venue graph</a:t>
            </a:r>
          </a:p>
        </p:txBody>
      </p:sp>
      <p:sp>
        <p:nvSpPr>
          <p:cNvPr id="121" name="VG cam 1"/>
          <p:cNvSpPr/>
          <p:nvPr/>
        </p:nvSpPr>
        <p:spPr>
          <a:xfrm>
            <a:off x="1051560" y="7040880"/>
            <a:ext cx="640080" cy="64008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VG camt 1"/>
          <p:cNvSpPr txBox="1"/>
          <p:nvPr/>
        </p:nvSpPr>
        <p:spPr>
          <a:xfrm>
            <a:off x="1051560" y="7040880"/>
            <a:ext cx="640080" cy="640080"/>
          </a:xfrm>
          <a:prstGeom prst="rect">
            <a:avLst/>
          </a:prstGeom>
          <a:noFill/>
        </p:spPr>
        <p:txBody>
          <a:bodyPr wrap="square" anchor="ctr" lIns="27432" rIns="27432" tIns="9144" bIns="9144"/>
          <a:lstStyle/>
          <a:p>
            <a:pPr algn="ctr"/>
            <a:r>
              <a:rPr sz="1600" b="1" i="0">
                <a:solidFill>
                  <a:srgbClr val="FFFFFF"/>
                </a:solidFill>
                <a:latin typeface="Calibri"/>
              </a:rPr>
              <a:t>1</a:t>
            </a:r>
          </a:p>
        </p:txBody>
      </p:sp>
      <p:sp>
        <p:nvSpPr>
          <p:cNvPr id="123" name="VG caml 1"/>
          <p:cNvSpPr txBox="1"/>
          <p:nvPr/>
        </p:nvSpPr>
        <p:spPr>
          <a:xfrm>
            <a:off x="1828800" y="7086600"/>
            <a:ext cx="1188720" cy="548640"/>
          </a:xfrm>
          <a:prstGeom prst="rect">
            <a:avLst/>
          </a:prstGeom>
          <a:noFill/>
        </p:spPr>
        <p:txBody>
          <a:bodyPr wrap="square" anchor="ctr" lIns="27432" rIns="27432" tIns="9144" bIns="9144"/>
          <a:lstStyle/>
          <a:p>
            <a:pPr algn="l"/>
            <a:r>
              <a:rPr sz="1300" b="0" i="0">
                <a:solidFill>
                  <a:srgbClr val="1E2761"/>
                </a:solidFill>
                <a:latin typeface="Calibri"/>
              </a:rPr>
              <a:t>Gate cam</a:t>
            </a:r>
          </a:p>
        </p:txBody>
      </p:sp>
      <p:sp>
        <p:nvSpPr>
          <p:cNvPr id="124" name="VG link 1"/>
          <p:cNvSpPr/>
          <p:nvPr/>
        </p:nvSpPr>
        <p:spPr>
          <a:xfrm>
            <a:off x="3063240" y="7342632"/>
            <a:ext cx="685800" cy="36576"/>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VG cam 2"/>
          <p:cNvSpPr/>
          <p:nvPr/>
        </p:nvSpPr>
        <p:spPr>
          <a:xfrm>
            <a:off x="1051560" y="7818120"/>
            <a:ext cx="640080" cy="64008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VG camt 2"/>
          <p:cNvSpPr txBox="1"/>
          <p:nvPr/>
        </p:nvSpPr>
        <p:spPr>
          <a:xfrm>
            <a:off x="1051560" y="7818120"/>
            <a:ext cx="640080" cy="640080"/>
          </a:xfrm>
          <a:prstGeom prst="rect">
            <a:avLst/>
          </a:prstGeom>
          <a:noFill/>
        </p:spPr>
        <p:txBody>
          <a:bodyPr wrap="square" anchor="ctr" lIns="27432" rIns="27432" tIns="9144" bIns="9144"/>
          <a:lstStyle/>
          <a:p>
            <a:pPr algn="ctr"/>
            <a:r>
              <a:rPr sz="1600" b="1" i="0">
                <a:solidFill>
                  <a:srgbClr val="FFFFFF"/>
                </a:solidFill>
                <a:latin typeface="Calibri"/>
              </a:rPr>
              <a:t>2</a:t>
            </a:r>
          </a:p>
        </p:txBody>
      </p:sp>
      <p:sp>
        <p:nvSpPr>
          <p:cNvPr id="127" name="VG caml 2"/>
          <p:cNvSpPr txBox="1"/>
          <p:nvPr/>
        </p:nvSpPr>
        <p:spPr>
          <a:xfrm>
            <a:off x="1828800" y="7863840"/>
            <a:ext cx="1188720" cy="548640"/>
          </a:xfrm>
          <a:prstGeom prst="rect">
            <a:avLst/>
          </a:prstGeom>
          <a:noFill/>
        </p:spPr>
        <p:txBody>
          <a:bodyPr wrap="square" anchor="ctr" lIns="27432" rIns="27432" tIns="9144" bIns="9144"/>
          <a:lstStyle/>
          <a:p>
            <a:pPr algn="l"/>
            <a:r>
              <a:rPr sz="1300" b="0" i="0">
                <a:solidFill>
                  <a:srgbClr val="1E2761"/>
                </a:solidFill>
                <a:latin typeface="Calibri"/>
              </a:rPr>
              <a:t>Stage cam</a:t>
            </a:r>
          </a:p>
        </p:txBody>
      </p:sp>
      <p:sp>
        <p:nvSpPr>
          <p:cNvPr id="128" name="VG link 2"/>
          <p:cNvSpPr/>
          <p:nvPr/>
        </p:nvSpPr>
        <p:spPr>
          <a:xfrm>
            <a:off x="3063240" y="8119872"/>
            <a:ext cx="685800" cy="36576"/>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VG cam 3"/>
          <p:cNvSpPr/>
          <p:nvPr/>
        </p:nvSpPr>
        <p:spPr>
          <a:xfrm>
            <a:off x="1051560" y="8595360"/>
            <a:ext cx="640080" cy="64008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VG camt 3"/>
          <p:cNvSpPr txBox="1"/>
          <p:nvPr/>
        </p:nvSpPr>
        <p:spPr>
          <a:xfrm>
            <a:off x="1051560" y="8595360"/>
            <a:ext cx="640080" cy="640080"/>
          </a:xfrm>
          <a:prstGeom prst="rect">
            <a:avLst/>
          </a:prstGeom>
          <a:noFill/>
        </p:spPr>
        <p:txBody>
          <a:bodyPr wrap="square" anchor="ctr" lIns="27432" rIns="27432" tIns="9144" bIns="9144"/>
          <a:lstStyle/>
          <a:p>
            <a:pPr algn="ctr"/>
            <a:r>
              <a:rPr sz="1600" b="1" i="0">
                <a:solidFill>
                  <a:srgbClr val="FFFFFF"/>
                </a:solidFill>
                <a:latin typeface="Calibri"/>
              </a:rPr>
              <a:t>3</a:t>
            </a:r>
          </a:p>
        </p:txBody>
      </p:sp>
      <p:sp>
        <p:nvSpPr>
          <p:cNvPr id="131" name="VG caml 3"/>
          <p:cNvSpPr txBox="1"/>
          <p:nvPr/>
        </p:nvSpPr>
        <p:spPr>
          <a:xfrm>
            <a:off x="1828800" y="8641080"/>
            <a:ext cx="1188720" cy="548640"/>
          </a:xfrm>
          <a:prstGeom prst="rect">
            <a:avLst/>
          </a:prstGeom>
          <a:noFill/>
        </p:spPr>
        <p:txBody>
          <a:bodyPr wrap="square" anchor="ctr" lIns="27432" rIns="27432" tIns="9144" bIns="9144"/>
          <a:lstStyle/>
          <a:p>
            <a:pPr algn="l"/>
            <a:r>
              <a:rPr sz="1300" b="0" i="0">
                <a:solidFill>
                  <a:srgbClr val="1E2761"/>
                </a:solidFill>
                <a:latin typeface="Calibri"/>
              </a:rPr>
              <a:t>Exit cam</a:t>
            </a:r>
          </a:p>
        </p:txBody>
      </p:sp>
      <p:sp>
        <p:nvSpPr>
          <p:cNvPr id="132" name="VG link 3"/>
          <p:cNvSpPr/>
          <p:nvPr/>
        </p:nvSpPr>
        <p:spPr>
          <a:xfrm>
            <a:off x="3063240" y="8897112"/>
            <a:ext cx="685800" cy="36576"/>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VG hub"/>
          <p:cNvSpPr/>
          <p:nvPr/>
        </p:nvSpPr>
        <p:spPr>
          <a:xfrm>
            <a:off x="3749039" y="7726679"/>
            <a:ext cx="1417320" cy="9601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VG hubt"/>
          <p:cNvSpPr txBox="1"/>
          <p:nvPr/>
        </p:nvSpPr>
        <p:spPr>
          <a:xfrm>
            <a:off x="3749039" y="7726679"/>
            <a:ext cx="1417320" cy="960120"/>
          </a:xfrm>
          <a:prstGeom prst="rect">
            <a:avLst/>
          </a:prstGeom>
          <a:noFill/>
        </p:spPr>
        <p:txBody>
          <a:bodyPr wrap="square" anchor="ctr" lIns="27432" rIns="27432" tIns="9144" bIns="9144"/>
          <a:lstStyle/>
          <a:p>
            <a:pPr algn="ctr"/>
            <a:r>
              <a:rPr sz="1300" b="1" i="0">
                <a:solidFill>
                  <a:srgbClr val="FFFFFF"/>
                </a:solidFill>
                <a:latin typeface="Calibri"/>
              </a:rPr>
              <a:t>Venue map</a:t>
            </a:r>
          </a:p>
        </p:txBody>
      </p:sp>
      <p:sp>
        <p:nvSpPr>
          <p:cNvPr id="135" name="VG arrow"/>
          <p:cNvSpPr/>
          <p:nvPr/>
        </p:nvSpPr>
        <p:spPr>
          <a:xfrm>
            <a:off x="5303520" y="7973568"/>
            <a:ext cx="457200" cy="457200"/>
          </a:xfrm>
          <a:prstGeom prst="rightArrow">
            <a:avLst/>
          </a:prstGeom>
          <a:solidFill>
            <a:srgbClr val="E5B8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VG chip"/>
          <p:cNvSpPr/>
          <p:nvPr/>
        </p:nvSpPr>
        <p:spPr>
          <a:xfrm>
            <a:off x="5852160" y="7589520"/>
            <a:ext cx="1417320" cy="1188720"/>
          </a:xfrm>
          <a:prstGeom prst="roundRect">
            <a:avLst>
              <a:gd name="adj" fmla="val 7000"/>
            </a:avLst>
          </a:prstGeom>
          <a:solidFill>
            <a:srgbClr val="FFFFFF"/>
          </a:solidFill>
          <a:ln w="19050">
            <a:solidFill>
              <a:srgbClr val="D645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VG chipt"/>
          <p:cNvSpPr txBox="1"/>
          <p:nvPr/>
        </p:nvSpPr>
        <p:spPr>
          <a:xfrm>
            <a:off x="5897880" y="7635240"/>
            <a:ext cx="1325880" cy="1097280"/>
          </a:xfrm>
          <a:prstGeom prst="rect">
            <a:avLst/>
          </a:prstGeom>
          <a:noFill/>
        </p:spPr>
        <p:txBody>
          <a:bodyPr wrap="square" anchor="ctr" lIns="27432" rIns="27432" tIns="9144" bIns="9144"/>
          <a:lstStyle/>
          <a:p>
            <a:pPr algn="ctr"/>
            <a:r>
              <a:rPr sz="1200" b="1" i="0">
                <a:solidFill>
                  <a:srgbClr val="1E2761"/>
                </a:solidFill>
                <a:latin typeface="Calibri"/>
              </a:rPr>
              <a:t>Jam traced</a:t>
            </a:r>
          </a:p>
          <a:p>
            <a:pPr algn="ctr"/>
            <a:r>
              <a:rPr sz="1200" b="1" i="0">
                <a:solidFill>
                  <a:srgbClr val="1E2761"/>
                </a:solidFill>
                <a:latin typeface="Calibri"/>
              </a:rPr>
              <a:t>to Gate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graphicFrame>
        <p:nvGraphicFramePr>
          <p:cNvPr id="5" name="Chart 4"/>
          <p:cNvGraphicFramePr>
            <a:graphicFrameLocks noGrp="1"/>
          </p:cNvGraphicFramePr>
          <p:nvPr/>
        </p:nvGraphicFramePr>
        <p:xfrm>
          <a:off x="914400" y="2788920"/>
          <a:ext cx="7863840" cy="5943600"/>
        </p:xfrm>
        <a:graphic>
          <a:graphicData uri="http://schemas.openxmlformats.org/drawingml/2006/chart">
            <c:chart xmlns:c="http://schemas.openxmlformats.org/drawingml/2006/chart" r:id="rId3"/>
          </a:graphicData>
        </a:graphic>
      </p:graphicFrame>
      <p:sp>
        <p:nvSpPr>
          <p:cNvPr id="102" name="TextBox 102"/>
          <p:cNvSpPr txBox="1"/>
          <p:nvPr/>
        </p:nvSpPr>
        <p:spPr>
          <a:xfrm>
            <a:off x="1097280" y="8823960"/>
            <a:ext cx="7498080" cy="685800"/>
          </a:xfrm>
          <a:prstGeom prst="rect">
            <a:avLst/>
          </a:prstGeom>
          <a:noFill/>
          <a:ln>
            <a:noFill/>
          </a:ln>
        </p:spPr>
        <p:txBody>
          <a:bodyPr wrap="square" lIns="0" tIns="0" rIns="0" bIns="0" anchor="ctr" rtlCol="0">
            <a:noAutofit/>
          </a:bodyPr>
          <a:lstStyle/>
          <a:p>
            <a:pPr algn="ctr">
              <a:spcBef>
                <a:spcPts val="0"/>
              </a:spcBef>
              <a:spcAft>
                <a:spcPts val="0"/>
              </a:spcAft>
            </a:pPr>
            <a:r>
              <a:rPr lang="en-US" sz="1700" b="0" i="0" dirty="0">
                <a:solidFill>
                  <a:srgbClr val="5A5A5A"/>
                </a:solidFill>
                <a:latin typeface="Calibri"/>
                <a:cs typeface="Calibri"/>
              </a:rPr>
              <a:t>Model and tracker time only, same laptop. FPS stays above 30 even when the frame fills with people.</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Forecast</a:t>
            </a:r>
          </a:p>
          <a:p>
            <a:pPr algn="l">
              <a:lnSpc>
                <a:spcPct val="100000"/>
              </a:lnSpc>
              <a:spcBef>
                <a:spcPts val="0"/>
              </a:spcBef>
              <a:spcAft>
                <a:spcPts val="0"/>
              </a:spcAft>
            </a:pPr>
            <a:r>
              <a:rPr lang="en-US" sz="2000" b="0" i="0" dirty="0">
                <a:solidFill>
                  <a:srgbClr val="111111"/>
                </a:solidFill>
                <a:latin typeface="Calibri"/>
                <a:cs typeface="Calibri"/>
              </a:rPr>
              <a:t>The trend is fitted live, so the wall shows seconds to critical before the jam locks.</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Red alert</a:t>
            </a:r>
          </a:p>
          <a:p>
            <a:pPr algn="l">
              <a:lnSpc>
                <a:spcPct val="100000"/>
              </a:lnSpc>
              <a:spcBef>
                <a:spcPts val="0"/>
              </a:spcBef>
              <a:spcAft>
                <a:spcPts val="0"/>
              </a:spcAft>
            </a:pPr>
            <a:r>
              <a:rPr lang="en-US" sz="2000" b="0" i="0" dirty="0">
                <a:solidFill>
                  <a:srgbClr val="111111"/>
                </a:solidFill>
                <a:latin typeface="Calibri"/>
                <a:cs typeface="Calibri"/>
              </a:rPr>
              <a:t>Fires when a zone packs tight and stops. The wall counts down the seconds to critical.</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Built to scale out</a:t>
            </a:r>
          </a:p>
          <a:p>
            <a:pPr algn="l">
              <a:lnSpc>
                <a:spcPct val="100000"/>
              </a:lnSpc>
              <a:spcBef>
                <a:spcPts val="0"/>
              </a:spcBef>
              <a:spcAft>
                <a:spcPts val="0"/>
              </a:spcAft>
            </a:pPr>
            <a:r>
              <a:rPr lang="en-US" sz="2000" b="0" i="0" dirty="0">
                <a:solidFill>
                  <a:srgbClr val="111111"/>
                </a:solidFill>
                <a:latin typeface="Calibri"/>
                <a:cs typeface="Calibri"/>
              </a:rPr>
              <a:t>One laptop runs a venue today; an edge box per camera scales to mass gatherings.</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BC card"/>
          <p:cNvSpPr/>
          <p:nvPr/>
        </p:nvSpPr>
        <p:spPr>
          <a:xfrm>
            <a:off x="9326880" y="6812280"/>
            <a:ext cx="8229600" cy="278892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C title"/>
          <p:cNvSpPr txBox="1"/>
          <p:nvPr/>
        </p:nvSpPr>
        <p:spPr>
          <a:xfrm>
            <a:off x="9601200" y="6931152"/>
            <a:ext cx="7680960" cy="411480"/>
          </a:xfrm>
          <a:prstGeom prst="rect">
            <a:avLst/>
          </a:prstGeom>
          <a:noFill/>
        </p:spPr>
        <p:txBody>
          <a:bodyPr wrap="square" anchor="ctr" lIns="27432" rIns="27432" tIns="9144" bIns="9144"/>
          <a:lstStyle/>
          <a:p>
            <a:pPr algn="l"/>
            <a:r>
              <a:rPr sz="1600" b="1" i="0">
                <a:solidFill>
                  <a:srgbClr val="1E2761"/>
                </a:solidFill>
                <a:latin typeface="Calibri"/>
              </a:rPr>
              <a:t>Tested on three real crowds</a:t>
            </a:r>
          </a:p>
        </p:txBody>
      </p:sp>
      <p:sp>
        <p:nvSpPr>
          <p:cNvPr id="110" name="BC chip Station concourse"/>
          <p:cNvSpPr/>
          <p:nvPr/>
        </p:nvSpPr>
        <p:spPr>
          <a:xfrm>
            <a:off x="9601200" y="7406640"/>
            <a:ext cx="2468880" cy="1417320"/>
          </a:xfrm>
          <a:prstGeom prst="roundRect">
            <a:avLst>
              <a:gd name="adj" fmla="val 7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C chipt Station concourse"/>
          <p:cNvSpPr txBox="1"/>
          <p:nvPr/>
        </p:nvSpPr>
        <p:spPr>
          <a:xfrm>
            <a:off x="9646920" y="7424927"/>
            <a:ext cx="2377440" cy="1380744"/>
          </a:xfrm>
          <a:prstGeom prst="rect">
            <a:avLst/>
          </a:prstGeom>
          <a:noFill/>
        </p:spPr>
        <p:txBody>
          <a:bodyPr wrap="square" anchor="ctr" lIns="27432" rIns="27432" tIns="9144" bIns="9144"/>
          <a:lstStyle/>
          <a:p>
            <a:pPr algn="ctr"/>
            <a:r>
              <a:rPr sz="1300" b="1" i="0">
                <a:solidFill>
                  <a:srgbClr val="1E2761"/>
                </a:solidFill>
                <a:latin typeface="Calibri"/>
              </a:rPr>
              <a:t>Station concourse</a:t>
            </a:r>
          </a:p>
          <a:p>
            <a:pPr algn="ctr"/>
            <a:r>
              <a:rPr sz="1100" b="0" i="0">
                <a:solidFill>
                  <a:srgbClr val="5A5A5A"/>
                </a:solidFill>
                <a:latin typeface="Calibri"/>
              </a:rPr>
              <a:t>16 people peak</a:t>
            </a:r>
          </a:p>
          <a:p>
            <a:pPr algn="ctr"/>
            <a:r>
              <a:rPr sz="1600" b="1" i="0">
                <a:solidFill>
                  <a:srgbClr val="1E2761"/>
                </a:solidFill>
                <a:latin typeface="Calibri"/>
              </a:rPr>
              <a:t>37 FPS</a:t>
            </a:r>
          </a:p>
        </p:txBody>
      </p:sp>
      <p:sp>
        <p:nvSpPr>
          <p:cNvPr id="112" name="BC chip Busy crossing"/>
          <p:cNvSpPr/>
          <p:nvPr/>
        </p:nvSpPr>
        <p:spPr>
          <a:xfrm>
            <a:off x="12207240" y="7406640"/>
            <a:ext cx="2468880" cy="1417320"/>
          </a:xfrm>
          <a:prstGeom prst="roundRect">
            <a:avLst>
              <a:gd name="adj" fmla="val 7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C chipt Busy crossing"/>
          <p:cNvSpPr txBox="1"/>
          <p:nvPr/>
        </p:nvSpPr>
        <p:spPr>
          <a:xfrm>
            <a:off x="12252960" y="7424927"/>
            <a:ext cx="2377440" cy="1380744"/>
          </a:xfrm>
          <a:prstGeom prst="rect">
            <a:avLst/>
          </a:prstGeom>
          <a:noFill/>
        </p:spPr>
        <p:txBody>
          <a:bodyPr wrap="square" anchor="ctr" lIns="27432" rIns="27432" tIns="9144" bIns="9144"/>
          <a:lstStyle/>
          <a:p>
            <a:pPr algn="ctr"/>
            <a:r>
              <a:rPr sz="1300" b="1" i="0">
                <a:solidFill>
                  <a:srgbClr val="1E2761"/>
                </a:solidFill>
                <a:latin typeface="Calibri"/>
              </a:rPr>
              <a:t>Busy crossing</a:t>
            </a:r>
          </a:p>
          <a:p>
            <a:pPr algn="ctr"/>
            <a:r>
              <a:rPr sz="1100" b="0" i="0">
                <a:solidFill>
                  <a:srgbClr val="5A5A5A"/>
                </a:solidFill>
                <a:latin typeface="Calibri"/>
              </a:rPr>
              <a:t>7 people peak</a:t>
            </a:r>
          </a:p>
          <a:p>
            <a:pPr algn="ctr"/>
            <a:r>
              <a:rPr sz="1600" b="1" i="0">
                <a:solidFill>
                  <a:srgbClr val="1E2761"/>
                </a:solidFill>
                <a:latin typeface="Calibri"/>
              </a:rPr>
              <a:t>42 FPS</a:t>
            </a:r>
          </a:p>
        </p:txBody>
      </p:sp>
      <p:sp>
        <p:nvSpPr>
          <p:cNvPr id="114" name="BC chip Temple street"/>
          <p:cNvSpPr/>
          <p:nvPr/>
        </p:nvSpPr>
        <p:spPr>
          <a:xfrm>
            <a:off x="14813280" y="7406640"/>
            <a:ext cx="2468880" cy="1417320"/>
          </a:xfrm>
          <a:prstGeom prst="roundRect">
            <a:avLst>
              <a:gd name="adj" fmla="val 7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C chipt Temple street"/>
          <p:cNvSpPr txBox="1"/>
          <p:nvPr/>
        </p:nvSpPr>
        <p:spPr>
          <a:xfrm>
            <a:off x="14859000" y="7424927"/>
            <a:ext cx="2377440" cy="1380744"/>
          </a:xfrm>
          <a:prstGeom prst="rect">
            <a:avLst/>
          </a:prstGeom>
          <a:noFill/>
        </p:spPr>
        <p:txBody>
          <a:bodyPr wrap="square" anchor="ctr" lIns="27432" rIns="27432" tIns="9144" bIns="9144"/>
          <a:lstStyle/>
          <a:p>
            <a:pPr algn="ctr"/>
            <a:r>
              <a:rPr sz="1300" b="1" i="0">
                <a:solidFill>
                  <a:srgbClr val="1E2761"/>
                </a:solidFill>
                <a:latin typeface="Calibri"/>
              </a:rPr>
              <a:t>Temple street</a:t>
            </a:r>
          </a:p>
          <a:p>
            <a:pPr algn="ctr"/>
            <a:r>
              <a:rPr sz="1100" b="0" i="0">
                <a:solidFill>
                  <a:srgbClr val="5A5A5A"/>
                </a:solidFill>
                <a:latin typeface="Calibri"/>
              </a:rPr>
              <a:t>15 people peak</a:t>
            </a:r>
          </a:p>
          <a:p>
            <a:pPr algn="ctr"/>
            <a:r>
              <a:rPr sz="1600" b="1" i="0">
                <a:solidFill>
                  <a:srgbClr val="1E2761"/>
                </a:solidFill>
                <a:latin typeface="Calibri"/>
              </a:rPr>
              <a:t>47 FPS</a:t>
            </a:r>
          </a:p>
        </p:txBody>
      </p:sp>
      <p:sp>
        <p:nvSpPr>
          <p:cNvPr id="116" name="BC foot"/>
          <p:cNvSpPr txBox="1"/>
          <p:nvPr/>
        </p:nvSpPr>
        <p:spPr>
          <a:xfrm>
            <a:off x="9601200" y="8887968"/>
            <a:ext cx="7680960" cy="566928"/>
          </a:xfrm>
          <a:prstGeom prst="rect">
            <a:avLst/>
          </a:prstGeom>
          <a:noFill/>
        </p:spPr>
        <p:txBody>
          <a:bodyPr wrap="square" anchor="ctr" lIns="27432" rIns="27432" tIns="9144" bIns="9144"/>
          <a:lstStyle/>
          <a:p>
            <a:pPr algn="l"/>
            <a:r>
              <a:rPr sz="1050" b="0" i="0">
                <a:solidFill>
                  <a:srgbClr val="5A5A5A"/>
                </a:solidFill>
                <a:latin typeface="Calibri"/>
              </a:rPr>
              <a:t>Same laptop, 500 frames per clip — model and tracker time only.</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91440" rIns="320040" bIns="91440" anchor="ctr" rtlCol="0">
            <a:noAutofit/>
          </a:bodyPr>
          <a:lstStyle/>
          <a:p>
            <a:pPr algn="l">
              <a:spcBef>
                <a:spcPts val="0"/>
              </a:spcBef>
              <a:spcAft>
                <a:spcPts val="200"/>
              </a:spcAft>
            </a:pPr>
            <a:r>
              <a:rPr lang="en-US" sz="2000" b="1" i="0" dirty="0">
                <a:solidFill>
                  <a:srgbClr val="D9A441"/>
                </a:solidFill>
                <a:latin typeface="Calibri"/>
                <a:cs typeface="Calibri"/>
              </a:rPr>
              <a:t>After</a:t>
            </a:r>
          </a:p>
          <a:p>
            <a:pPr algn="l">
              <a:spcBef>
                <a:spcPts val="0"/>
              </a:spcBef>
              <a:spcAft>
                <a:spcPts val="0"/>
              </a:spcAft>
            </a:pPr>
            <a:r>
              <a:rPr lang="en-US" sz="2100" b="1" i="0" dirty="0">
                <a:solidFill>
                  <a:srgbClr val="FFFFFF"/>
                </a:solidFill>
                <a:latin typeface="Calibri"/>
                <a:cs typeface="Calibri"/>
              </a:rPr>
              <a:t>One screen ranks zones and traces jams to their origin: security moves from reactive to proactive.</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Organizers</a:t>
            </a:r>
          </a:p>
          <a:p>
            <a:pPr algn="l">
              <a:lnSpc>
                <a:spcPct val="100000"/>
              </a:lnSpc>
              <a:spcBef>
                <a:spcPts val="0"/>
              </a:spcBef>
              <a:spcAft>
                <a:spcPts val="0"/>
              </a:spcAft>
            </a:pPr>
            <a:r>
              <a:rPr lang="en-US" sz="1800" b="0" i="0" dirty="0">
                <a:solidFill>
                  <a:srgbClr val="111111"/>
                </a:solidFill>
                <a:latin typeface="Calibri"/>
                <a:cs typeface="Calibri"/>
              </a:rPr>
              <a:t>Spot a growing jam early, and tell guards which zone to clear.</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Police</a:t>
            </a:r>
          </a:p>
          <a:p>
            <a:pPr algn="l">
              <a:lnSpc>
                <a:spcPct val="100000"/>
              </a:lnSpc>
              <a:spcBef>
                <a:spcPts val="0"/>
              </a:spcBef>
              <a:spcAft>
                <a:spcPts val="0"/>
              </a:spcAft>
            </a:pPr>
            <a:r>
              <a:rPr lang="en-US" sz="1800" b="0" i="0" dirty="0">
                <a:solidFill>
                  <a:srgbClr val="111111"/>
                </a:solidFill>
                <a:latin typeface="Calibri"/>
                <a:cs typeface="Calibri"/>
              </a:rPr>
              <a:t>Every alert, zone and action exports as one evidence pack in a click.</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400" b="1">
                <a:solidFill>
                  <a:srgbClr val="1E2761"/>
                </a:solidFill>
                <a:latin typeface="Calibri"/>
              </a:rPr>
              <a:t>When the alarm goes up</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spAutoFit/>
          </a:bodyPr>
          <a:lstStyle/>
          <a:p>
            <a:r>
              <a:rPr sz="2200" b="1">
                <a:solidFill>
                  <a:srgbClr val="FFFFFF"/>
                </a:solidFill>
                <a:latin typeface="Calibri"/>
              </a:rPr>
              <a:t>Yellow watch</a:t>
            </a:r>
          </a:p>
          <a:p>
            <a:pPr>
              <a:spcBef>
                <a:spcPts val="400"/>
              </a:spcBef>
            </a:pPr>
            <a:r>
              <a:rPr sz="1800">
                <a:solidFill>
                  <a:srgbClr val="FFFFFF"/>
                </a:solidFill>
                <a:latin typeface="Calibri"/>
              </a:rPr>
              <a:t>Guards keep eyes on the zone. Crowd flow is slowed.</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spAutoFit/>
          </a:bodyPr>
          <a:lstStyle/>
          <a:p>
            <a:r>
              <a:rPr sz="2200" b="1">
                <a:solidFill>
                  <a:srgbClr val="FFFFFF"/>
                </a:solidFill>
                <a:latin typeface="Calibri"/>
              </a:rPr>
              <a:t>Red alert</a:t>
            </a:r>
          </a:p>
          <a:p>
            <a:pPr>
              <a:spcBef>
                <a:spcPts val="400"/>
              </a:spcBef>
            </a:pPr>
            <a:r>
              <a:rPr sz="1800">
                <a:solidFill>
                  <a:srgbClr val="FFFFFF"/>
                </a:solidFill>
                <a:latin typeface="Calibri"/>
              </a:rPr>
              <a:t>Guards get steps on their handsets; a human confirms before any PA or door release.</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spAutoFit/>
          </a:bodyPr>
          <a:lstStyle/>
          <a:p>
            <a:r>
              <a:rPr sz="2200" b="1">
                <a:solidFill>
                  <a:srgbClr val="FFFFFF"/>
                </a:solidFill>
                <a:latin typeface="Calibri"/>
              </a:rPr>
              <a:t>Handover</a:t>
            </a:r>
          </a:p>
          <a:p>
            <a:pPr>
              <a:spcBef>
                <a:spcPts val="400"/>
              </a:spcBef>
            </a:pPr>
            <a:r>
              <a:rPr sz="180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spAutoFit/>
          </a:bodyPr>
          <a:lstStyle/>
          <a:p>
            <a:r>
              <a:rPr sz="1700" b="1">
                <a:solidFill>
                  <a:srgbClr val="1E2761"/>
                </a:solidFill>
                <a:latin typeface="Calibri"/>
              </a:rPr>
              <a:t>Pilot targets: tens of seconds forecast before critical, guard warned under 1 second, every step logged.</a:t>
            </a:r>
          </a:p>
          <a:p>
            <a:pPr>
              <a:spcBef>
                <a:spcPts val="400"/>
              </a:spcBef>
            </a:pPr>
            <a:r>
              <a:rPr sz="1700">
                <a:solidFill>
                  <a:srgbClr val="1E2761"/>
                </a:solidFill>
                <a:latin typeface="Calibri"/>
              </a:rPr>
              <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The science behind it</a:t>
            </a:r>
          </a:p>
        </p:txBody>
      </p:sp>
      <p:sp>
        <p:nvSpPr>
          <p:cNvPr id="102" name="Card 102"/>
          <p:cNvSpPr/>
          <p:nvPr/>
        </p:nvSpPr>
        <p:spPr>
          <a:xfrm>
            <a:off x="73152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Finding and following people</a:t>
            </a:r>
          </a:p>
          <a:p>
            <a:pPr algn="l">
              <a:lnSpc>
                <a:spcPct val="100000"/>
              </a:lnSpc>
              <a:spcBef>
                <a:spcPts val="0"/>
              </a:spcBef>
              <a:spcAft>
                <a:spcPts val="0"/>
              </a:spcAft>
            </a:pPr>
            <a:r>
              <a:rPr lang="en-US" sz="1700" b="0" i="0" dirty="0">
                <a:solidFill>
                  <a:srgbClr val="111111"/>
                </a:solidFill>
                <a:latin typeface="Calibri"/>
                <a:cs typeface="Calibri"/>
              </a:rPr>
              <a:t>Finds every person and follows each one. Uses YOLOv8 and ByteTrack, the standard real-time pairing for crowd tracking.</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4"/>
              </a:rPr>
              <a:t>github.com/ultralytics/ultralytics</a:t>
            </a:r>
            <a:r>
              <a:rPr sz="1400">
                <a:solidFill>
                  <a:srgbClr val="5A5A5A"/>
                </a:solidFill>
                <a:latin typeface="Calibri"/>
              </a:rPr>
              <a:t>, </a:t>
            </a:r>
            <a:r>
              <a:rPr sz="1400" b="1" u="sng">
                <a:solidFill>
                  <a:srgbClr val="1E2761"/>
                </a:solidFill>
                <a:latin typeface="Calibri"/>
                <a:hlinkClick r:id="rId5"/>
              </a:rPr>
              <a:t>github.com/ifzhang/ByteTrack</a:t>
            </a:r>
          </a:p>
        </p:txBody>
      </p:sp>
      <p:sp>
        <p:nvSpPr>
          <p:cNvPr id="103" name="Card 103"/>
          <p:cNvSpPr/>
          <p:nvPr/>
        </p:nvSpPr>
        <p:spPr>
          <a:xfrm>
            <a:off x="932688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Phase 2: face search</a:t>
            </a:r>
          </a:p>
          <a:p>
            <a:pPr algn="l">
              <a:lnSpc>
                <a:spcPct val="100000"/>
              </a:lnSpc>
              <a:spcBef>
                <a:spcPts val="0"/>
              </a:spcBef>
              <a:spcAft>
                <a:spcPts val="0"/>
              </a:spcAft>
            </a:pPr>
            <a:r>
              <a:rPr lang="en-US" sz="1700" b="0" i="0" dirty="0">
                <a:solidFill>
                  <a:srgbClr val="111111"/>
                </a:solidFill>
                <a:latin typeface="Calibri"/>
                <a:cs typeface="Calibri"/>
              </a:rPr>
              <a:t>Not in the MVP. The pipeline is modular, so agencies can plug in their own face-search API later for post-incident cases (opt-in, B2G).</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6"/>
              </a:rPr>
              <a:t>github.com/deepinsight/insightface</a:t>
            </a:r>
            <a:r>
              <a:rPr sz="1400">
                <a:solidFill>
                  <a:srgbClr val="5A5A5A"/>
                </a:solidFill>
                <a:latin typeface="Calibri"/>
              </a:rPr>
              <a:t>, </a:t>
            </a:r>
            <a:r>
              <a:rPr sz="1400" b="1" u="sng">
                <a:solidFill>
                  <a:srgbClr val="1E2761"/>
                </a:solidFill>
                <a:latin typeface="Calibri"/>
                <a:hlinkClick r:id="rId7"/>
              </a:rPr>
              <a:t>github.com/facebookresearch/faiss</a:t>
            </a:r>
          </a:p>
        </p:txBody>
      </p:sp>
      <p:sp>
        <p:nvSpPr>
          <p:cNvPr id="104" name="Card 104"/>
          <p:cNvSpPr/>
          <p:nvPr/>
        </p:nvSpPr>
        <p:spPr>
          <a:xfrm>
            <a:off x="73152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Predicting crushes</a:t>
            </a:r>
          </a:p>
          <a:p>
            <a:pPr algn="l">
              <a:lnSpc>
                <a:spcPct val="100000"/>
              </a:lnSpc>
              <a:spcBef>
                <a:spcPts val="0"/>
              </a:spcBef>
              <a:spcAft>
                <a:spcPts val="0"/>
              </a:spcAft>
            </a:pPr>
            <a:r>
              <a:rPr lang="en-US" sz="1700" b="0" i="0" dirty="0">
                <a:solidFill>
                  <a:srgbClr val="111111"/>
                </a:solidFill>
                <a:latin typeface="Calibri"/>
                <a:cs typeface="Calibri"/>
              </a:rPr>
              <a:t>The AURORA warning model plus our live optical-flow stall meter spot danger early. A Delhi trial cut response time by 37 percent.</a:t>
            </a:r>
          </a:p>
          <a:p>
            <a:pPr>
              <a:spcBef>
                <a:spcPts val="400"/>
              </a:spcBef>
              <a:spcAft>
                <a:spcPts val="0"/>
              </a:spcAft>
            </a:pPr>
            <a:r>
              <a:rPr sz="1400">
                <a:solidFill>
                  <a:srgbClr val="5A5A5A"/>
                </a:solidFill>
                <a:latin typeface="Calibri"/>
              </a:rPr>
              <a:t>Ideas: AURORA warning model, optical-flow stall metrics, STAR-Crowd Delhi trial</a:t>
            </a:r>
          </a:p>
        </p:txBody>
      </p:sp>
      <p:sp>
        <p:nvSpPr>
          <p:cNvPr id="105" name="Card 105"/>
          <p:cNvSpPr/>
          <p:nvPr/>
        </p:nvSpPr>
        <p:spPr>
          <a:xfrm>
            <a:off x="932688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Why India needs it</a:t>
            </a:r>
          </a:p>
          <a:p>
            <a:pPr algn="l">
              <a:lnSpc>
                <a:spcPct val="100000"/>
              </a:lnSpc>
              <a:spcBef>
                <a:spcPts val="0"/>
              </a:spcBef>
              <a:spcAft>
                <a:spcPts val="0"/>
              </a:spcAft>
            </a:pPr>
            <a:r>
              <a:rPr lang="en-US" sz="1700" b="0" i="0" dirty="0">
                <a:solidFill>
                  <a:srgbClr val="111111"/>
                </a:solidFill>
                <a:latin typeface="Calibri"/>
                <a:cs typeface="Calibri"/>
              </a:rPr>
              <a:t>Packed crowds and blocked exits turned deadly at Hathras, Kumbh and railway stations.</a:t>
            </a:r>
          </a:p>
          <a:p>
            <a:pPr>
              <a:spcBef>
                <a:spcPts val="400"/>
              </a:spcBef>
              <a:spcAft>
                <a:spcPts val="0"/>
              </a:spcAft>
            </a:pPr>
            <a:r>
              <a:rPr sz="1400">
                <a:solidFill>
                  <a:srgbClr val="5A5A5A"/>
                </a:solidFill>
                <a:latin typeface="Calibri"/>
              </a:rPr>
              <a:t>Test video: </a:t>
            </a:r>
            <a:r>
              <a:rPr sz="1400" b="1" u="sng">
                <a:solidFill>
                  <a:srgbClr val="1E2761"/>
                </a:solidFill>
                <a:latin typeface="Calibri"/>
                <a:hlinkClick r:id="rId8"/>
              </a:rPr>
              <a:t>Wikimedia Commons</a:t>
            </a:r>
            <a:r>
              <a:rPr sz="1400">
                <a:solidFill>
                  <a:srgbClr val="5A5A5A"/>
                </a:solidFill>
                <a:latin typeface="Calibri"/>
              </a:rPr>
              <a:t> public footage (station, crossing, temple)</a:t>
            </a:r>
          </a:p>
        </p:txBody>
      </p:sp>
      <p:sp>
        <p:nvSpPr>
          <p:cNvPr id="106" name="TextBox 106"/>
          <p:cNvSpPr txBox="1"/>
          <p:nvPr/>
        </p:nvSpPr>
        <p:spPr>
          <a:xfrm>
            <a:off x="731520" y="658368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Privacy built in</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Anonymized by default</a:t>
            </a:r>
          </a:p>
          <a:p>
            <a:pPr algn="l">
              <a:lnSpc>
                <a:spcPct val="100000"/>
              </a:lnSpc>
              <a:spcBef>
                <a:spcPts val="0"/>
              </a:spcBef>
              <a:spcAft>
                <a:spcPts val="0"/>
              </a:spcAft>
            </a:pPr>
            <a:r>
              <a:rPr lang="en-US" sz="1900" b="0" i="0" dirty="0">
                <a:solidFill>
                  <a:srgbClr val="DDE3FA"/>
                </a:solidFill>
                <a:latin typeface="Calibri"/>
                <a:cs typeface="Calibri"/>
              </a:rPr>
              <a:t>Saved video is face-blurred. Live alerts show zones and counts, not names.</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7-day routine wipe</a:t>
            </a:r>
          </a:p>
          <a:p>
            <a:pPr algn="l">
              <a:lnSpc>
                <a:spcPct val="100000"/>
              </a:lnSpc>
              <a:spcBef>
                <a:spcPts val="0"/>
              </a:spcBef>
              <a:spcAft>
                <a:spcPts val="0"/>
              </a:spcAft>
            </a:pPr>
            <a:r>
              <a:rPr lang="en-US" sz="1900" b="0" i="0" dirty="0">
                <a:solidFill>
                  <a:srgbClr val="DDE3FA"/>
                </a:solidFill>
                <a:latin typeface="Calibri"/>
                <a:cs typeface="Calibri"/>
              </a:rPr>
              <a:t>Daily footage wipes after 7 days. Flagged incidents are exported first and kept for the police.</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Tamper-evident log</a:t>
            </a:r>
          </a:p>
          <a:p>
            <a:pPr algn="l">
              <a:lnSpc>
                <a:spcPct val="100000"/>
              </a:lnSpc>
              <a:spcBef>
                <a:spcPts val="0"/>
              </a:spcBef>
              <a:spcAft>
                <a:spcPts val="0"/>
              </a:spcAft>
            </a:pPr>
            <a:r>
              <a:rPr lang="en-US" sz="1900" b="0" i="0" dirty="0">
                <a:solidFill>
                  <a:srgbClr val="DDE3FA"/>
                </a:solidFill>
                <a:latin typeface="Calibri"/>
                <a:cs typeface="Calibri"/>
              </a:rPr>
              <a:t>Every action is hash-chained. Any edit leaves a trace.</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No ID in core</a:t>
            </a:r>
          </a:p>
          <a:p>
            <a:pPr algn="l">
              <a:lnSpc>
                <a:spcPct val="100000"/>
              </a:lnSpc>
              <a:spcBef>
                <a:spcPts val="0"/>
              </a:spcBef>
              <a:spcAft>
                <a:spcPts val="0"/>
              </a:spcAft>
            </a:pPr>
            <a:r>
              <a:rPr lang="en-US" sz="1900" b="0" i="0" dirty="0">
                <a:solidFill>
                  <a:srgbClr val="DDE3FA"/>
                </a:solidFill>
                <a:latin typeface="Calibri"/>
                <a:cs typeface="Calibri"/>
              </a:rPr>
              <a:t>Crowd mode runs with zero identity. Face search stays opt-in Phase 2 only.</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