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Checks per second as the crowd grows</a:t>
            </a:r>
          </a:p>
        </c:rich>
      </c:tx>
      <c:layout/>
      <c:overlay val="0"/>
    </c:title>
    <c:autoTitleDeleted val="0"/>
    <c:plotArea>
      <c:barChart>
        <c:barDir val="col"/>
        <c:grouping val="clustered"/>
        <c:ser>
          <c:idx val="0"/>
          <c:order val="0"/>
          <c:tx>
            <c:strRef>
              <c:f>Sheet1!$B$1</c:f>
              <c:strCache>
                <c:ptCount val="1"/>
                <c:pt idx="0">
                  <c:v>Checks per second</c:v>
                </c:pt>
              </c:strCache>
            </c:strRef>
          </c:tx>
          <c:spPr>
            <a:solidFill>
              <a:srgbClr val="1E2761"/>
            </a:solidFill>
          </c:spPr>
          <c:cat>
            <c:strRef>
              <c:f>Sheet1!$A$2:$A$5</c:f>
              <c:strCache>
                <c:ptCount val="4"/>
                <c:pt idx="0">
                  <c:v>Sparse
0-4 people</c:v>
                </c:pt>
                <c:pt idx="1">
                  <c:v>Light
5-8</c:v>
                </c:pt>
                <c:pt idx="2">
                  <c:v>Busy
9-12</c:v>
                </c:pt>
                <c:pt idx="3">
                  <c:v>Packed
13+</c:v>
                </c:pt>
              </c:strCache>
            </c:strRef>
          </c:cat>
          <c:val>
            <c:numRef>
              <c:f>Sheet1!$B$2:$B$5</c:f>
              <c:numCache>
                <c:formatCode>General</c:formatCode>
                <c:ptCount val="4"/>
                <c:pt idx="0">
                  <c:v>45.4</c:v>
                </c:pt>
                <c:pt idx="1">
                  <c:v>39.0</c:v>
                </c:pt>
                <c:pt idx="2">
                  <c:v>38.6</c:v>
                </c:pt>
                <c:pt idx="3">
                  <c:v>34.7</c:v>
                </c:pt>
              </c:numCache>
            </c:numRef>
          </c:val>
        </c:ser>
        <c:dLbls>
          <c:txPr>
            <a:bodyPr/>
            <a:lstStyle/>
            <a:p>
              <a:pPr>
                <a:defRPr sz="18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800"/>
            </a:pPr>
          </a:p>
        </c:txPr>
        <c:crossAx val="-2113994440"/>
        <c:crosses val="autoZero"/>
        <c:auto val="1"/>
        <c:lblAlgn val="ctr"/>
        <c:lblOffset val="100"/>
        <c:noMultiLvlLbl val="0"/>
      </c:catAx>
      <c:valAx>
        <c:axId val="-2113994440"/>
        <c:scaling>
          <c:max val="60.0"/>
          <c:min val="0.0"/>
        </c:scaling>
        <c:delete val="0"/>
        <c:axPos val="l"/>
        <c:majorTickMark val="out"/>
        <c:minorTickMark val="none"/>
        <c:tickLblPos val="nextTo"/>
        <c:txPr>
          <a:bodyPr/>
          <a:lstStyle/>
          <a:p>
            <a:pPr>
              <a:defRPr sz="1800"/>
            </a:pPr>
          </a:p>
        </c:txPr>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under a second.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The detector plus tracker holds IDs through occlusion. Best-snapshot scoring gates faces, the face model plus gallery matches them,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links: https://github.com/ultralytics/ultralytics, https://github.com/deepinsight/insightface, https://github.com/facebookresearch/faiss, https://github.com/ifzhang/ByteTrack, https://github.com/KaiyangZhou/deep-person-reid, https://commons.wikimedia.org. Tested on MOT20, ShanghaiTech, plus our station, crossing and temple clips. Ethics: opt-in enrollment, blurred stored video, 7-day purge, hash-chained audit, no central ID linkage.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gif"/><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9.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0.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hyperlink" Target="https://github.com/ultralytics/ultralytics" TargetMode="External"/><Relationship Id="rId5" Type="http://schemas.openxmlformats.org/officeDocument/2006/relationships/hyperlink" Target="https://github.com/ifzhang/ByteTrack" TargetMode="External"/><Relationship Id="rId6" Type="http://schemas.openxmlformats.org/officeDocument/2006/relationships/hyperlink" Target="https://github.com/deepinsight/insightface" TargetMode="External"/><Relationship Id="rId7" Type="http://schemas.openxmlformats.org/officeDocument/2006/relationships/hyperlink" Target="https://github.com/facebookresearch/faiss" TargetMode="External"/><Relationship Id="rId8" Type="http://schemas.openxmlformats.org/officeDocument/2006/relationships/hyperlink" Target="https://commons.wikimedia.org" TargetMode="Externa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a:ea typeface="Calibri"/>
                  <a:cs typeface="Calibri"/>
                  <a:sym typeface="Calibri"/>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a:ea typeface="Cambria"/>
                  <a:cs typeface="Cambria"/>
                  <a:sym typeface="Cambria"/>
                </a:rPr>
                <a:t>HACKATHON </a:t>
              </a:r>
              <a:r>
                <a:rPr lang="en-US" sz="9000" b="true">
                  <a:solidFill>
                    <a:srgbClr val="3E8EF7"/>
                  </a:solidFill>
                  <a:latin typeface="Cambria"/>
                  <a:ea typeface="Cambria"/>
                  <a:cs typeface="Cambria"/>
                  <a:sym typeface="Cambria"/>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a:ea typeface="Calibri"/>
                  <a:cs typeface="Calibri"/>
                  <a:sym typeface="Calibri"/>
                </a:rPr>
                <a:t>Idea Submission Template  |  Code. Create. Innovate.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Rounded Rectangle 42"/>
          <p:cNvSpPr/>
          <p:nvPr/>
        </p:nvSpPr>
        <p:spPr>
          <a:xfrm>
            <a:off x="749808" y="5852160"/>
            <a:ext cx="11887200" cy="3566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88720" y="6053328"/>
            <a:ext cx="4023360" cy="640080"/>
          </a:xfrm>
          <a:prstGeom prst="rect">
            <a:avLst/>
          </a:prstGeom>
          <a:noFill/>
        </p:spPr>
        <p:txBody>
          <a:bodyPr wrap="none">
            <a:spAutoFit/>
          </a:bodyPr>
          <a:lstStyle/>
          <a:p>
            <a:r>
              <a:rPr sz="2000" b="1">
                <a:solidFill>
                  <a:srgbClr val="1E2761"/>
                </a:solidFill>
                <a:latin typeface="Calibri"/>
              </a:rPr>
              <a:t>Team Name</a:t>
            </a:r>
          </a:p>
        </p:txBody>
      </p:sp>
      <p:sp>
        <p:nvSpPr>
          <p:cNvPr id="45" name="Rectangle 44"/>
          <p:cNvSpPr/>
          <p:nvPr/>
        </p:nvSpPr>
        <p:spPr>
          <a:xfrm>
            <a:off x="5486400" y="600760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52160" y="6053328"/>
            <a:ext cx="6400800" cy="640080"/>
          </a:xfrm>
          <a:prstGeom prst="rect">
            <a:avLst/>
          </a:prstGeom>
          <a:noFill/>
        </p:spPr>
        <p:txBody>
          <a:bodyPr wrap="none">
            <a:spAutoFit/>
          </a:bodyPr>
          <a:lstStyle/>
          <a:p>
            <a:r>
              <a:rPr sz="2200" b="1">
                <a:solidFill>
                  <a:srgbClr val="1E2761"/>
                </a:solidFill>
                <a:latin typeface="Calibri"/>
              </a:rPr>
              <a:t>Team Raksha</a:t>
            </a:r>
          </a:p>
        </p:txBody>
      </p:sp>
      <p:sp>
        <p:nvSpPr>
          <p:cNvPr id="47" name="Rectangle 46"/>
          <p:cNvSpPr/>
          <p:nvPr/>
        </p:nvSpPr>
        <p:spPr>
          <a:xfrm>
            <a:off x="1188720" y="675741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88720" y="6922008"/>
            <a:ext cx="4023360" cy="640080"/>
          </a:xfrm>
          <a:prstGeom prst="rect">
            <a:avLst/>
          </a:prstGeom>
          <a:noFill/>
        </p:spPr>
        <p:txBody>
          <a:bodyPr wrap="none">
            <a:spAutoFit/>
          </a:bodyPr>
          <a:lstStyle/>
          <a:p>
            <a:r>
              <a:rPr sz="2000" b="1">
                <a:solidFill>
                  <a:srgbClr val="1E2761"/>
                </a:solidFill>
                <a:latin typeface="Calibri"/>
              </a:rPr>
              <a:t>Problem Statement No.</a:t>
            </a:r>
          </a:p>
        </p:txBody>
      </p:sp>
      <p:sp>
        <p:nvSpPr>
          <p:cNvPr id="49" name="Rectangle 48"/>
          <p:cNvSpPr/>
          <p:nvPr/>
        </p:nvSpPr>
        <p:spPr>
          <a:xfrm>
            <a:off x="5486400" y="687628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852160" y="6922008"/>
            <a:ext cx="6400800" cy="640080"/>
          </a:xfrm>
          <a:prstGeom prst="rect">
            <a:avLst/>
          </a:prstGeom>
          <a:noFill/>
        </p:spPr>
        <p:txBody>
          <a:bodyPr wrap="none">
            <a:spAutoFit/>
          </a:bodyPr>
          <a:lstStyle/>
          <a:p>
            <a:r>
              <a:rPr sz="2200" b="1">
                <a:solidFill>
                  <a:srgbClr val="1E2761"/>
                </a:solidFill>
                <a:latin typeface="Calibri"/>
              </a:rPr>
              <a:t>2</a:t>
            </a:r>
          </a:p>
        </p:txBody>
      </p:sp>
      <p:sp>
        <p:nvSpPr>
          <p:cNvPr id="51" name="Rectangle 50"/>
          <p:cNvSpPr/>
          <p:nvPr/>
        </p:nvSpPr>
        <p:spPr>
          <a:xfrm>
            <a:off x="1188720" y="762609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88720" y="7790688"/>
            <a:ext cx="4023360" cy="640080"/>
          </a:xfrm>
          <a:prstGeom prst="rect">
            <a:avLst/>
          </a:prstGeom>
          <a:noFill/>
        </p:spPr>
        <p:txBody>
          <a:bodyPr wrap="none">
            <a:spAutoFit/>
          </a:bodyPr>
          <a:lstStyle/>
          <a:p>
            <a:r>
              <a:rPr sz="2000" b="1">
                <a:solidFill>
                  <a:srgbClr val="1E2761"/>
                </a:solidFill>
                <a:latin typeface="Calibri"/>
              </a:rPr>
              <a:t>Problem Statement Title</a:t>
            </a:r>
          </a:p>
        </p:txBody>
      </p:sp>
      <p:sp>
        <p:nvSpPr>
          <p:cNvPr id="53" name="Rectangle 52"/>
          <p:cNvSpPr/>
          <p:nvPr/>
        </p:nvSpPr>
        <p:spPr>
          <a:xfrm>
            <a:off x="5486400" y="774496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0" y="7790688"/>
            <a:ext cx="64008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55" name="Rectangle 54"/>
          <p:cNvSpPr/>
          <p:nvPr/>
        </p:nvSpPr>
        <p:spPr>
          <a:xfrm>
            <a:off x="1188720" y="849477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88720" y="8659367"/>
            <a:ext cx="4023360" cy="640080"/>
          </a:xfrm>
          <a:prstGeom prst="rect">
            <a:avLst/>
          </a:prstGeom>
          <a:noFill/>
        </p:spPr>
        <p:txBody>
          <a:bodyPr wrap="none">
            <a:spAutoFit/>
          </a:bodyPr>
          <a:lstStyle/>
          <a:p>
            <a:r>
              <a:rPr sz="2000" b="1">
                <a:solidFill>
                  <a:srgbClr val="1E2761"/>
                </a:solidFill>
                <a:latin typeface="Calibri"/>
              </a:rPr>
              <a:t>Team Leader Name</a:t>
            </a:r>
          </a:p>
        </p:txBody>
      </p:sp>
      <p:sp>
        <p:nvSpPr>
          <p:cNvPr id="57" name="Rectangle 56"/>
          <p:cNvSpPr/>
          <p:nvPr/>
        </p:nvSpPr>
        <p:spPr>
          <a:xfrm>
            <a:off x="5486400" y="861364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852160" y="8659367"/>
            <a:ext cx="6400800" cy="640080"/>
          </a:xfrm>
          <a:prstGeom prst="rect">
            <a:avLst/>
          </a:prstGeom>
          <a:noFill/>
        </p:spPr>
        <p:txBody>
          <a:bodyPr wrap="none">
            <a:spAutoFit/>
          </a:bodyPr>
          <a:lstStyle/>
          <a:p>
            <a:r>
              <a:rPr sz="2200" b="1">
                <a:solidFill>
                  <a:srgbClr val="1E2761"/>
                </a:solidFill>
                <a:latin typeface="Calibri"/>
              </a:rPr>
              <a:t>Shounak Joshi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a:ea typeface="Calibri"/>
                <a:cs typeface="Calibri"/>
                <a:sym typeface="Calibri"/>
              </a:rPr>
              <a:t>IDEA TITLE</a:t>
            </a:r>
          </a:p>
        </p:txBody>
      </p:sp>
      <p:sp>
        <p:nvSpPr>
          <p:cNvPr id="101" name="TextBox 101"/>
          <p:cNvSpPr txBox="1"/>
          <p:nvPr/>
        </p:nvSpPr>
        <p:spPr>
          <a:xfrm>
            <a:off x="731520" y="2606040"/>
            <a:ext cx="7863840" cy="2286000"/>
          </a:xfrm>
          <a:prstGeom prst="rect">
            <a:avLst/>
          </a:prstGeom>
          <a:noFill/>
          <a:ln>
            <a:noFill/>
          </a:ln>
        </p:spPr>
        <p:txBody>
          <a:bodyPr wrap="square" lIns="0" tIns="0" rIns="0" bIns="0" anchor="t" rtlCol="0">
            <a:noAutofit/>
          </a:bodyPr>
          <a:lstStyle/>
          <a:p>
            <a:pPr algn="l">
              <a:lnSpc>
                <a:spcPct val="95000"/>
              </a:lnSpc>
              <a:spcBef>
                <a:spcPts val="0"/>
              </a:spcBef>
              <a:spcAft>
                <a:spcPts val="1000"/>
              </a:spcAft>
            </a:pPr>
            <a:r>
              <a:rPr lang="en-US" sz="3400" b="1" i="0" dirty="0">
                <a:solidFill>
                  <a:srgbClr val="1E2761"/>
                </a:solidFill>
                <a:latin typeface="Calibri"/>
                <a:cs typeface="Calibri"/>
              </a:rPr>
              <a:t>Know the crowd. Catch the bottleneck. Stop the surge.</a:t>
            </a:r>
          </a:p>
          <a:p>
            <a:pPr algn="l">
              <a:spcBef>
                <a:spcPts val="0"/>
              </a:spcBef>
              <a:spcAft>
                <a:spcPts val="600"/>
              </a:spcAft>
            </a:pPr>
            <a:r>
              <a:rPr lang="en-US" sz="2200" b="0" i="0" dirty="0">
                <a:solidFill>
                  <a:srgbClr val="111111"/>
                </a:solidFill>
                <a:latin typeface="Calibri"/>
                <a:cs typeface="Calibri"/>
              </a:rPr>
              <a:t>Cameras measure how dense each zone is, and how fast it moves.</a:t>
            </a:r>
          </a:p>
          <a:p>
            <a:pPr algn="l">
              <a:spcBef>
                <a:spcPts val="0"/>
              </a:spcBef>
              <a:spcAft>
                <a:spcPts val="0"/>
              </a:spcAft>
            </a:pPr>
            <a:r>
              <a:rPr lang="en-US" sz="2200" b="0" i="0" dirty="0">
                <a:solidFill>
                  <a:srgbClr val="111111"/>
                </a:solidFill>
                <a:latin typeface="Calibri"/>
                <a:cs typeface="Calibri"/>
              </a:rPr>
              <a:t>It warns guards before a crush builds.</a:t>
            </a:r>
          </a:p>
        </p:txBody>
      </p:sp>
      <p:sp>
        <p:nvSpPr>
          <p:cNvPr id="102" name="Stat 102"/>
          <p:cNvSpPr/>
          <p:nvPr/>
        </p:nvSpPr>
        <p:spPr>
          <a:xfrm>
            <a:off x="73152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18</a:t>
            </a:r>
          </a:p>
          <a:p>
            <a:pPr algn="ctr">
              <a:spcBef>
                <a:spcPts val="0"/>
              </a:spcBef>
              <a:spcAft>
                <a:spcPts val="0"/>
              </a:spcAft>
            </a:pPr>
            <a:r>
              <a:rPr lang="en-US" sz="1700" b="0" i="0" dirty="0">
                <a:solidFill>
                  <a:srgbClr val="5A5A5A"/>
                </a:solidFill>
                <a:latin typeface="Calibri"/>
                <a:cs typeface="Calibri"/>
              </a:rPr>
              <a:t>tracked at once</a:t>
            </a:r>
          </a:p>
        </p:txBody>
      </p:sp>
      <p:sp>
        <p:nvSpPr>
          <p:cNvPr id="103" name="Stat 103"/>
          <p:cNvSpPr/>
          <p:nvPr/>
        </p:nvSpPr>
        <p:spPr>
          <a:xfrm>
            <a:off x="342900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&lt;1s</a:t>
            </a:r>
          </a:p>
          <a:p>
            <a:pPr algn="ctr">
              <a:spcBef>
                <a:spcPts val="0"/>
              </a:spcBef>
              <a:spcAft>
                <a:spcPts val="0"/>
              </a:spcAft>
            </a:pPr>
            <a:r>
              <a:rPr lang="en-US" sz="1700" b="0" i="0" dirty="0">
                <a:solidFill>
                  <a:srgbClr val="5A5A5A"/>
                </a:solidFill>
                <a:latin typeface="Calibri"/>
                <a:cs typeface="Calibri"/>
              </a:rPr>
              <a:t>guard warned</a:t>
            </a:r>
          </a:p>
        </p:txBody>
      </p:sp>
      <p:sp>
        <p:nvSpPr>
          <p:cNvPr id="104" name="Stat 104"/>
          <p:cNvSpPr/>
          <p:nvPr/>
        </p:nvSpPr>
        <p:spPr>
          <a:xfrm>
            <a:off x="612648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15</a:t>
            </a:r>
          </a:p>
          <a:p>
            <a:pPr algn="ctr">
              <a:spcBef>
                <a:spcPts val="0"/>
              </a:spcBef>
              <a:spcAft>
                <a:spcPts val="0"/>
              </a:spcAft>
            </a:pPr>
            <a:r>
              <a:rPr lang="en-US" sz="1700" b="0" i="0" dirty="0">
                <a:solidFill>
                  <a:srgbClr val="5A5A5A"/>
                </a:solidFill>
                <a:latin typeface="Calibri"/>
                <a:cs typeface="Calibri"/>
              </a:rPr>
              <a:t>video checks every second</a:t>
            </a:r>
          </a:p>
        </p:txBody>
      </p:sp>
      <p:sp>
        <p:nvSpPr>
          <p:cNvPr id="105" name="TextBox 105"/>
          <p:cNvSpPr txBox="1"/>
          <p:nvPr/>
        </p:nvSpPr>
        <p:spPr>
          <a:xfrm>
            <a:off x="731520" y="6949440"/>
            <a:ext cx="786384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Watch it work</a:t>
            </a:r>
          </a:p>
        </p:txBody>
      </p:sp>
      <p:sp>
        <p:nvSpPr>
          <p:cNvPr id="106" name="Num 106"/>
          <p:cNvSpPr/>
          <p:nvPr/>
        </p:nvSpPr>
        <p:spPr>
          <a:xfrm>
            <a:off x="731520" y="7589520"/>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1</a:t>
            </a:r>
          </a:p>
        </p:txBody>
      </p:sp>
      <p:sp>
        <p:nvSpPr>
          <p:cNvPr id="107" name="TextBox 107"/>
          <p:cNvSpPr txBox="1"/>
          <p:nvPr/>
        </p:nvSpPr>
        <p:spPr>
          <a:xfrm>
            <a:off x="1417320" y="7552944"/>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Live feed: every person counted, zone density tracked.</a:t>
            </a:r>
          </a:p>
        </p:txBody>
      </p:sp>
      <p:sp>
        <p:nvSpPr>
          <p:cNvPr id="108" name="Num 108"/>
          <p:cNvSpPr/>
          <p:nvPr/>
        </p:nvSpPr>
        <p:spPr>
          <a:xfrm>
            <a:off x="731520" y="8247888"/>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2</a:t>
            </a:r>
          </a:p>
        </p:txBody>
      </p:sp>
      <p:sp>
        <p:nvSpPr>
          <p:cNvPr id="109" name="TextBox 109"/>
          <p:cNvSpPr txBox="1"/>
          <p:nvPr/>
        </p:nvSpPr>
        <p:spPr>
          <a:xfrm>
            <a:off x="1417320" y="8211312"/>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A zone packs up and stops: bottleneck flagged.</a:t>
            </a:r>
          </a:p>
        </p:txBody>
      </p:sp>
      <p:sp>
        <p:nvSpPr>
          <p:cNvPr id="110" name="Num 110"/>
          <p:cNvSpPr/>
          <p:nvPr/>
        </p:nvSpPr>
        <p:spPr>
          <a:xfrm>
            <a:off x="731520" y="8906256"/>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3</a:t>
            </a:r>
          </a:p>
        </p:txBody>
      </p:sp>
      <p:sp>
        <p:nvSpPr>
          <p:cNvPr id="111" name="TextBox 111"/>
          <p:cNvSpPr txBox="1"/>
          <p:nvPr/>
        </p:nvSpPr>
        <p:spPr>
          <a:xfrm>
            <a:off x="1417320" y="8869680"/>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Guard warned in seconds; wall shows time left to critical.</a:t>
            </a:r>
          </a:p>
        </p:txBody>
      </p:sp>
      <p:pic>
        <p:nvPicPr>
          <p:cNvPr id="112" name="Live wall 112" descr="Live wall on real station footage"/>
          <p:cNvPicPr>
            <a:picLocks noChangeAspect="1"/>
          </p:cNvPicPr>
          <p:nvPr/>
        </p:nvPicPr>
        <p:blipFill>
          <a:blip r:embed="rId3"/>
          <a:srcRect l="0" t="7446" r="0" b="7446"/>
          <a:stretch>
            <a:fillRect/>
          </a:stretch>
        </p:blipFill>
        <p:spPr>
          <a:xfrm>
            <a:off x="8961120" y="2606040"/>
            <a:ext cx="8595360" cy="4572000"/>
          </a:xfrm>
          <a:prstGeom prst="roundRect">
            <a:avLst>
              <a:gd name="adj" fmla="val 4000"/>
            </a:avLst>
          </a:prstGeom>
        </p:spPr>
      </p:pic>
      <p:sp>
        <p:nvSpPr>
          <p:cNvPr id="113" name="TextBox 113"/>
          <p:cNvSpPr txBox="1"/>
          <p:nvPr/>
        </p:nvSpPr>
        <p:spPr>
          <a:xfrm>
            <a:off x="8961120" y="7269480"/>
            <a:ext cx="8595360" cy="365760"/>
          </a:xfrm>
          <a:prstGeom prst="rect">
            <a:avLst/>
          </a:prstGeom>
          <a:noFill/>
          <a:ln>
            <a:noFill/>
          </a:ln>
        </p:spPr>
        <p:txBody>
          <a:bodyPr wrap="square" lIns="0" tIns="0" rIns="0" bIns="0" anchor="ctr" rtlCol="0">
            <a:noAutofit/>
          </a:bodyPr>
          <a:lstStyle/>
          <a:p>
            <a:pPr algn="l">
              <a:spcBef>
                <a:spcPts val="0"/>
              </a:spcBef>
              <a:spcAft>
                <a:spcPts val="0"/>
              </a:spcAft>
            </a:pPr>
            <a:r>
              <a:rPr lang="en-US" sz="1600" b="0" i="1" dirty="0">
                <a:solidFill>
                  <a:srgbClr val="5A5A5A"/>
                </a:solidFill>
                <a:latin typeface="Calibri"/>
                <a:cs typeface="Calibri"/>
              </a:rPr>
              <a:t>The live wall, running on real station footage.</a:t>
            </a:r>
          </a:p>
        </p:txBody>
      </p:sp>
      <p:sp>
        <p:nvSpPr>
          <p:cNvPr id="114" name="Legend 114"/>
          <p:cNvSpPr/>
          <p:nvPr/>
        </p:nvSpPr>
        <p:spPr>
          <a:xfrm>
            <a:off x="8961120" y="7818120"/>
            <a:ext cx="8595360" cy="17373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5" name="TextBox 115"/>
          <p:cNvSpPr txBox="1"/>
          <p:nvPr/>
        </p:nvSpPr>
        <p:spPr>
          <a:xfrm>
            <a:off x="9281160" y="7936992"/>
            <a:ext cx="7955280" cy="411480"/>
          </a:xfrm>
          <a:prstGeom prst="rect">
            <a:avLst/>
          </a:prstGeom>
          <a:noFill/>
          <a:ln>
            <a:noFill/>
          </a:ln>
        </p:spPr>
        <p:txBody>
          <a:bodyPr wrap="square" lIns="0" tIns="0" rIns="0" bIns="0" anchor="ctr" rtlCol="0">
            <a:noAutofit/>
          </a:bodyPr>
          <a:lstStyle/>
          <a:p>
            <a:pPr algn="l">
              <a:spcBef>
                <a:spcPts val="0"/>
              </a:spcBef>
              <a:spcAft>
                <a:spcPts val="0"/>
              </a:spcAft>
            </a:pPr>
            <a:r>
              <a:rPr lang="en-US" sz="2000" b="1" i="0" dirty="0">
                <a:solidFill>
                  <a:srgbClr val="1E2761"/>
                </a:solidFill>
                <a:latin typeface="Calibri"/>
                <a:cs typeface="Calibri"/>
              </a:rPr>
              <a:t>What the colours mean</a:t>
            </a:r>
          </a:p>
        </p:txBody>
      </p:sp>
      <p:sp>
        <p:nvSpPr>
          <p:cNvPr id="116" name="Dot 116"/>
          <p:cNvSpPr/>
          <p:nvPr/>
        </p:nvSpPr>
        <p:spPr>
          <a:xfrm>
            <a:off x="9281160" y="8522208"/>
            <a:ext cx="256032" cy="256032"/>
          </a:xfrm>
          <a:prstGeom prst="ellipse">
            <a:avLst/>
          </a:prstGeom>
          <a:solidFill>
            <a:srgbClr val="2E9E5B"/>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7" name="TextBox 117"/>
          <p:cNvSpPr txBox="1"/>
          <p:nvPr/>
        </p:nvSpPr>
        <p:spPr>
          <a:xfrm>
            <a:off x="96469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Calm</a:t>
            </a:r>
          </a:p>
          <a:p>
            <a:pPr algn="l">
              <a:spcBef>
                <a:spcPts val="0"/>
              </a:spcBef>
              <a:spcAft>
                <a:spcPts val="0"/>
              </a:spcAft>
            </a:pPr>
            <a:r>
              <a:rPr lang="en-US" sz="1500" b="0" i="0" dirty="0">
                <a:solidFill>
                  <a:srgbClr val="5A5A5A"/>
                </a:solidFill>
                <a:latin typeface="Calibri"/>
                <a:cs typeface="Calibri"/>
              </a:rPr>
              <a:t>All is well.</a:t>
            </a:r>
          </a:p>
        </p:txBody>
      </p:sp>
      <p:sp>
        <p:nvSpPr>
          <p:cNvPr id="118" name="Dot 118"/>
          <p:cNvSpPr/>
          <p:nvPr/>
        </p:nvSpPr>
        <p:spPr>
          <a:xfrm>
            <a:off x="12024360" y="8522208"/>
            <a:ext cx="256032" cy="256032"/>
          </a:xfrm>
          <a:prstGeom prst="ellipse">
            <a:avLst/>
          </a:prstGeom>
          <a:solidFill>
            <a:srgbClr val="E5B822"/>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9" name="TextBox 119"/>
          <p:cNvSpPr txBox="1"/>
          <p:nvPr/>
        </p:nvSpPr>
        <p:spPr>
          <a:xfrm>
            <a:off x="123901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Watch</a:t>
            </a:r>
          </a:p>
          <a:p>
            <a:pPr algn="l">
              <a:spcBef>
                <a:spcPts val="0"/>
              </a:spcBef>
              <a:spcAft>
                <a:spcPts val="0"/>
              </a:spcAft>
            </a:pPr>
            <a:r>
              <a:rPr lang="en-US" sz="1500" b="0" i="0" dirty="0">
                <a:solidFill>
                  <a:srgbClr val="5A5A5A"/>
                </a:solidFill>
                <a:latin typeface="Calibri"/>
                <a:cs typeface="Calibri"/>
              </a:rPr>
              <a:t>Getting crowded. Guards get an early warning.</a:t>
            </a:r>
          </a:p>
        </p:txBody>
      </p:sp>
      <p:sp>
        <p:nvSpPr>
          <p:cNvPr id="120" name="Dot 120"/>
          <p:cNvSpPr/>
          <p:nvPr/>
        </p:nvSpPr>
        <p:spPr>
          <a:xfrm>
            <a:off x="14767560" y="8522208"/>
            <a:ext cx="256032" cy="256032"/>
          </a:xfrm>
          <a:prstGeom prst="ellipse">
            <a:avLst/>
          </a:prstGeom>
          <a:solidFill>
            <a:srgbClr val="D64545"/>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21" name="TextBox 121"/>
          <p:cNvSpPr txBox="1"/>
          <p:nvPr/>
        </p:nvSpPr>
        <p:spPr>
          <a:xfrm>
            <a:off x="151333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Critical</a:t>
            </a:r>
          </a:p>
          <a:p>
            <a:pPr algn="l">
              <a:spcBef>
                <a:spcPts val="0"/>
              </a:spcBef>
              <a:spcAft>
                <a:spcPts val="0"/>
              </a:spcAft>
            </a:pPr>
            <a:r>
              <a:rPr lang="en-US" sz="1500" b="0" i="0" dirty="0">
                <a:solidFill>
                  <a:srgbClr val="5A5A5A"/>
                </a:solidFill>
                <a:latin typeface="Calibri"/>
                <a:cs typeface="Calibri"/>
              </a:rPr>
              <a:t>Crowd packed and stuck. Clear the area now.</a:t>
            </a:r>
          </a:p>
        </p:txBody>
      </p:sp>
      <p:sp>
        <p:nvSpPr>
          <p:cNvPr id="122" name="TextBox 122"/>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a:ea typeface="Calibri"/>
                <a:cs typeface="Calibri"/>
                <a:sym typeface="Calibri"/>
              </a:rPr>
              <a:t>TECHNICAL APPROACH</a:t>
            </a:r>
          </a:p>
          <a:p>
            <a:pPr algn="ctr">
              <a:lnSpc>
                <a:spcPts val="6719"/>
              </a:lnSpc>
            </a:pPr>
          </a:p>
        </p:txBody>
      </p:sp>
      <p:sp>
        <p:nvSpPr>
          <p:cNvPr id="101" name="Chevron 101"/>
          <p:cNvSpPr/>
          <p:nvPr/>
        </p:nvSpPr>
        <p:spPr>
          <a:xfrm>
            <a:off x="7315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Watch</a:t>
            </a:r>
          </a:p>
        </p:txBody>
      </p:sp>
      <p:sp>
        <p:nvSpPr>
          <p:cNvPr id="102" name="TextBox 102"/>
          <p:cNvSpPr txBox="1"/>
          <p:nvPr/>
        </p:nvSpPr>
        <p:spPr>
          <a:xfrm>
            <a:off x="8686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takes in any camera feed</a:t>
            </a:r>
          </a:p>
        </p:txBody>
      </p:sp>
      <p:sp>
        <p:nvSpPr>
          <p:cNvPr id="103" name="Chevron 103"/>
          <p:cNvSpPr/>
          <p:nvPr/>
        </p:nvSpPr>
        <p:spPr>
          <a:xfrm>
            <a:off x="34747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Spot</a:t>
            </a:r>
          </a:p>
        </p:txBody>
      </p:sp>
      <p:sp>
        <p:nvSpPr>
          <p:cNvPr id="104" name="TextBox 104"/>
          <p:cNvSpPr txBox="1"/>
          <p:nvPr/>
        </p:nvSpPr>
        <p:spPr>
          <a:xfrm>
            <a:off x="36118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finds every person</a:t>
            </a:r>
          </a:p>
        </p:txBody>
      </p:sp>
      <p:sp>
        <p:nvSpPr>
          <p:cNvPr id="105" name="Chevron 105"/>
          <p:cNvSpPr/>
          <p:nvPr/>
        </p:nvSpPr>
        <p:spPr>
          <a:xfrm>
            <a:off x="62179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Follow</a:t>
            </a:r>
          </a:p>
        </p:txBody>
      </p:sp>
      <p:sp>
        <p:nvSpPr>
          <p:cNvPr id="106" name="TextBox 106"/>
          <p:cNvSpPr txBox="1"/>
          <p:nvPr/>
        </p:nvSpPr>
        <p:spPr>
          <a:xfrm>
            <a:off x="63550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keeps track of each one</a:t>
            </a:r>
          </a:p>
        </p:txBody>
      </p:sp>
      <p:sp>
        <p:nvSpPr>
          <p:cNvPr id="107" name="Chevron 107"/>
          <p:cNvSpPr/>
          <p:nvPr/>
        </p:nvSpPr>
        <p:spPr>
          <a:xfrm>
            <a:off x="89611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Know</a:t>
            </a:r>
          </a:p>
        </p:txBody>
      </p:sp>
      <p:sp>
        <p:nvSpPr>
          <p:cNvPr id="108" name="TextBox 108"/>
          <p:cNvSpPr txBox="1"/>
          <p:nvPr/>
        </p:nvSpPr>
        <p:spPr>
          <a:xfrm>
            <a:off x="90982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measures density and flow</a:t>
            </a:r>
          </a:p>
        </p:txBody>
      </p:sp>
      <p:sp>
        <p:nvSpPr>
          <p:cNvPr id="109" name="Chevron 109"/>
          <p:cNvSpPr/>
          <p:nvPr/>
        </p:nvSpPr>
        <p:spPr>
          <a:xfrm>
            <a:off x="117043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Predict</a:t>
            </a:r>
          </a:p>
        </p:txBody>
      </p:sp>
      <p:sp>
        <p:nvSpPr>
          <p:cNvPr id="110" name="TextBox 110"/>
          <p:cNvSpPr txBox="1"/>
          <p:nvPr/>
        </p:nvSpPr>
        <p:spPr>
          <a:xfrm>
            <a:off x="118414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forecasts time to critical</a:t>
            </a:r>
          </a:p>
        </p:txBody>
      </p:sp>
      <p:sp>
        <p:nvSpPr>
          <p:cNvPr id="111" name="Chevron 111"/>
          <p:cNvSpPr/>
          <p:nvPr/>
        </p:nvSpPr>
        <p:spPr>
          <a:xfrm>
            <a:off x="14447520" y="2651760"/>
            <a:ext cx="3108960" cy="1188720"/>
          </a:xfrm>
          <a:prstGeom prst="chevron">
            <a:avLst/>
          </a:prstGeom>
          <a:solidFill>
            <a:srgbClr val="D9A441"/>
          </a:solidFill>
          <a:ln>
            <a:noFill/>
          </a:ln>
        </p:spPr>
        <p:txBody>
          <a:bodyPr wrap="square" lIns="0" tIns="0" rIns="0" bIns="0" anchor="ctr" rtlCol="0">
            <a:noAutofit/>
          </a:bodyPr>
          <a:lstStyle/>
          <a:p>
            <a:pPr algn="ctr">
              <a:spcBef>
                <a:spcPts val="0"/>
              </a:spcBef>
              <a:spcAft>
                <a:spcPts val="0"/>
              </a:spcAft>
            </a:pPr>
            <a:r>
              <a:rPr lang="en-US" sz="2200" b="1" i="0" dirty="0">
                <a:solidFill>
                  <a:srgbClr val="1E2761"/>
                </a:solidFill>
                <a:latin typeface="Calibri"/>
                <a:cs typeface="Calibri"/>
              </a:rPr>
              <a:t>Warn</a:t>
            </a:r>
          </a:p>
        </p:txBody>
      </p:sp>
      <p:sp>
        <p:nvSpPr>
          <p:cNvPr id="112" name="TextBox 112"/>
          <p:cNvSpPr txBox="1"/>
          <p:nvPr/>
        </p:nvSpPr>
        <p:spPr>
          <a:xfrm>
            <a:off x="145846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alerts guards before a crush</a:t>
            </a:r>
          </a:p>
        </p:txBody>
      </p:sp>
      <p:sp>
        <p:nvSpPr>
          <p:cNvPr id="113" name="Banner 113"/>
          <p:cNvSpPr/>
          <p:nvPr/>
        </p:nvSpPr>
        <p:spPr>
          <a:xfrm>
            <a:off x="731520" y="4937760"/>
            <a:ext cx="16824960" cy="777240"/>
          </a:xfrm>
          <a:prstGeom prst="roundRect">
            <a:avLst>
              <a:gd name="adj" fmla="val 20000"/>
            </a:avLst>
          </a:prstGeom>
          <a:solidFill>
            <a:srgbClr val="EEF2FF"/>
          </a:solidFill>
          <a:ln>
            <a:noFill/>
          </a:ln>
        </p:spPr>
        <p:txBody>
          <a:bodyPr wrap="square" lIns="274320" tIns="45720" rIns="274320" bIns="45720" anchor="ctr" rtlCol="0">
            <a:noAutofit/>
          </a:bodyPr>
          <a:lstStyle/>
          <a:p>
            <a:pPr algn="ctr">
              <a:spcBef>
                <a:spcPts val="0"/>
              </a:spcBef>
              <a:spcAft>
                <a:spcPts val="0"/>
              </a:spcAft>
            </a:pPr>
            <a:r>
              <a:rPr lang="en-US" sz="2200" b="0" i="0" dirty="0">
                <a:solidFill>
                  <a:srgbClr val="1E2761"/>
                </a:solidFill>
                <a:latin typeface="Calibri"/>
                <a:cs typeface="Calibri"/>
              </a:rPr>
              <a:t>In plain words: cameras share one venue map, the software flags where the crowd stops moving, and it warns guards before a crush builds.</a:t>
            </a:r>
          </a:p>
        </p:txBody>
      </p:sp>
      <p:pic>
        <p:nvPicPr>
          <p:cNvPr id="114" name="Tracking 114" descr="People being followed in a station crowd"/>
          <p:cNvPicPr>
            <a:picLocks noChangeAspect="1"/>
          </p:cNvPicPr>
          <p:nvPr/>
        </p:nvPicPr>
        <p:blipFill>
          <a:blip r:embed="rId3"/>
          <a:srcRect l="0" t="1951" r="0" b="1951"/>
          <a:stretch>
            <a:fillRect/>
          </a:stretch>
        </p:blipFill>
        <p:spPr>
          <a:xfrm>
            <a:off x="731520" y="5989320"/>
            <a:ext cx="6766560" cy="3657600"/>
          </a:xfrm>
          <a:prstGeom prst="roundRect">
            <a:avLst>
              <a:gd name="adj" fmla="val 4000"/>
            </a:avLst>
          </a:prstGeom>
        </p:spPr>
      </p:pic>
      <p:sp>
        <p:nvSpPr>
          <p:cNvPr id="115" name="Card 115"/>
          <p:cNvSpPr/>
          <p:nvPr/>
        </p:nvSpPr>
        <p:spPr>
          <a:xfrm>
            <a:off x="7863840" y="598932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Crowd metrics, not faces</a:t>
            </a:r>
          </a:p>
          <a:p>
            <a:pPr algn="l">
              <a:lnSpc>
                <a:spcPct val="100000"/>
              </a:lnSpc>
              <a:spcBef>
                <a:spcPts val="0"/>
              </a:spcBef>
              <a:spcAft>
                <a:spcPts val="0"/>
              </a:spcAft>
            </a:pPr>
            <a:r>
              <a:rPr lang="en-US" sz="1800" b="0" i="0" dirty="0">
                <a:solidFill>
                  <a:srgbClr val="111111"/>
                </a:solidFill>
                <a:latin typeface="Calibri"/>
                <a:cs typeface="Calibri"/>
              </a:rPr>
              <a:t>Risk = density x stillness x counterflow. Stillness only escalates risk when the zone is also packed.</a:t>
            </a:r>
          </a:p>
        </p:txBody>
      </p:sp>
      <p:sp>
        <p:nvSpPr>
          <p:cNvPr id="116" name="Card 116"/>
          <p:cNvSpPr/>
          <p:nvPr/>
        </p:nvSpPr>
        <p:spPr>
          <a:xfrm>
            <a:off x="7863840" y="726948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Tested on real video</a:t>
            </a:r>
          </a:p>
          <a:p>
            <a:pPr algn="l">
              <a:lnSpc>
                <a:spcPct val="100000"/>
              </a:lnSpc>
              <a:spcBef>
                <a:spcPts val="0"/>
              </a:spcBef>
              <a:spcAft>
                <a:spcPts val="0"/>
              </a:spcAft>
            </a:pPr>
            <a:r>
              <a:rPr lang="en-US" sz="1800" b="0" i="0" dirty="0">
                <a:solidFill>
                  <a:srgbClr val="111111"/>
                </a:solidFill>
                <a:latin typeface="Calibri"/>
                <a:cs typeface="Calibri"/>
              </a:rPr>
              <a:t>Followed 18 people at once across 2 minutes of busy station video.</a:t>
            </a:r>
          </a:p>
        </p:txBody>
      </p:sp>
      <p:sp>
        <p:nvSpPr>
          <p:cNvPr id="117" name="Card 117"/>
          <p:cNvSpPr/>
          <p:nvPr/>
        </p:nvSpPr>
        <p:spPr>
          <a:xfrm>
            <a:off x="7863840" y="854964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Works with normal cameras</a:t>
            </a:r>
          </a:p>
          <a:p>
            <a:pPr algn="l">
              <a:lnSpc>
                <a:spcPct val="100000"/>
              </a:lnSpc>
              <a:spcBef>
                <a:spcPts val="0"/>
              </a:spcBef>
              <a:spcAft>
                <a:spcPts val="0"/>
              </a:spcAft>
            </a:pPr>
            <a:r>
              <a:rPr lang="en-US" sz="1800" b="0" i="0" dirty="0">
                <a:solidFill>
                  <a:srgbClr val="111111"/>
                </a:solidFill>
                <a:latin typeface="Calibri"/>
                <a:cs typeface="Calibri"/>
              </a:rPr>
              <a:t>Cameras link into one venue graph, so a jam is traced back to where it started. High, wide angles measure density best.</a:t>
            </a:r>
          </a:p>
        </p:txBody>
      </p:sp>
      <p:sp>
        <p:nvSpPr>
          <p:cNvPr id="118" name="TextBox 118"/>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a:ea typeface="Calibri"/>
                <a:cs typeface="Calibri"/>
                <a:sym typeface="Calibri"/>
              </a:rPr>
              <a:t>FEASIBILITY AND VIABILITY</a:t>
            </a:r>
          </a:p>
          <a:p>
            <a:pPr algn="ctr">
              <a:lnSpc>
                <a:spcPts val="7240"/>
              </a:lnSpc>
            </a:pPr>
          </a:p>
        </p:txBody>
      </p:sp>
      <p:sp>
        <p:nvSpPr>
          <p:cNvPr id="101" name="ChartCard 101"/>
          <p:cNvSpPr/>
          <p:nvPr/>
        </p:nvSpPr>
        <p:spPr>
          <a:xfrm>
            <a:off x="731520" y="2651760"/>
            <a:ext cx="8229600" cy="6949440"/>
          </a:xfrm>
          <a:prstGeom prst="roundRect">
            <a:avLst>
              <a:gd name="adj" fmla="val 5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graphicFrame>
        <p:nvGraphicFramePr>
          <p:cNvPr id="5" name="Chart 4"/>
          <p:cNvGraphicFramePr>
            <a:graphicFrameLocks noGrp="1"/>
          </p:cNvGraphicFramePr>
          <p:nvPr/>
        </p:nvGraphicFramePr>
        <p:xfrm>
          <a:off x="914400" y="2788920"/>
          <a:ext cx="7863840" cy="5943600"/>
        </p:xfrm>
        <a:graphic>
          <a:graphicData uri="http://schemas.openxmlformats.org/drawingml/2006/chart">
            <c:chart xmlns:c="http://schemas.openxmlformats.org/drawingml/2006/chart" r:id="rId3"/>
          </a:graphicData>
        </a:graphic>
      </p:graphicFrame>
      <p:sp>
        <p:nvSpPr>
          <p:cNvPr id="102" name="TextBox 102"/>
          <p:cNvSpPr txBox="1"/>
          <p:nvPr/>
        </p:nvSpPr>
        <p:spPr>
          <a:xfrm>
            <a:off x="1097280" y="8823960"/>
            <a:ext cx="7498080" cy="685800"/>
          </a:xfrm>
          <a:prstGeom prst="rect">
            <a:avLst/>
          </a:prstGeom>
          <a:noFill/>
          <a:ln>
            <a:noFill/>
          </a:ln>
        </p:spPr>
        <p:txBody>
          <a:bodyPr wrap="square" lIns="0" tIns="0" rIns="0" bIns="0" anchor="ctr" rtlCol="0">
            <a:noAutofit/>
          </a:bodyPr>
          <a:lstStyle/>
          <a:p>
            <a:pPr algn="ctr">
              <a:spcBef>
                <a:spcPts val="0"/>
              </a:spcBef>
              <a:spcAft>
                <a:spcPts val="0"/>
              </a:spcAft>
            </a:pPr>
            <a:r>
              <a:rPr lang="en-US" sz="1700" b="0" i="0" dirty="0">
                <a:solidFill>
                  <a:srgbClr val="5A5A5A"/>
                </a:solidFill>
                <a:latin typeface="Calibri"/>
                <a:cs typeface="Calibri"/>
              </a:rPr>
              <a:t>Model and tracker time only, same laptop. FPS stays above 30 even when the frame fills with people.</a:t>
            </a:r>
          </a:p>
        </p:txBody>
      </p:sp>
      <p:sp>
        <p:nvSpPr>
          <p:cNvPr id="103" name="Card 103"/>
          <p:cNvSpPr/>
          <p:nvPr/>
        </p:nvSpPr>
        <p:spPr>
          <a:xfrm>
            <a:off x="9326880" y="26517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Forecast</a:t>
            </a:r>
          </a:p>
          <a:p>
            <a:pPr algn="l">
              <a:lnSpc>
                <a:spcPct val="100000"/>
              </a:lnSpc>
              <a:spcBef>
                <a:spcPts val="0"/>
              </a:spcBef>
              <a:spcAft>
                <a:spcPts val="0"/>
              </a:spcAft>
            </a:pPr>
            <a:r>
              <a:rPr lang="en-US" sz="2000" b="0" i="0" dirty="0">
                <a:solidFill>
                  <a:srgbClr val="111111"/>
                </a:solidFill>
                <a:latin typeface="Calibri"/>
                <a:cs typeface="Calibri"/>
              </a:rPr>
              <a:t>The trend is fitted live, so the wall shows seconds to critical before the jam locks.</a:t>
            </a:r>
          </a:p>
        </p:txBody>
      </p:sp>
      <p:sp>
        <p:nvSpPr>
          <p:cNvPr id="104" name="Card 104"/>
          <p:cNvSpPr/>
          <p:nvPr/>
        </p:nvSpPr>
        <p:spPr>
          <a:xfrm>
            <a:off x="9326880" y="40233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Red alert</a:t>
            </a:r>
          </a:p>
          <a:p>
            <a:pPr algn="l">
              <a:lnSpc>
                <a:spcPct val="100000"/>
              </a:lnSpc>
              <a:spcBef>
                <a:spcPts val="0"/>
              </a:spcBef>
              <a:spcAft>
                <a:spcPts val="0"/>
              </a:spcAft>
            </a:pPr>
            <a:r>
              <a:rPr lang="en-US" sz="2000" b="0" i="0" dirty="0">
                <a:solidFill>
                  <a:srgbClr val="111111"/>
                </a:solidFill>
                <a:latin typeface="Calibri"/>
                <a:cs typeface="Calibri"/>
              </a:rPr>
              <a:t>Fires when a zone packs tight and stops. The wall counts down the seconds to critical.</a:t>
            </a:r>
          </a:p>
        </p:txBody>
      </p:sp>
      <p:sp>
        <p:nvSpPr>
          <p:cNvPr id="105" name="Card 105"/>
          <p:cNvSpPr/>
          <p:nvPr/>
        </p:nvSpPr>
        <p:spPr>
          <a:xfrm>
            <a:off x="9326880" y="53949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Built to scale out</a:t>
            </a:r>
          </a:p>
          <a:p>
            <a:pPr algn="l">
              <a:lnSpc>
                <a:spcPct val="100000"/>
              </a:lnSpc>
              <a:spcBef>
                <a:spcPts val="0"/>
              </a:spcBef>
              <a:spcAft>
                <a:spcPts val="0"/>
              </a:spcAft>
            </a:pPr>
            <a:r>
              <a:rPr lang="en-US" sz="2000" b="0" i="0" dirty="0">
                <a:solidFill>
                  <a:srgbClr val="111111"/>
                </a:solidFill>
                <a:latin typeface="Calibri"/>
                <a:cs typeface="Calibri"/>
              </a:rPr>
              <a:t>One laptop runs a venue today; an edge box per camera scales to mass gatherings.</a:t>
            </a:r>
          </a:p>
        </p:txBody>
      </p:sp>
      <p:pic>
        <p:nvPicPr>
          <p:cNvPr id="106" name="Crowd 106" descr="Station concourse crowd"/>
          <p:cNvPicPr>
            <a:picLocks noChangeAspect="1"/>
          </p:cNvPicPr>
          <p:nvPr/>
        </p:nvPicPr>
        <p:blipFill>
          <a:blip r:embed="rId4"/>
          <a:srcRect l="0" t="19876" r="0" b="19876"/>
          <a:stretch>
            <a:fillRect/>
          </a:stretch>
        </p:blipFill>
        <p:spPr>
          <a:xfrm>
            <a:off x="9326880" y="6812280"/>
            <a:ext cx="8229600" cy="2788920"/>
          </a:xfrm>
          <a:prstGeom prst="roundRect">
            <a:avLst>
              <a:gd name="adj" fmla="val 4000"/>
            </a:avLst>
          </a:prstGeom>
        </p:spPr>
      </p:pic>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a:ea typeface="Calibri"/>
                <a:cs typeface="Calibri"/>
                <a:sym typeface="Calibri"/>
              </a:rPr>
              <a:t>IMPACT AND BENEFITS</a:t>
            </a:r>
          </a:p>
          <a:p>
            <a:pPr algn="ctr">
              <a:lnSpc>
                <a:spcPts val="7300"/>
              </a:lnSpc>
            </a:pPr>
          </a:p>
        </p:txBody>
      </p:sp>
      <p:sp>
        <p:nvSpPr>
          <p:cNvPr id="102" name="Before 102"/>
          <p:cNvSpPr/>
          <p:nvPr/>
        </p:nvSpPr>
        <p:spPr>
          <a:xfrm>
            <a:off x="8869680" y="2651760"/>
            <a:ext cx="8686800" cy="1188720"/>
          </a:xfrm>
          <a:prstGeom prst="roundRect">
            <a:avLst>
              <a:gd name="adj" fmla="val 9000"/>
            </a:avLst>
          </a:prstGeom>
          <a:solidFill>
            <a:srgbClr val="F1F2F6"/>
          </a:solidFill>
          <a:ln>
            <a:noFill/>
          </a:ln>
        </p:spPr>
        <p:txBody>
          <a:bodyPr wrap="square" lIns="320040" tIns="91440" rIns="320040" bIns="91440" anchor="ctr" rtlCol="0">
            <a:noAutofit/>
          </a:bodyPr>
          <a:lstStyle/>
          <a:p>
            <a:pPr algn="l">
              <a:spcBef>
                <a:spcPts val="0"/>
              </a:spcBef>
              <a:spcAft>
                <a:spcPts val="200"/>
              </a:spcAft>
            </a:pPr>
            <a:r>
              <a:rPr lang="en-US" sz="2000" b="1" i="0" dirty="0">
                <a:solidFill>
                  <a:srgbClr val="5A5A5A"/>
                </a:solidFill>
                <a:latin typeface="Calibri"/>
                <a:cs typeface="Calibri"/>
              </a:rPr>
              <a:t>Before</a:t>
            </a:r>
          </a:p>
          <a:p>
            <a:pPr algn="l">
              <a:spcBef>
                <a:spcPts val="0"/>
              </a:spcBef>
              <a:spcAft>
                <a:spcPts val="0"/>
              </a:spcAft>
            </a:pPr>
            <a:r>
              <a:rPr lang="en-US" sz="2100" b="0" i="0" dirty="0">
                <a:solidFill>
                  <a:srgbClr val="111111"/>
                </a:solidFill>
                <a:latin typeface="Calibri"/>
                <a:cs typeface="Calibri"/>
              </a:rPr>
              <a:t>A wall of screens, one tired guard, and risks get missed.</a:t>
            </a:r>
          </a:p>
        </p:txBody>
      </p:sp>
      <p:sp>
        <p:nvSpPr>
          <p:cNvPr id="103" name="After 103"/>
          <p:cNvSpPr/>
          <p:nvPr/>
        </p:nvSpPr>
        <p:spPr>
          <a:xfrm>
            <a:off x="8869680" y="3977640"/>
            <a:ext cx="8686800" cy="118872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91440" rIns="320040" bIns="91440" anchor="ctr" rtlCol="0">
            <a:noAutofit/>
          </a:bodyPr>
          <a:lstStyle/>
          <a:p>
            <a:pPr algn="l">
              <a:spcBef>
                <a:spcPts val="0"/>
              </a:spcBef>
              <a:spcAft>
                <a:spcPts val="200"/>
              </a:spcAft>
            </a:pPr>
            <a:r>
              <a:rPr lang="en-US" sz="2000" b="1" i="0" dirty="0">
                <a:solidFill>
                  <a:srgbClr val="D9A441"/>
                </a:solidFill>
                <a:latin typeface="Calibri"/>
                <a:cs typeface="Calibri"/>
              </a:rPr>
              <a:t>After</a:t>
            </a:r>
          </a:p>
          <a:p>
            <a:pPr algn="l">
              <a:spcBef>
                <a:spcPts val="0"/>
              </a:spcBef>
              <a:spcAft>
                <a:spcPts val="0"/>
              </a:spcAft>
            </a:pPr>
            <a:r>
              <a:rPr lang="en-US" sz="2100" b="1" i="0" dirty="0">
                <a:solidFill>
                  <a:srgbClr val="FFFFFF"/>
                </a:solidFill>
                <a:latin typeface="Calibri"/>
                <a:cs typeface="Calibri"/>
              </a:rPr>
              <a:t>One screen ranks zones and traces jams to their origin: security moves from reactive to proactive.</a:t>
            </a:r>
          </a:p>
        </p:txBody>
      </p:sp>
      <p:sp>
        <p:nvSpPr>
          <p:cNvPr id="104" name="Card 104"/>
          <p:cNvSpPr/>
          <p:nvPr/>
        </p:nvSpPr>
        <p:spPr>
          <a:xfrm>
            <a:off x="8869680" y="544068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Organizers</a:t>
            </a:r>
          </a:p>
          <a:p>
            <a:pPr algn="l">
              <a:lnSpc>
                <a:spcPct val="100000"/>
              </a:lnSpc>
              <a:spcBef>
                <a:spcPts val="0"/>
              </a:spcBef>
              <a:spcAft>
                <a:spcPts val="0"/>
              </a:spcAft>
            </a:pPr>
            <a:r>
              <a:rPr lang="en-US" sz="1800" b="0" i="0" dirty="0">
                <a:solidFill>
                  <a:srgbClr val="111111"/>
                </a:solidFill>
                <a:latin typeface="Calibri"/>
                <a:cs typeface="Calibri"/>
              </a:rPr>
              <a:t>Spot a growing jam early, and tell guards which zone to clear.</a:t>
            </a:r>
          </a:p>
        </p:txBody>
      </p:sp>
      <p:sp>
        <p:nvSpPr>
          <p:cNvPr id="105" name="Card 105"/>
          <p:cNvSpPr/>
          <p:nvPr/>
        </p:nvSpPr>
        <p:spPr>
          <a:xfrm>
            <a:off x="8869680" y="685800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Police</a:t>
            </a:r>
          </a:p>
          <a:p>
            <a:pPr algn="l">
              <a:lnSpc>
                <a:spcPct val="100000"/>
              </a:lnSpc>
              <a:spcBef>
                <a:spcPts val="0"/>
              </a:spcBef>
              <a:spcAft>
                <a:spcPts val="0"/>
              </a:spcAft>
            </a:pPr>
            <a:r>
              <a:rPr lang="en-US" sz="1800" b="0" i="0" dirty="0">
                <a:solidFill>
                  <a:srgbClr val="111111"/>
                </a:solidFill>
                <a:latin typeface="Calibri"/>
                <a:cs typeface="Calibri"/>
              </a:rPr>
              <a:t>Every alert, zone and action exports as one evidence pack in a click.</a:t>
            </a:r>
          </a:p>
        </p:txBody>
      </p:sp>
      <p:sp>
        <p:nvSpPr>
          <p:cNvPr id="106" name="Card 106"/>
          <p:cNvSpPr/>
          <p:nvPr/>
        </p:nvSpPr>
        <p:spPr>
          <a:xfrm>
            <a:off x="8869680" y="827532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Public</a:t>
            </a:r>
          </a:p>
          <a:p>
            <a:pPr algn="l">
              <a:lnSpc>
                <a:spcPct val="100000"/>
              </a:lnSpc>
              <a:spcBef>
                <a:spcPts val="0"/>
              </a:spcBef>
              <a:spcAft>
                <a:spcPts val="0"/>
              </a:spcAft>
            </a:pPr>
            <a:r>
              <a:rPr lang="en-US" sz="1800" b="0" i="0" dirty="0">
                <a:solidFill>
                  <a:srgbClr val="111111"/>
                </a:solidFill>
                <a:latin typeface="Calibri"/>
                <a:cs typeface="Calibri"/>
              </a:rPr>
              <a:t>Faces stay blurred in saved video.</a:t>
            </a:r>
          </a:p>
        </p:txBody>
      </p:sp>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08" name="TextBox 107"/>
          <p:cNvSpPr txBox="1"/>
          <p:nvPr/>
        </p:nvSpPr>
        <p:spPr>
          <a:xfrm>
            <a:off x="731520" y="2651760"/>
            <a:ext cx="7680960" cy="548640"/>
          </a:xfrm>
          <a:prstGeom prst="rect">
            <a:avLst/>
          </a:prstGeom>
          <a:noFill/>
        </p:spPr>
        <p:txBody>
          <a:bodyPr wrap="none">
            <a:spAutoFit/>
          </a:bodyPr>
          <a:lstStyle/>
          <a:p>
            <a:r>
              <a:rPr sz="2400" b="1">
                <a:solidFill>
                  <a:srgbClr val="1E2761"/>
                </a:solidFill>
                <a:latin typeface="Calibri"/>
              </a:rPr>
              <a:t>When the alarm goes up</a:t>
            </a:r>
          </a:p>
        </p:txBody>
      </p:sp>
      <p:sp>
        <p:nvSpPr>
          <p:cNvPr id="109" name="Rounded Rectangle 108"/>
          <p:cNvSpPr/>
          <p:nvPr/>
        </p:nvSpPr>
        <p:spPr>
          <a:xfrm>
            <a:off x="731520" y="333756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05840" y="3520440"/>
            <a:ext cx="7132320" cy="1234440"/>
          </a:xfrm>
          <a:prstGeom prst="rect">
            <a:avLst/>
          </a:prstGeom>
          <a:noFill/>
        </p:spPr>
        <p:txBody>
          <a:bodyPr wrap="square">
            <a:spAutoFit/>
          </a:bodyPr>
          <a:lstStyle/>
          <a:p>
            <a:r>
              <a:rPr sz="2200" b="1">
                <a:solidFill>
                  <a:srgbClr val="FFFFFF"/>
                </a:solidFill>
                <a:latin typeface="Calibri"/>
              </a:rPr>
              <a:t>Yellow watch</a:t>
            </a:r>
          </a:p>
          <a:p>
            <a:pPr>
              <a:spcBef>
                <a:spcPts val="400"/>
              </a:spcBef>
            </a:pPr>
            <a:r>
              <a:rPr sz="1800">
                <a:solidFill>
                  <a:srgbClr val="FFFFFF"/>
                </a:solidFill>
                <a:latin typeface="Calibri"/>
              </a:rPr>
              <a:t>Guards keep eyes on the zone. Crowd flow is slowed.</a:t>
            </a:r>
          </a:p>
        </p:txBody>
      </p:sp>
      <p:sp>
        <p:nvSpPr>
          <p:cNvPr id="111" name="Rounded Rectangle 110"/>
          <p:cNvSpPr/>
          <p:nvPr/>
        </p:nvSpPr>
        <p:spPr>
          <a:xfrm>
            <a:off x="731520" y="507492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05840" y="5257800"/>
            <a:ext cx="7132320" cy="1234440"/>
          </a:xfrm>
          <a:prstGeom prst="rect">
            <a:avLst/>
          </a:prstGeom>
          <a:noFill/>
        </p:spPr>
        <p:txBody>
          <a:bodyPr wrap="square">
            <a:spAutoFit/>
          </a:bodyPr>
          <a:lstStyle/>
          <a:p>
            <a:r>
              <a:rPr sz="2200" b="1">
                <a:solidFill>
                  <a:srgbClr val="FFFFFF"/>
                </a:solidFill>
                <a:latin typeface="Calibri"/>
              </a:rPr>
              <a:t>Red alert</a:t>
            </a:r>
          </a:p>
          <a:p>
            <a:pPr>
              <a:spcBef>
                <a:spcPts val="400"/>
              </a:spcBef>
            </a:pPr>
            <a:r>
              <a:rPr sz="1800">
                <a:solidFill>
                  <a:srgbClr val="FFFFFF"/>
                </a:solidFill>
                <a:latin typeface="Calibri"/>
              </a:rPr>
              <a:t>Guards get steps on their handsets; a human confirms before any PA or door release.</a:t>
            </a:r>
          </a:p>
        </p:txBody>
      </p:sp>
      <p:sp>
        <p:nvSpPr>
          <p:cNvPr id="113" name="Rounded Rectangle 112"/>
          <p:cNvSpPr/>
          <p:nvPr/>
        </p:nvSpPr>
        <p:spPr>
          <a:xfrm>
            <a:off x="731520" y="681228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005840" y="6995160"/>
            <a:ext cx="7132320" cy="1234440"/>
          </a:xfrm>
          <a:prstGeom prst="rect">
            <a:avLst/>
          </a:prstGeom>
          <a:noFill/>
        </p:spPr>
        <p:txBody>
          <a:bodyPr wrap="square">
            <a:spAutoFit/>
          </a:bodyPr>
          <a:lstStyle/>
          <a:p>
            <a:r>
              <a:rPr sz="2200" b="1">
                <a:solidFill>
                  <a:srgbClr val="FFFFFF"/>
                </a:solidFill>
                <a:latin typeface="Calibri"/>
              </a:rPr>
              <a:t>Handover</a:t>
            </a:r>
          </a:p>
          <a:p>
            <a:pPr>
              <a:spcBef>
                <a:spcPts val="400"/>
              </a:spcBef>
            </a:pPr>
            <a:r>
              <a:rPr sz="1800">
                <a:solidFill>
                  <a:srgbClr val="FFFFFF"/>
                </a:solidFill>
                <a:latin typeface="Calibri"/>
              </a:rPr>
              <a:t>A sealed evidence pack goes to the police.</a:t>
            </a:r>
          </a:p>
        </p:txBody>
      </p:sp>
      <p:sp>
        <p:nvSpPr>
          <p:cNvPr id="115" name="Rounded Rectangle 114"/>
          <p:cNvSpPr/>
          <p:nvPr/>
        </p:nvSpPr>
        <p:spPr>
          <a:xfrm>
            <a:off x="731520" y="8549640"/>
            <a:ext cx="7680960" cy="8686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005840" y="8732519"/>
            <a:ext cx="7132320" cy="502919"/>
          </a:xfrm>
          <a:prstGeom prst="rect">
            <a:avLst/>
          </a:prstGeom>
          <a:noFill/>
        </p:spPr>
        <p:txBody>
          <a:bodyPr wrap="square">
            <a:spAutoFit/>
          </a:bodyPr>
          <a:lstStyle/>
          <a:p>
            <a:r>
              <a:rPr sz="1700" b="1">
                <a:solidFill>
                  <a:srgbClr val="1E2761"/>
                </a:solidFill>
                <a:latin typeface="Calibri"/>
              </a:rPr>
              <a:t>Pilot targets: tens of seconds forecast before critical, guard warned under 1 second, every step logged.</a:t>
            </a:r>
          </a:p>
          <a:p>
            <a:pPr>
              <a:spcBef>
                <a:spcPts val="400"/>
              </a:spcBef>
            </a:pPr>
            <a:r>
              <a:rPr sz="1700">
                <a:solidFill>
                  <a:srgbClr val="1E2761"/>
                </a:solidFill>
                <a:latin typeface="Calibri"/>
              </a:rPr>
              <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a:ea typeface="Calibri"/>
                <a:cs typeface="Calibri"/>
                <a:sym typeface="Calibri"/>
              </a:rPr>
              <a:t>RESEARCH AND REFERENCES</a:t>
            </a:r>
          </a:p>
          <a:p>
            <a:pPr algn="ctr">
              <a:lnSpc>
                <a:spcPts val="7198"/>
              </a:lnSpc>
            </a:pPr>
          </a:p>
        </p:txBody>
      </p:sp>
      <p:sp>
        <p:nvSpPr>
          <p:cNvPr id="101" name="TextBox 101"/>
          <p:cNvSpPr txBox="1"/>
          <p:nvPr/>
        </p:nvSpPr>
        <p:spPr>
          <a:xfrm>
            <a:off x="731520" y="2514600"/>
            <a:ext cx="914400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The science behind it</a:t>
            </a:r>
          </a:p>
        </p:txBody>
      </p:sp>
      <p:sp>
        <p:nvSpPr>
          <p:cNvPr id="102" name="Card 102"/>
          <p:cNvSpPr/>
          <p:nvPr/>
        </p:nvSpPr>
        <p:spPr>
          <a:xfrm>
            <a:off x="731520" y="310896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Finding and following people</a:t>
            </a:r>
          </a:p>
          <a:p>
            <a:pPr algn="l">
              <a:lnSpc>
                <a:spcPct val="100000"/>
              </a:lnSpc>
              <a:spcBef>
                <a:spcPts val="0"/>
              </a:spcBef>
              <a:spcAft>
                <a:spcPts val="0"/>
              </a:spcAft>
            </a:pPr>
            <a:r>
              <a:rPr lang="en-US" sz="1700" b="0" i="0" dirty="0">
                <a:solidFill>
                  <a:srgbClr val="111111"/>
                </a:solidFill>
                <a:latin typeface="Calibri"/>
                <a:cs typeface="Calibri"/>
              </a:rPr>
              <a:t>Finds every person and follows each one. Uses YOLOv8 and ByteTrack, the standard real-time pairing for crowd tracking.</a:t>
            </a:r>
          </a:p>
          <a:p>
            <a:pPr>
              <a:spcBef>
                <a:spcPts val="400"/>
              </a:spcBef>
              <a:spcAft>
                <a:spcPts val="0"/>
              </a:spcAft>
            </a:pPr>
            <a:r>
              <a:rPr sz="1400">
                <a:solidFill>
                  <a:srgbClr val="5A5A5A"/>
                </a:solidFill>
                <a:latin typeface="Calibri"/>
              </a:rPr>
              <a:t>Code: </a:t>
            </a:r>
            <a:r>
              <a:rPr sz="1400" b="1" u="sng">
                <a:solidFill>
                  <a:srgbClr val="1E2761"/>
                </a:solidFill>
                <a:latin typeface="Calibri"/>
                <a:hlinkClick r:id="rId4"/>
              </a:rPr>
              <a:t>github.com/ultralytics/ultralytics</a:t>
            </a:r>
            <a:r>
              <a:rPr sz="1400">
                <a:solidFill>
                  <a:srgbClr val="5A5A5A"/>
                </a:solidFill>
                <a:latin typeface="Calibri"/>
              </a:rPr>
              <a:t>, </a:t>
            </a:r>
            <a:r>
              <a:rPr sz="1400" b="1" u="sng">
                <a:solidFill>
                  <a:srgbClr val="1E2761"/>
                </a:solidFill>
                <a:latin typeface="Calibri"/>
                <a:hlinkClick r:id="rId5"/>
              </a:rPr>
              <a:t>github.com/ifzhang/ByteTrack</a:t>
            </a:r>
          </a:p>
        </p:txBody>
      </p:sp>
      <p:sp>
        <p:nvSpPr>
          <p:cNvPr id="103" name="Card 103"/>
          <p:cNvSpPr/>
          <p:nvPr/>
        </p:nvSpPr>
        <p:spPr>
          <a:xfrm>
            <a:off x="9326880" y="310896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Phase 2: face search</a:t>
            </a:r>
          </a:p>
          <a:p>
            <a:pPr algn="l">
              <a:lnSpc>
                <a:spcPct val="100000"/>
              </a:lnSpc>
              <a:spcBef>
                <a:spcPts val="0"/>
              </a:spcBef>
              <a:spcAft>
                <a:spcPts val="0"/>
              </a:spcAft>
            </a:pPr>
            <a:r>
              <a:rPr lang="en-US" sz="1700" b="0" i="0" dirty="0">
                <a:solidFill>
                  <a:srgbClr val="111111"/>
                </a:solidFill>
                <a:latin typeface="Calibri"/>
                <a:cs typeface="Calibri"/>
              </a:rPr>
              <a:t>Not in the MVP. The pipeline is modular, so agencies can plug in their own face-search API later for post-incident cases (opt-in, B2G).</a:t>
            </a:r>
          </a:p>
          <a:p>
            <a:pPr>
              <a:spcBef>
                <a:spcPts val="400"/>
              </a:spcBef>
              <a:spcAft>
                <a:spcPts val="0"/>
              </a:spcAft>
            </a:pPr>
            <a:r>
              <a:rPr sz="1400">
                <a:solidFill>
                  <a:srgbClr val="5A5A5A"/>
                </a:solidFill>
                <a:latin typeface="Calibri"/>
              </a:rPr>
              <a:t>Code: </a:t>
            </a:r>
            <a:r>
              <a:rPr sz="1400" b="1" u="sng">
                <a:solidFill>
                  <a:srgbClr val="1E2761"/>
                </a:solidFill>
                <a:latin typeface="Calibri"/>
                <a:hlinkClick r:id="rId6"/>
              </a:rPr>
              <a:t>github.com/deepinsight/insightface</a:t>
            </a:r>
            <a:r>
              <a:rPr sz="1400">
                <a:solidFill>
                  <a:srgbClr val="5A5A5A"/>
                </a:solidFill>
                <a:latin typeface="Calibri"/>
              </a:rPr>
              <a:t>, </a:t>
            </a:r>
            <a:r>
              <a:rPr sz="1400" b="1" u="sng">
                <a:solidFill>
                  <a:srgbClr val="1E2761"/>
                </a:solidFill>
                <a:latin typeface="Calibri"/>
                <a:hlinkClick r:id="rId7"/>
              </a:rPr>
              <a:t>github.com/facebookresearch/faiss</a:t>
            </a:r>
          </a:p>
        </p:txBody>
      </p:sp>
      <p:sp>
        <p:nvSpPr>
          <p:cNvPr id="104" name="Card 104"/>
          <p:cNvSpPr/>
          <p:nvPr/>
        </p:nvSpPr>
        <p:spPr>
          <a:xfrm>
            <a:off x="731520" y="480060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Predicting crushes</a:t>
            </a:r>
          </a:p>
          <a:p>
            <a:pPr algn="l">
              <a:lnSpc>
                <a:spcPct val="100000"/>
              </a:lnSpc>
              <a:spcBef>
                <a:spcPts val="0"/>
              </a:spcBef>
              <a:spcAft>
                <a:spcPts val="0"/>
              </a:spcAft>
            </a:pPr>
            <a:r>
              <a:rPr lang="en-US" sz="1700" b="0" i="0" dirty="0">
                <a:solidFill>
                  <a:srgbClr val="111111"/>
                </a:solidFill>
                <a:latin typeface="Calibri"/>
                <a:cs typeface="Calibri"/>
              </a:rPr>
              <a:t>The AURORA warning model plus our live optical-flow stall meter spot danger early. A Delhi trial cut response time by 37 percent.</a:t>
            </a:r>
          </a:p>
          <a:p>
            <a:pPr>
              <a:spcBef>
                <a:spcPts val="400"/>
              </a:spcBef>
              <a:spcAft>
                <a:spcPts val="0"/>
              </a:spcAft>
            </a:pPr>
            <a:r>
              <a:rPr sz="1400">
                <a:solidFill>
                  <a:srgbClr val="5A5A5A"/>
                </a:solidFill>
                <a:latin typeface="Calibri"/>
              </a:rPr>
              <a:t>Ideas: AURORA warning model, optical-flow stall metrics, STAR-Crowd Delhi trial</a:t>
            </a:r>
          </a:p>
        </p:txBody>
      </p:sp>
      <p:sp>
        <p:nvSpPr>
          <p:cNvPr id="105" name="Card 105"/>
          <p:cNvSpPr/>
          <p:nvPr/>
        </p:nvSpPr>
        <p:spPr>
          <a:xfrm>
            <a:off x="9326880" y="480060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Why India needs it</a:t>
            </a:r>
          </a:p>
          <a:p>
            <a:pPr algn="l">
              <a:lnSpc>
                <a:spcPct val="100000"/>
              </a:lnSpc>
              <a:spcBef>
                <a:spcPts val="0"/>
              </a:spcBef>
              <a:spcAft>
                <a:spcPts val="0"/>
              </a:spcAft>
            </a:pPr>
            <a:r>
              <a:rPr lang="en-US" sz="1700" b="0" i="0" dirty="0">
                <a:solidFill>
                  <a:srgbClr val="111111"/>
                </a:solidFill>
                <a:latin typeface="Calibri"/>
                <a:cs typeface="Calibri"/>
              </a:rPr>
              <a:t>Packed crowds and blocked exits turned deadly at Hathras, Kumbh and railway stations.</a:t>
            </a:r>
          </a:p>
          <a:p>
            <a:pPr>
              <a:spcBef>
                <a:spcPts val="400"/>
              </a:spcBef>
              <a:spcAft>
                <a:spcPts val="0"/>
              </a:spcAft>
            </a:pPr>
            <a:r>
              <a:rPr sz="1400">
                <a:solidFill>
                  <a:srgbClr val="5A5A5A"/>
                </a:solidFill>
                <a:latin typeface="Calibri"/>
              </a:rPr>
              <a:t>Test video: </a:t>
            </a:r>
            <a:r>
              <a:rPr sz="1400" b="1" u="sng">
                <a:solidFill>
                  <a:srgbClr val="1E2761"/>
                </a:solidFill>
                <a:latin typeface="Calibri"/>
                <a:hlinkClick r:id="rId8"/>
              </a:rPr>
              <a:t>Wikimedia Commons</a:t>
            </a:r>
            <a:r>
              <a:rPr sz="1400">
                <a:solidFill>
                  <a:srgbClr val="5A5A5A"/>
                </a:solidFill>
                <a:latin typeface="Calibri"/>
              </a:rPr>
              <a:t> public footage (station, crossing, temple)</a:t>
            </a:r>
          </a:p>
        </p:txBody>
      </p:sp>
      <p:sp>
        <p:nvSpPr>
          <p:cNvPr id="106" name="TextBox 106"/>
          <p:cNvSpPr txBox="1"/>
          <p:nvPr/>
        </p:nvSpPr>
        <p:spPr>
          <a:xfrm>
            <a:off x="731520" y="6583680"/>
            <a:ext cx="914400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Privacy built in</a:t>
            </a:r>
          </a:p>
        </p:txBody>
      </p:sp>
      <p:sp>
        <p:nvSpPr>
          <p:cNvPr id="107" name="Card 107"/>
          <p:cNvSpPr/>
          <p:nvPr/>
        </p:nvSpPr>
        <p:spPr>
          <a:xfrm>
            <a:off x="73152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Anonymized by default</a:t>
            </a:r>
          </a:p>
          <a:p>
            <a:pPr algn="l">
              <a:lnSpc>
                <a:spcPct val="100000"/>
              </a:lnSpc>
              <a:spcBef>
                <a:spcPts val="0"/>
              </a:spcBef>
              <a:spcAft>
                <a:spcPts val="0"/>
              </a:spcAft>
            </a:pPr>
            <a:r>
              <a:rPr lang="en-US" sz="1900" b="0" i="0" dirty="0">
                <a:solidFill>
                  <a:srgbClr val="DDE3FA"/>
                </a:solidFill>
                <a:latin typeface="Calibri"/>
                <a:cs typeface="Calibri"/>
              </a:rPr>
              <a:t>Saved video is face-blurred. Live alerts show zones and counts, not names.</a:t>
            </a:r>
          </a:p>
        </p:txBody>
      </p:sp>
      <p:sp>
        <p:nvSpPr>
          <p:cNvPr id="108" name="Card 108"/>
          <p:cNvSpPr/>
          <p:nvPr/>
        </p:nvSpPr>
        <p:spPr>
          <a:xfrm>
            <a:off x="502920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7-day routine wipe</a:t>
            </a:r>
          </a:p>
          <a:p>
            <a:pPr algn="l">
              <a:lnSpc>
                <a:spcPct val="100000"/>
              </a:lnSpc>
              <a:spcBef>
                <a:spcPts val="0"/>
              </a:spcBef>
              <a:spcAft>
                <a:spcPts val="0"/>
              </a:spcAft>
            </a:pPr>
            <a:r>
              <a:rPr lang="en-US" sz="1900" b="0" i="0" dirty="0">
                <a:solidFill>
                  <a:srgbClr val="DDE3FA"/>
                </a:solidFill>
                <a:latin typeface="Calibri"/>
                <a:cs typeface="Calibri"/>
              </a:rPr>
              <a:t>Daily footage wipes after 7 days. Flagged incidents are exported first and kept for the police.</a:t>
            </a:r>
          </a:p>
        </p:txBody>
      </p:sp>
      <p:sp>
        <p:nvSpPr>
          <p:cNvPr id="109" name="Card 109"/>
          <p:cNvSpPr/>
          <p:nvPr/>
        </p:nvSpPr>
        <p:spPr>
          <a:xfrm>
            <a:off x="932688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Tamper-evident log</a:t>
            </a:r>
          </a:p>
          <a:p>
            <a:pPr algn="l">
              <a:lnSpc>
                <a:spcPct val="100000"/>
              </a:lnSpc>
              <a:spcBef>
                <a:spcPts val="0"/>
              </a:spcBef>
              <a:spcAft>
                <a:spcPts val="0"/>
              </a:spcAft>
            </a:pPr>
            <a:r>
              <a:rPr lang="en-US" sz="1900" b="0" i="0" dirty="0">
                <a:solidFill>
                  <a:srgbClr val="DDE3FA"/>
                </a:solidFill>
                <a:latin typeface="Calibri"/>
                <a:cs typeface="Calibri"/>
              </a:rPr>
              <a:t>Every action is hash-chained. Any edit leaves a trace.</a:t>
            </a:r>
          </a:p>
        </p:txBody>
      </p:sp>
      <p:sp>
        <p:nvSpPr>
          <p:cNvPr id="110" name="Card 110"/>
          <p:cNvSpPr/>
          <p:nvPr/>
        </p:nvSpPr>
        <p:spPr>
          <a:xfrm>
            <a:off x="1362456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No ID in core</a:t>
            </a:r>
          </a:p>
          <a:p>
            <a:pPr algn="l">
              <a:lnSpc>
                <a:spcPct val="100000"/>
              </a:lnSpc>
              <a:spcBef>
                <a:spcPts val="0"/>
              </a:spcBef>
              <a:spcAft>
                <a:spcPts val="0"/>
              </a:spcAft>
            </a:pPr>
            <a:r>
              <a:rPr lang="en-US" sz="1900" b="0" i="0" dirty="0">
                <a:solidFill>
                  <a:srgbClr val="DDE3FA"/>
                </a:solidFill>
                <a:latin typeface="Calibri"/>
                <a:cs typeface="Calibri"/>
              </a:rPr>
              <a:t>Crowd mode runs with zero identity. Face search stays opt-in Phase 2 only.</a:t>
            </a:r>
          </a:p>
        </p:txBody>
      </p:sp>
      <p:sp>
        <p:nvSpPr>
          <p:cNvPr id="111" name="TextBox 111"/>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