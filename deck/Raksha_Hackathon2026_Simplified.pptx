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Video checks per second (higher is better)</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Sheet1!$A$2:$A$4</c:f>
              <c:strCache>
                <c:ptCount val="3"/>
                <c:pt idx="0">
                  <c:v>Concourse</c:v>
                </c:pt>
                <c:pt idx="1">
                  <c:v>Crossing</c:v>
                </c:pt>
                <c:pt idx="2">
                  <c:v>Temple</c:v>
                </c:pt>
              </c:strCache>
            </c:strRef>
          </c:cat>
          <c:val>
            <c:numRef>
              <c:f>Sheet1!$B$2:$B$4</c:f>
              <c:numCache>
                <c:formatCode>General</c:formatCode>
                <c:ptCount val="3"/>
                <c:pt idx="0">
                  <c:v>14.8</c:v>
                </c:pt>
                <c:pt idx="1">
                  <c:v>41.2</c:v>
                </c:pt>
                <c:pt idx="2">
                  <c:v>48.7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55.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IDEA TITLE</a:t>
            </a:r>
          </a:p>
        </p:txBody>
      </p:sp>
      <p:sp>
        <p:nvSpPr>
          <p:cNvPr id="101" name="TextBox 101"/>
          <p:cNvSpPr txBox="1"/>
          <p:nvPr/>
        </p:nvSpPr>
        <p:spPr>
          <a:xfrm>
            <a:off x="731520" y="2606040"/>
            <a:ext cx="7863840" cy="2286000"/>
          </a:xfrm>
          <a:prstGeom prst="rect">
            <a:avLst/>
          </a:prstGeom>
          <a:noFill/>
          <a:ln>
            <a:noFill/>
          </a:ln>
        </p:spPr>
        <p:txBody>
          <a:bodyPr wrap="square" lIns="0" tIns="0" rIns="0" bIns="0" anchor="t" rtlCol="0">
            <a:noAutofit/>
          </a:bodyPr>
          <a:lstStyle/>
          <a:p>
            <a:pPr algn="l">
              <a:lnSpc>
                <a:spcPct val="95000"/>
              </a:lnSpc>
              <a:spcBef>
                <a:spcPts val="0"/>
              </a:spcBef>
              <a:spcAft>
                <a:spcPts val="1000"/>
              </a:spcAft>
            </a:pPr>
            <a:r>
              <a:rPr lang="en-US" sz="3400" b="1" i="0" dirty="0">
                <a:solidFill>
                  <a:srgbClr val="1E2761"/>
                </a:solidFill>
                <a:latin typeface="Calibri"/>
                <a:cs typeface="Calibri"/>
              </a:rPr>
              <a:t>Know the crowd. Catch the bottleneck. Stop the surge.</a:t>
            </a:r>
          </a:p>
          <a:p>
            <a:pPr algn="l">
              <a:spcBef>
                <a:spcPts val="0"/>
              </a:spcBef>
              <a:spcAft>
                <a:spcPts val="600"/>
              </a:spcAft>
            </a:pPr>
            <a:r>
              <a:rPr lang="en-US" sz="2200" b="0" i="0" dirty="0">
                <a:solidFill>
                  <a:srgbClr val="111111"/>
                </a:solidFill>
                <a:latin typeface="Calibri"/>
                <a:cs typeface="Calibri"/>
              </a:rPr>
              <a:t>Cameras measure how dense each zone is, and how fast it moves.</a:t>
            </a:r>
          </a:p>
          <a:p>
            <a:pPr algn="l">
              <a:spcBef>
                <a:spcPts val="0"/>
              </a:spcBef>
              <a:spcAft>
                <a:spcPts val="0"/>
              </a:spcAft>
            </a:pPr>
            <a:r>
              <a:rPr lang="en-US" sz="2200" b="0" i="0" dirty="0">
                <a:solidFill>
                  <a:srgbClr val="111111"/>
                </a:solidFill>
                <a:latin typeface="Calibri"/>
                <a:cs typeface="Calibri"/>
              </a:rPr>
              <a:t>It warns guards before a crush builds.</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18</a:t>
            </a:r>
          </a:p>
          <a:p>
            <a:pPr algn="ctr">
              <a:spcBef>
                <a:spcPts val="0"/>
              </a:spcBef>
              <a:spcAft>
                <a:spcPts val="0"/>
              </a:spcAft>
            </a:pPr>
            <a:r>
              <a:rPr lang="en-US" sz="1700" b="0" i="0" dirty="0">
                <a:solidFill>
                  <a:srgbClr val="5A5A5A"/>
                </a:solidFill>
                <a:latin typeface="Calibri"/>
                <a:cs typeface="Calibri"/>
              </a:rPr>
              <a:t>tracked at once</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&lt;1s</a:t>
            </a:r>
          </a:p>
          <a:p>
            <a:pPr algn="ctr">
              <a:spcBef>
                <a:spcPts val="0"/>
              </a:spcBef>
              <a:spcAft>
                <a:spcPts val="0"/>
              </a:spcAft>
            </a:pPr>
            <a:r>
              <a:rPr lang="en-US" sz="1700" b="0" i="0" dirty="0">
                <a:solidFill>
                  <a:srgbClr val="5A5A5A"/>
                </a:solidFill>
                <a:latin typeface="Calibri"/>
                <a:cs typeface="Calibri"/>
              </a:rPr>
              <a:t>guard warned</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15</a:t>
            </a:r>
          </a:p>
          <a:p>
            <a:pPr algn="ctr">
              <a:spcBef>
                <a:spcPts val="0"/>
              </a:spcBef>
              <a:spcAft>
                <a:spcPts val="0"/>
              </a:spcAft>
            </a:pPr>
            <a:r>
              <a:rPr lang="en-US" sz="1700" b="0" i="0" dirty="0">
                <a:solidFill>
                  <a:srgbClr val="5A5A5A"/>
                </a:solidFill>
                <a:latin typeface="Calibri"/>
                <a:cs typeface="Calibri"/>
              </a:rPr>
              <a:t>video checks every second</a:t>
            </a:r>
          </a:p>
        </p:txBody>
      </p:sp>
      <p:sp>
        <p:nvSpPr>
          <p:cNvPr id="105" name="TextBox 105"/>
          <p:cNvSpPr txBox="1"/>
          <p:nvPr/>
        </p:nvSpPr>
        <p:spPr>
          <a:xfrm>
            <a:off x="731520" y="6949440"/>
            <a:ext cx="786384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Watch it work</a:t>
            </a:r>
          </a:p>
        </p:txBody>
      </p:sp>
      <p:sp>
        <p:nvSpPr>
          <p:cNvPr id="106" name="Num 106"/>
          <p:cNvSpPr/>
          <p:nvPr/>
        </p:nvSpPr>
        <p:spPr>
          <a:xfrm>
            <a:off x="731520" y="7589520"/>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1</a:t>
            </a:r>
          </a:p>
        </p:txBody>
      </p:sp>
      <p:sp>
        <p:nvSpPr>
          <p:cNvPr id="107" name="TextBox 107"/>
          <p:cNvSpPr txBox="1"/>
          <p:nvPr/>
        </p:nvSpPr>
        <p:spPr>
          <a:xfrm>
            <a:off x="1417320" y="7552944"/>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Live feed: every person counted, zone density tracked.</a:t>
            </a:r>
          </a:p>
        </p:txBody>
      </p:sp>
      <p:sp>
        <p:nvSpPr>
          <p:cNvPr id="108" name="Num 108"/>
          <p:cNvSpPr/>
          <p:nvPr/>
        </p:nvSpPr>
        <p:spPr>
          <a:xfrm>
            <a:off x="731520" y="8247888"/>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2</a:t>
            </a:r>
          </a:p>
        </p:txBody>
      </p:sp>
      <p:sp>
        <p:nvSpPr>
          <p:cNvPr id="109" name="TextBox 109"/>
          <p:cNvSpPr txBox="1"/>
          <p:nvPr/>
        </p:nvSpPr>
        <p:spPr>
          <a:xfrm>
            <a:off x="1417320" y="8211312"/>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zone packs up and stops: bottleneck flagged.</a:t>
            </a:r>
          </a:p>
        </p:txBody>
      </p:sp>
      <p:sp>
        <p:nvSpPr>
          <p:cNvPr id="110" name="Num 110"/>
          <p:cNvSpPr/>
          <p:nvPr/>
        </p:nvSpPr>
        <p:spPr>
          <a:xfrm>
            <a:off x="731520" y="8906256"/>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3</a:t>
            </a:r>
          </a:p>
        </p:txBody>
      </p:sp>
      <p:sp>
        <p:nvSpPr>
          <p:cNvPr id="111" name="TextBox 111"/>
          <p:cNvSpPr txBox="1"/>
          <p:nvPr/>
        </p:nvSpPr>
        <p:spPr>
          <a:xfrm>
            <a:off x="1417320" y="8869680"/>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Guard warned in seconds; face file opens on demand.</a:t>
            </a:r>
          </a:p>
        </p:txBody>
      </p:sp>
      <p:pic>
        <p:nvPicPr>
          <p:cNvPr id="112" name="Live wall 112" descr="Live wall on real station footage"/>
          <p:cNvPicPr>
            <a:picLocks noChangeAspect="1"/>
          </p:cNvPicPr>
          <p:nvPr/>
        </p:nvPicPr>
        <p:blipFill>
          <a:blip r:embed="rId3"/>
          <a:srcRect l="0" t="7446" r="0" b="7446"/>
          <a:stretch>
            <a:fillRect/>
          </a:stretch>
        </p:blipFill>
        <p:spPr>
          <a:xfrm>
            <a:off x="8961120" y="2606040"/>
            <a:ext cx="8595360" cy="4572000"/>
          </a:xfrm>
          <a:prstGeom prst="roundRect">
            <a:avLst>
              <a:gd name="adj" fmla="val 4000"/>
            </a:avLst>
          </a:prstGeom>
        </p:spPr>
      </p:pic>
      <p:sp>
        <p:nvSpPr>
          <p:cNvPr id="113" name="TextBox 113"/>
          <p:cNvSpPr txBox="1"/>
          <p:nvPr/>
        </p:nvSpPr>
        <p:spPr>
          <a:xfrm>
            <a:off x="8961120" y="7269480"/>
            <a:ext cx="8595360" cy="365760"/>
          </a:xfrm>
          <a:prstGeom prst="rect">
            <a:avLst/>
          </a:prstGeom>
          <a:noFill/>
          <a:ln>
            <a:noFill/>
          </a:ln>
        </p:spPr>
        <p:txBody>
          <a:bodyPr wrap="square" lIns="0" tIns="0" rIns="0" bIns="0" anchor="ctr" rtlCol="0">
            <a:noAutofit/>
          </a:bodyPr>
          <a:lstStyle/>
          <a:p>
            <a:pPr algn="l">
              <a:spcBef>
                <a:spcPts val="0"/>
              </a:spcBef>
              <a:spcAft>
                <a:spcPts val="0"/>
              </a:spcAft>
            </a:pPr>
            <a:r>
              <a:rPr lang="en-US" sz="1600" b="0" i="1" dirty="0">
                <a:solidFill>
                  <a:srgbClr val="5A5A5A"/>
                </a:solidFill>
                <a:latin typeface="Calibri"/>
                <a:cs typeface="Calibri"/>
              </a:rPr>
              <a:t>The live wall, running on real station footage.</a:t>
            </a:r>
          </a:p>
        </p:txBody>
      </p:sp>
      <p:sp>
        <p:nvSpPr>
          <p:cNvPr id="114" name="Legend 114"/>
          <p:cNvSpPr/>
          <p:nvPr/>
        </p:nvSpPr>
        <p:spPr>
          <a:xfrm>
            <a:off x="8961120" y="7818120"/>
            <a:ext cx="8595360" cy="17373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5" name="TextBox 115"/>
          <p:cNvSpPr txBox="1"/>
          <p:nvPr/>
        </p:nvSpPr>
        <p:spPr>
          <a:xfrm>
            <a:off x="9281160" y="7936992"/>
            <a:ext cx="7955280" cy="411480"/>
          </a:xfrm>
          <a:prstGeom prst="rect">
            <a:avLst/>
          </a:prstGeom>
          <a:noFill/>
          <a:ln>
            <a:noFill/>
          </a:ln>
        </p:spPr>
        <p:txBody>
          <a:bodyPr wrap="square" lIns="0" tIns="0" rIns="0" bIns="0" anchor="ctr" rtlCol="0">
            <a:noAutofit/>
          </a:bodyPr>
          <a:lstStyle/>
          <a:p>
            <a:pPr algn="l">
              <a:spcBef>
                <a:spcPts val="0"/>
              </a:spcBef>
              <a:spcAft>
                <a:spcPts val="0"/>
              </a:spcAft>
            </a:pPr>
            <a:r>
              <a:rPr lang="en-US" sz="2000" b="1" i="0" dirty="0">
                <a:solidFill>
                  <a:srgbClr val="1E2761"/>
                </a:solidFill>
                <a:latin typeface="Calibri"/>
                <a:cs typeface="Calibri"/>
              </a:rPr>
              <a:t>What the colours mean</a:t>
            </a:r>
          </a:p>
        </p:txBody>
      </p:sp>
      <p:sp>
        <p:nvSpPr>
          <p:cNvPr id="116" name="Dot 116"/>
          <p:cNvSpPr/>
          <p:nvPr/>
        </p:nvSpPr>
        <p:spPr>
          <a:xfrm>
            <a:off x="9281160" y="8522208"/>
            <a:ext cx="256032" cy="256032"/>
          </a:xfrm>
          <a:prstGeom prst="ellipse">
            <a:avLst/>
          </a:prstGeom>
          <a:solidFill>
            <a:srgbClr val="2E9E5B"/>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7" name="TextBox 117"/>
          <p:cNvSpPr txBox="1"/>
          <p:nvPr/>
        </p:nvSpPr>
        <p:spPr>
          <a:xfrm>
            <a:off x="96469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Calm</a:t>
            </a:r>
          </a:p>
          <a:p>
            <a:pPr algn="l">
              <a:spcBef>
                <a:spcPts val="0"/>
              </a:spcBef>
              <a:spcAft>
                <a:spcPts val="0"/>
              </a:spcAft>
            </a:pPr>
            <a:r>
              <a:rPr lang="en-US" sz="1500" b="0" i="0" dirty="0">
                <a:solidFill>
                  <a:srgbClr val="5A5A5A"/>
                </a:solidFill>
                <a:latin typeface="Calibri"/>
                <a:cs typeface="Calibri"/>
              </a:rPr>
              <a:t>All is well.</a:t>
            </a:r>
          </a:p>
        </p:txBody>
      </p:sp>
      <p:sp>
        <p:nvSpPr>
          <p:cNvPr id="118" name="Dot 118"/>
          <p:cNvSpPr/>
          <p:nvPr/>
        </p:nvSpPr>
        <p:spPr>
          <a:xfrm>
            <a:off x="12024360" y="8522208"/>
            <a:ext cx="256032" cy="256032"/>
          </a:xfrm>
          <a:prstGeom prst="ellipse">
            <a:avLst/>
          </a:prstGeom>
          <a:solidFill>
            <a:srgbClr val="E5B822"/>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9" name="TextBox 119"/>
          <p:cNvSpPr txBox="1"/>
          <p:nvPr/>
        </p:nvSpPr>
        <p:spPr>
          <a:xfrm>
            <a:off x="123901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Busy</a:t>
            </a:r>
          </a:p>
          <a:p>
            <a:pPr algn="l">
              <a:spcBef>
                <a:spcPts val="0"/>
              </a:spcBef>
              <a:spcAft>
                <a:spcPts val="0"/>
              </a:spcAft>
            </a:pPr>
            <a:r>
              <a:rPr lang="en-US" sz="1500" b="0" i="0" dirty="0">
                <a:solidFill>
                  <a:srgbClr val="5A5A5A"/>
                </a:solidFill>
                <a:latin typeface="Calibri"/>
                <a:cs typeface="Calibri"/>
              </a:rPr>
              <a:t>Getting crowded. Guards get an early warning.</a:t>
            </a:r>
          </a:p>
        </p:txBody>
      </p:sp>
      <p:sp>
        <p:nvSpPr>
          <p:cNvPr id="120" name="Dot 120"/>
          <p:cNvSpPr/>
          <p:nvPr/>
        </p:nvSpPr>
        <p:spPr>
          <a:xfrm>
            <a:off x="14767560" y="8522208"/>
            <a:ext cx="256032" cy="256032"/>
          </a:xfrm>
          <a:prstGeom prst="ellipse">
            <a:avLst/>
          </a:prstGeom>
          <a:solidFill>
            <a:srgbClr val="D64545"/>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21" name="TextBox 121"/>
          <p:cNvSpPr txBox="1"/>
          <p:nvPr/>
        </p:nvSpPr>
        <p:spPr>
          <a:xfrm>
            <a:off x="151333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Danger</a:t>
            </a:r>
          </a:p>
          <a:p>
            <a:pPr algn="l">
              <a:spcBef>
                <a:spcPts val="0"/>
              </a:spcBef>
              <a:spcAft>
                <a:spcPts val="0"/>
              </a:spcAft>
            </a:pPr>
            <a:r>
              <a:rPr lang="en-US" sz="1500" b="0" i="0" dirty="0">
                <a:solidFill>
                  <a:srgbClr val="5A5A5A"/>
                </a:solidFill>
                <a:latin typeface="Calibri"/>
                <a:cs typeface="Calibri"/>
              </a:rPr>
              <a:t>Crowd packed and stuck. Clear the area now.</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TECHNICAL APPROACH</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Watch</a:t>
            </a:r>
          </a:p>
        </p:txBody>
      </p:sp>
      <p:sp>
        <p:nvSpPr>
          <p:cNvPr id="102" name="TextBox 102"/>
          <p:cNvSpPr txBox="1"/>
          <p:nvPr/>
        </p:nvSpPr>
        <p:spPr>
          <a:xfrm>
            <a:off x="868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takes in any camera feed</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Spot</a:t>
            </a:r>
          </a:p>
        </p:txBody>
      </p:sp>
      <p:sp>
        <p:nvSpPr>
          <p:cNvPr id="104" name="TextBox 104"/>
          <p:cNvSpPr txBox="1"/>
          <p:nvPr/>
        </p:nvSpPr>
        <p:spPr>
          <a:xfrm>
            <a:off x="36118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finds every person</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Follow</a:t>
            </a:r>
          </a:p>
        </p:txBody>
      </p:sp>
      <p:sp>
        <p:nvSpPr>
          <p:cNvPr id="106" name="TextBox 106"/>
          <p:cNvSpPr txBox="1"/>
          <p:nvPr/>
        </p:nvSpPr>
        <p:spPr>
          <a:xfrm>
            <a:off x="63550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keeps track of each one</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Know</a:t>
            </a:r>
          </a:p>
        </p:txBody>
      </p:sp>
      <p:sp>
        <p:nvSpPr>
          <p:cNvPr id="108" name="TextBox 108"/>
          <p:cNvSpPr txBox="1"/>
          <p:nvPr/>
        </p:nvSpPr>
        <p:spPr>
          <a:xfrm>
            <a:off x="90982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notes faces and clothes</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Remember</a:t>
            </a:r>
          </a:p>
        </p:txBody>
      </p:sp>
      <p:sp>
        <p:nvSpPr>
          <p:cNvPr id="110" name="TextBox 110"/>
          <p:cNvSpPr txBox="1"/>
          <p:nvPr/>
        </p:nvSpPr>
        <p:spPr>
          <a:xfrm>
            <a:off x="118414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checks against saved photos</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0" tIns="0" rIns="0" bIns="0" anchor="ctr" rtlCol="0">
            <a:noAutofit/>
          </a:bodyPr>
          <a:lstStyle/>
          <a:p>
            <a:pPr algn="ctr">
              <a:spcBef>
                <a:spcPts val="0"/>
              </a:spcBef>
              <a:spcAft>
                <a:spcPts val="0"/>
              </a:spcAft>
            </a:pPr>
            <a:r>
              <a:rPr lang="en-US" sz="2200" b="1" i="0" dirty="0">
                <a:solidFill>
                  <a:srgbClr val="1E2761"/>
                </a:solidFill>
                <a:latin typeface="Calibri"/>
                <a:cs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alerts guards before a crush</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274320" tIns="45720" rIns="274320" bIns="45720" anchor="ctr" rtlCol="0">
            <a:noAutofit/>
          </a:bodyPr>
          <a:lstStyle/>
          <a:p>
            <a:pPr algn="ctr">
              <a:spcBef>
                <a:spcPts val="0"/>
              </a:spcBef>
              <a:spcAft>
                <a:spcPts val="0"/>
              </a:spcAft>
            </a:pPr>
            <a:r>
              <a:rPr lang="en-US" sz="2200" b="0" i="0" dirty="0">
                <a:solidFill>
                  <a:srgbClr val="1E2761"/>
                </a:solidFill>
                <a:latin typeface="Calibri"/>
                <a:cs typeface="Calibri"/>
              </a:rPr>
              <a:t>In plain words: the camera watches, the software flags where the crowd stops moving, and it warns guards before a crush builds.</a:t>
            </a:r>
          </a:p>
        </p:txBody>
      </p:sp>
      <p:pic>
        <p:nvPicPr>
          <p:cNvPr id="114" name="Tracking 114" descr="People being followed in a station crowd"/>
          <p:cNvPicPr>
            <a:picLocks noChangeAspect="1"/>
          </p:cNvPicPr>
          <p:nvPr/>
        </p:nvPicPr>
        <p:blipFill>
          <a:blip r:embed="rId3"/>
          <a:srcRect l="0" t="1951" r="0" b="1951"/>
          <a:stretch>
            <a:fillRect/>
          </a:stretch>
        </p:blipFill>
        <p:spPr>
          <a:xfrm>
            <a:off x="731520" y="5989320"/>
            <a:ext cx="6766560" cy="3657600"/>
          </a:xfrm>
          <a:prstGeom prst="roundRect">
            <a:avLst>
              <a:gd name="adj" fmla="val 4000"/>
            </a:avLst>
          </a:prstGeom>
        </p:spPr>
      </p:pic>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Keeps only good photos</a:t>
            </a:r>
          </a:p>
          <a:p>
            <a:pPr algn="l">
              <a:lnSpc>
                <a:spcPct val="100000"/>
              </a:lnSpc>
              <a:spcBef>
                <a:spcPts val="0"/>
              </a:spcBef>
              <a:spcAft>
                <a:spcPts val="0"/>
              </a:spcAft>
            </a:pPr>
            <a:r>
              <a:rPr lang="en-US" sz="1800" b="0" i="0" dirty="0">
                <a:solidFill>
                  <a:srgbClr val="111111"/>
                </a:solidFill>
                <a:latin typeface="Calibri"/>
                <a:cs typeface="Calibri"/>
              </a:rPr>
              <a:t>Only sharp, front-facing photos are saved. Blurry ones are ignored, so matches stay reliable.</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Tested on real video</a:t>
            </a:r>
          </a:p>
          <a:p>
            <a:pPr algn="l">
              <a:lnSpc>
                <a:spcPct val="100000"/>
              </a:lnSpc>
              <a:spcBef>
                <a:spcPts val="0"/>
              </a:spcBef>
              <a:spcAft>
                <a:spcPts val="0"/>
              </a:spcAft>
            </a:pPr>
            <a:r>
              <a:rPr lang="en-US" sz="1800" b="0" i="0" dirty="0">
                <a:solidFill>
                  <a:srgbClr val="111111"/>
                </a:solidFill>
                <a:latin typeface="Calibri"/>
                <a:cs typeface="Calibri"/>
              </a:rPr>
              <a:t>Followed 18 people at once and 850 sightings across 2 minutes of station video.</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Works with normal cameras</a:t>
            </a:r>
          </a:p>
          <a:p>
            <a:pPr algn="l">
              <a:lnSpc>
                <a:spcPct val="100000"/>
              </a:lnSpc>
              <a:spcBef>
                <a:spcPts val="0"/>
              </a:spcBef>
              <a:spcAft>
                <a:spcPts val="0"/>
              </a:spcAft>
            </a:pPr>
            <a:r>
              <a:rPr lang="en-US" sz="1800" b="0" i="0" dirty="0">
                <a:solidFill>
                  <a:srgbClr val="111111"/>
                </a:solidFill>
                <a:latin typeface="Calibri"/>
                <a:cs typeface="Calibri"/>
              </a:rPr>
              <a:t>Any ordinary camera feed can be plugged in. No special equipment needed.</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graphicFrame>
        <p:nvGraphicFramePr>
          <p:cNvPr id="5" name="Chart 4"/>
          <p:cNvGraphicFramePr>
            <a:graphicFrameLocks noGrp="1"/>
          </p:cNvGraphicFramePr>
          <p:nvPr/>
        </p:nvGraphicFramePr>
        <p:xfrm>
          <a:off x="914400" y="2788920"/>
          <a:ext cx="7863840" cy="5943600"/>
        </p:xfrm>
        <a:graphic>
          <a:graphicData uri="http://schemas.openxmlformats.org/drawingml/2006/chart">
            <c:chart xmlns:c="http://schemas.openxmlformats.org/drawingml/2006/chart" r:id="rId3"/>
          </a:graphicData>
        </a:graphic>
      </p:graphicFrame>
      <p:sp>
        <p:nvSpPr>
          <p:cNvPr id="102" name="TextBox 102"/>
          <p:cNvSpPr txBox="1"/>
          <p:nvPr/>
        </p:nvSpPr>
        <p:spPr>
          <a:xfrm>
            <a:off x="1097280" y="8823960"/>
            <a:ext cx="7498080" cy="685800"/>
          </a:xfrm>
          <a:prstGeom prst="rect">
            <a:avLst/>
          </a:prstGeom>
          <a:noFill/>
          <a:ln>
            <a:noFill/>
          </a:ln>
        </p:spPr>
        <p:txBody>
          <a:bodyPr wrap="square" lIns="0" tIns="0" rIns="0" bIns="0" anchor="ctr" rtlCol="0">
            <a:noAutofit/>
          </a:bodyPr>
          <a:lstStyle/>
          <a:p>
            <a:pPr algn="ctr">
              <a:spcBef>
                <a:spcPts val="0"/>
              </a:spcBef>
              <a:spcAft>
                <a:spcPts val="0"/>
              </a:spcAft>
            </a:pPr>
            <a:r>
              <a:rPr lang="en-US" sz="1700" b="0" i="0" dirty="0">
                <a:solidFill>
                  <a:srgbClr val="5A5A5A"/>
                </a:solidFill>
                <a:latin typeface="Calibri"/>
                <a:cs typeface="Calibri"/>
              </a:rPr>
              <a:t>Tested on real crowd video from three places, all on one gaming laptop. Higher means smoother.</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Instant</a:t>
            </a:r>
          </a:p>
          <a:p>
            <a:pPr algn="l">
              <a:lnSpc>
                <a:spcPct val="100000"/>
              </a:lnSpc>
              <a:spcBef>
                <a:spcPts val="0"/>
              </a:spcBef>
              <a:spcAft>
                <a:spcPts val="0"/>
              </a:spcAft>
            </a:pPr>
            <a:r>
              <a:rPr lang="en-US" sz="2000" b="0" i="0" dirty="0">
                <a:solidFill>
                  <a:srgbClr val="111111"/>
                </a:solidFill>
                <a:latin typeface="Calibri"/>
                <a:cs typeface="Calibri"/>
              </a:rPr>
              <a:t>A face is matched in just 0.06 seconds.</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Red alert</a:t>
            </a:r>
          </a:p>
          <a:p>
            <a:pPr algn="l">
              <a:lnSpc>
                <a:spcPct val="100000"/>
              </a:lnSpc>
              <a:spcBef>
                <a:spcPts val="0"/>
              </a:spcBef>
              <a:spcAft>
                <a:spcPts val="0"/>
              </a:spcAft>
            </a:pPr>
            <a:r>
              <a:rPr lang="en-US" sz="2000" b="0" i="0" dirty="0">
                <a:solidFill>
                  <a:srgbClr val="111111"/>
                </a:solidFill>
                <a:latin typeface="Calibri"/>
                <a:cs typeface="Calibri"/>
              </a:rPr>
              <a:t>Fires when a zone packs tight and stops. The wall counts down the seconds to critical.</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Runs on one laptop</a:t>
            </a:r>
          </a:p>
          <a:p>
            <a:pPr algn="l">
              <a:lnSpc>
                <a:spcPct val="100000"/>
              </a:lnSpc>
              <a:spcBef>
                <a:spcPts val="0"/>
              </a:spcBef>
              <a:spcAft>
                <a:spcPts val="0"/>
              </a:spcAft>
            </a:pPr>
            <a:r>
              <a:rPr lang="en-US" sz="2000" b="0" i="0" dirty="0">
                <a:solidFill>
                  <a:srgbClr val="111111"/>
                </a:solidFill>
                <a:latin typeface="Calibri"/>
                <a:cs typeface="Calibri"/>
              </a:rPr>
              <a:t>Even the heaviest crowd runs smoothly.</a:t>
            </a:r>
          </a:p>
        </p:txBody>
      </p:sp>
      <p:pic>
        <p:nvPicPr>
          <p:cNvPr id="106" name="Crowd 106" descr="Station concourse crowd"/>
          <p:cNvPicPr>
            <a:picLocks noChangeAspect="1"/>
          </p:cNvPicPr>
          <p:nvPr/>
        </p:nvPicPr>
        <p:blipFill>
          <a:blip r:embed="rId4"/>
          <a:srcRect l="0" t="19876" r="0" b="19876"/>
          <a:stretch>
            <a:fillRect/>
          </a:stretch>
        </p:blipFill>
        <p:spPr>
          <a:xfrm>
            <a:off x="9326880" y="6812280"/>
            <a:ext cx="8229600" cy="2788920"/>
          </a:xfrm>
          <a:prstGeom prst="roundRect">
            <a:avLst>
              <a:gd name="adj" fmla="val 4000"/>
            </a:avLst>
          </a:prstGeom>
        </p:spPr>
      </p:pic>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50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91440" rIns="320040" bIns="91440" anchor="ctr" rtlCol="0">
            <a:noAutofit/>
          </a:bodyPr>
          <a:lstStyle/>
          <a:p>
            <a:pPr algn="l">
              <a:spcBef>
                <a:spcPts val="0"/>
              </a:spcBef>
              <a:spcAft>
                <a:spcPts val="200"/>
              </a:spcAft>
            </a:pPr>
            <a:r>
              <a:rPr lang="en-US" sz="2000" b="1" i="0" dirty="0">
                <a:solidFill>
                  <a:srgbClr val="D9A441"/>
                </a:solidFill>
                <a:latin typeface="Calibri"/>
                <a:cs typeface="Calibri"/>
              </a:rPr>
              <a:t>After</a:t>
            </a:r>
          </a:p>
          <a:p>
            <a:pPr algn="l">
              <a:spcBef>
                <a:spcPts val="0"/>
              </a:spcBef>
              <a:spcAft>
                <a:spcPts val="0"/>
              </a:spcAft>
            </a:pPr>
            <a:r>
              <a:rPr lang="en-US" sz="2100" b="1" i="0" dirty="0">
                <a:solidFill>
                  <a:srgbClr val="FFFFFF"/>
                </a:solidFill>
                <a:latin typeface="Calibri"/>
                <a:cs typeface="Calibri"/>
              </a:rPr>
              <a:t>One screen ranks every zone by risk, so guards only look where it matters.</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Organizers</a:t>
            </a:r>
          </a:p>
          <a:p>
            <a:pPr algn="l">
              <a:lnSpc>
                <a:spcPct val="100000"/>
              </a:lnSpc>
              <a:spcBef>
                <a:spcPts val="0"/>
              </a:spcBef>
              <a:spcAft>
                <a:spcPts val="0"/>
              </a:spcAft>
            </a:pPr>
            <a:r>
              <a:rPr lang="en-US" sz="1800" b="0" i="0" dirty="0">
                <a:solidFill>
                  <a:srgbClr val="111111"/>
                </a:solidFill>
                <a:latin typeface="Calibri"/>
                <a:cs typeface="Calibri"/>
              </a:rPr>
              <a:t>Spot a growing jam early, and tell guards which zone to clear.</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Find a lost child or a suspect from a photo in seconds. Full history in one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400" b="1">
                <a:solidFill>
                  <a:srgbClr val="1E2761"/>
                </a:solidFill>
                <a:latin typeface="Calibri"/>
              </a:rPr>
              <a:t>When the alarm goes up</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spAutoFit/>
          </a:bodyPr>
          <a:lstStyle/>
          <a:p>
            <a:r>
              <a:rPr sz="2200" b="1">
                <a:solidFill>
                  <a:srgbClr val="FFFFFF"/>
                </a:solidFill>
                <a:latin typeface="Calibri"/>
              </a:rPr>
              <a:t>Yellow watch</a:t>
            </a:r>
          </a:p>
          <a:p>
            <a:pPr>
              <a:spcBef>
                <a:spcPts val="400"/>
              </a:spcBef>
            </a:pPr>
            <a:r>
              <a:rPr sz="1800">
                <a:solidFill>
                  <a:srgbClr val="FFFFFF"/>
                </a:solidFill>
                <a:latin typeface="Calibri"/>
              </a:rPr>
              <a:t>Guards keep eyes on the zone. Crowd flow is slowed.</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spAutoFit/>
          </a:bodyPr>
          <a:lstStyle/>
          <a:p>
            <a:r>
              <a:rPr sz="2200" b="1">
                <a:solidFill>
                  <a:srgbClr val="FFFFFF"/>
                </a:solidFill>
                <a:latin typeface="Calibri"/>
              </a:rPr>
              <a:t>Red alert</a:t>
            </a:r>
          </a:p>
          <a:p>
            <a:pPr>
              <a:spcBef>
                <a:spcPts val="400"/>
              </a:spcBef>
            </a:pPr>
            <a:r>
              <a:rPr sz="1800">
                <a:solidFill>
                  <a:srgbClr val="FFFFFF"/>
                </a:solidFill>
                <a:latin typeface="Calibri"/>
              </a:rPr>
              <a:t>Exits open, crowd diverted, announcement made.</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spAutoFit/>
          </a:bodyPr>
          <a:lstStyle/>
          <a:p>
            <a:r>
              <a:rPr sz="2200" b="1">
                <a:solidFill>
                  <a:srgbClr val="FFFFFF"/>
                </a:solidFill>
                <a:latin typeface="Calibri"/>
              </a:rPr>
              <a:t>After</a:t>
            </a:r>
          </a:p>
          <a:p>
            <a:pPr>
              <a:spcBef>
                <a:spcPts val="400"/>
              </a:spcBef>
            </a:pPr>
            <a:r>
              <a:rPr sz="180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spAutoFit/>
          </a:bodyPr>
          <a:lstStyle/>
          <a:p>
            <a:r>
              <a:rPr sz="1700" b="1">
                <a:solidFill>
                  <a:srgbClr val="1E2761"/>
                </a:solidFill>
                <a:latin typeface="Calibri"/>
              </a:rPr>
              <a:t>Pilot targets: photo search in seconds, guard warned in under 1 second, every step logged.</a:t>
            </a:r>
          </a:p>
          <a:p>
            <a:pPr>
              <a:spcBef>
                <a:spcPts val="400"/>
              </a:spcBef>
            </a:pPr>
            <a:r>
              <a:rPr sz="1700">
                <a:solidFill>
                  <a:srgbClr val="1E2761"/>
                </a:solidFill>
                <a:latin typeface="Calibri"/>
              </a:rPr>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The science behind it</a:t>
            </a:r>
          </a:p>
        </p:txBody>
      </p:sp>
      <p:sp>
        <p:nvSpPr>
          <p:cNvPr id="102" name="Card 102"/>
          <p:cNvSpPr/>
          <p:nvPr/>
        </p:nvSpPr>
        <p:spPr>
          <a:xfrm>
            <a:off x="73152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Finding and following people</a:t>
            </a:r>
          </a:p>
          <a:p>
            <a:pPr algn="l">
              <a:lnSpc>
                <a:spcPct val="100000"/>
              </a:lnSpc>
              <a:spcBef>
                <a:spcPts val="0"/>
              </a:spcBef>
              <a:spcAft>
                <a:spcPts val="0"/>
              </a:spcAft>
            </a:pPr>
            <a:r>
              <a:rPr lang="en-US" sz="1700" b="0" i="0" dirty="0">
                <a:solidFill>
                  <a:srgbClr val="111111"/>
                </a:solidFill>
                <a:latin typeface="Calibri"/>
                <a:cs typeface="Calibri"/>
              </a:rPr>
              <a:t>Finds every person and follows each one. Uses YOLOv8 and ByteTrack, rated in 2025-26 studies as the best mix of speed and accuracy.</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4"/>
              </a:rPr>
              <a:t>github.com/ultralytics/ultralytics</a:t>
            </a:r>
            <a:r>
              <a:rPr sz="1400">
                <a:solidFill>
                  <a:srgbClr val="5A5A5A"/>
                </a:solidFill>
                <a:latin typeface="Calibri"/>
              </a:rPr>
              <a:t>, </a:t>
            </a:r>
            <a:r>
              <a:rPr sz="1400" b="1" u="sng">
                <a:solidFill>
                  <a:srgbClr val="1E2761"/>
                </a:solidFill>
                <a:latin typeface="Calibri"/>
                <a:hlinkClick r:id="rId5"/>
              </a:rPr>
              <a:t>github.com/ifzhang/ByteTrack</a:t>
            </a:r>
          </a:p>
        </p:txBody>
      </p:sp>
      <p:sp>
        <p:nvSpPr>
          <p:cNvPr id="103" name="Card 103"/>
          <p:cNvSpPr/>
          <p:nvPr/>
        </p:nvSpPr>
        <p:spPr>
          <a:xfrm>
            <a:off x="932688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Matching faces</a:t>
            </a:r>
          </a:p>
          <a:p>
            <a:pPr algn="l">
              <a:lnSpc>
                <a:spcPct val="100000"/>
              </a:lnSpc>
              <a:spcBef>
                <a:spcPts val="0"/>
              </a:spcBef>
              <a:spcAft>
                <a:spcPts val="0"/>
              </a:spcAft>
            </a:pPr>
            <a:r>
              <a:rPr lang="en-US" sz="1700" b="0" i="0" dirty="0">
                <a:solidFill>
                  <a:srgbClr val="111111"/>
                </a:solidFill>
                <a:latin typeface="Calibri"/>
                <a:cs typeface="Calibri"/>
              </a:rPr>
              <a:t>Compares a face with saved photos. Uses ArcFace and Faiss, which score 99.5 percent on the standard face test.</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6"/>
              </a:rPr>
              <a:t>github.com/deepinsight/insightface</a:t>
            </a:r>
            <a:r>
              <a:rPr sz="1400">
                <a:solidFill>
                  <a:srgbClr val="5A5A5A"/>
                </a:solidFill>
                <a:latin typeface="Calibri"/>
              </a:rPr>
              <a:t>, </a:t>
            </a:r>
            <a:r>
              <a:rPr sz="1400" b="1" u="sng">
                <a:solidFill>
                  <a:srgbClr val="1E2761"/>
                </a:solidFill>
                <a:latin typeface="Calibri"/>
                <a:hlinkClick r:id="rId7"/>
              </a:rPr>
              <a:t>github.com/facebookresearch/faiss</a:t>
            </a:r>
          </a:p>
        </p:txBody>
      </p:sp>
      <p:sp>
        <p:nvSpPr>
          <p:cNvPr id="104" name="Card 104"/>
          <p:cNvSpPr/>
          <p:nvPr/>
        </p:nvSpPr>
        <p:spPr>
          <a:xfrm>
            <a:off x="73152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Predicting crushes</a:t>
            </a:r>
          </a:p>
          <a:p>
            <a:pPr algn="l">
              <a:lnSpc>
                <a:spcPct val="100000"/>
              </a:lnSpc>
              <a:spcBef>
                <a:spcPts val="0"/>
              </a:spcBef>
              <a:spcAft>
                <a:spcPts val="0"/>
              </a:spcAft>
            </a:pPr>
            <a:r>
              <a:rPr lang="en-US" sz="1700" b="0" i="0" dirty="0">
                <a:solidFill>
                  <a:srgbClr val="111111"/>
                </a:solidFill>
                <a:latin typeface="Calibri"/>
                <a:cs typeface="Calibri"/>
              </a:rPr>
              <a:t>Crowd science models (AURORA and FTLE) spot danger early. A Delhi trial cut response time by 37 percent.</a:t>
            </a:r>
          </a:p>
          <a:p>
            <a:pPr>
              <a:spcBef>
                <a:spcPts val="400"/>
              </a:spcBef>
              <a:spcAft>
                <a:spcPts val="0"/>
              </a:spcAft>
            </a:pPr>
            <a:r>
              <a:rPr sz="1400">
                <a:solidFill>
                  <a:srgbClr val="5A5A5A"/>
                </a:solidFill>
                <a:latin typeface="Calibri"/>
              </a:rPr>
              <a:t>Ideas: AURORA warning model, FTLE bottlenecks, STAR-Crowd Delhi trial</a:t>
            </a:r>
          </a:p>
        </p:txBody>
      </p:sp>
      <p:sp>
        <p:nvSpPr>
          <p:cNvPr id="105" name="Card 105"/>
          <p:cNvSpPr/>
          <p:nvPr/>
        </p:nvSpPr>
        <p:spPr>
          <a:xfrm>
            <a:off x="932688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Why India needs it</a:t>
            </a:r>
          </a:p>
          <a:p>
            <a:pPr algn="l">
              <a:lnSpc>
                <a:spcPct val="100000"/>
              </a:lnSpc>
              <a:spcBef>
                <a:spcPts val="0"/>
              </a:spcBef>
              <a:spcAft>
                <a:spcPts val="0"/>
              </a:spcAft>
            </a:pPr>
            <a:r>
              <a:rPr lang="en-US" sz="1700" b="0" i="0" dirty="0">
                <a:solidFill>
                  <a:srgbClr val="111111"/>
                </a:solidFill>
                <a:latin typeface="Calibri"/>
                <a:cs typeface="Calibri"/>
              </a:rPr>
              <a:t>Hathras, Kumbh and railway station crushes all came from packed halls and blocked exits.</a:t>
            </a:r>
          </a:p>
          <a:p>
            <a:pPr>
              <a:spcBef>
                <a:spcPts val="400"/>
              </a:spcBef>
              <a:spcAft>
                <a:spcPts val="0"/>
              </a:spcAft>
            </a:pPr>
            <a:r>
              <a:rPr sz="1400">
                <a:solidFill>
                  <a:srgbClr val="5A5A5A"/>
                </a:solidFill>
                <a:latin typeface="Calibri"/>
              </a:rPr>
              <a:t>Test video: </a:t>
            </a:r>
            <a:r>
              <a:rPr sz="1400" b="1" u="sng">
                <a:solidFill>
                  <a:srgbClr val="1E2761"/>
                </a:solidFill>
                <a:latin typeface="Calibri"/>
                <a:hlinkClick r:id="rId8"/>
              </a:rPr>
              <a:t>Wikimedia Commons</a:t>
            </a:r>
            <a:r>
              <a:rPr sz="1400">
                <a:solidFill>
                  <a:srgbClr val="5A5A5A"/>
                </a:solidFill>
                <a:latin typeface="Calibri"/>
              </a:rPr>
              <a:t> public footage (station, crossing, temple)</a:t>
            </a:r>
          </a:p>
        </p:txBody>
      </p:sp>
      <p:sp>
        <p:nvSpPr>
          <p:cNvPr id="106" name="TextBox 106"/>
          <p:cNvSpPr txBox="1"/>
          <p:nvPr/>
        </p:nvSpPr>
        <p:spPr>
          <a:xfrm>
            <a:off x="731520" y="658368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Privacy built in</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Blurred video, sealed proof</a:t>
            </a:r>
          </a:p>
          <a:p>
            <a:pPr algn="l">
              <a:lnSpc>
                <a:spcPct val="100000"/>
              </a:lnSpc>
              <a:spcBef>
                <a:spcPts val="0"/>
              </a:spcBef>
              <a:spcAft>
                <a:spcPts val="0"/>
              </a:spcAft>
            </a:pPr>
            <a:r>
              <a:rPr lang="en-US" sz="1900" b="0" i="0" dirty="0">
                <a:solidFill>
                  <a:srgbClr val="DDE3FA"/>
                </a:solidFill>
                <a:latin typeface="Calibri"/>
                <a:cs typeface="Calibri"/>
              </a:rPr>
              <a:t>Saved video is face-blurred. Sharp stills stay sealed in the case file.</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7-day routine wipe</a:t>
            </a:r>
          </a:p>
          <a:p>
            <a:pPr algn="l">
              <a:lnSpc>
                <a:spcPct val="100000"/>
              </a:lnSpc>
              <a:spcBef>
                <a:spcPts val="0"/>
              </a:spcBef>
              <a:spcAft>
                <a:spcPts val="0"/>
              </a:spcAft>
            </a:pPr>
            <a:r>
              <a:rPr lang="en-US" sz="1900" b="0" i="0" dirty="0">
                <a:solidFill>
                  <a:srgbClr val="DDE3FA"/>
                </a:solidFill>
                <a:latin typeface="Calibri"/>
                <a:cs typeface="Calibri"/>
              </a:rPr>
              <a:t>Daily footage wipes after 7 days. Flagged incidents are exported first and kept for the police.</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Tamper-evident log</a:t>
            </a:r>
          </a:p>
          <a:p>
            <a:pPr algn="l">
              <a:lnSpc>
                <a:spcPct val="100000"/>
              </a:lnSpc>
              <a:spcBef>
                <a:spcPts val="0"/>
              </a:spcBef>
              <a:spcAft>
                <a:spcPts val="0"/>
              </a:spcAft>
            </a:pPr>
            <a:r>
              <a:rPr lang="en-US" sz="1900" b="0" i="0" dirty="0">
                <a:solidFill>
                  <a:srgbClr val="DDE3FA"/>
                </a:solidFill>
                <a:latin typeface="Calibri"/>
                <a:cs typeface="Calibri"/>
              </a:rPr>
              <a:t>Every action is hash-chained. Any edit leaves a trace.</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No ID linking</a:t>
            </a:r>
          </a:p>
          <a:p>
            <a:pPr algn="l">
              <a:lnSpc>
                <a:spcPct val="100000"/>
              </a:lnSpc>
              <a:spcBef>
                <a:spcPts val="0"/>
              </a:spcBef>
              <a:spcAft>
                <a:spcPts val="0"/>
              </a:spcAft>
            </a:pPr>
            <a:r>
              <a:rPr lang="en-US" sz="1900" b="0" i="0" dirty="0">
                <a:solidFill>
                  <a:srgbClr val="DDE3FA"/>
                </a:solidFill>
                <a:latin typeface="Calibri"/>
                <a:cs typeface="Calibri"/>
              </a:rPr>
              <a:t>Only people who choose to opt in can be matched.</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