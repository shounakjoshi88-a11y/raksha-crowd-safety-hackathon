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 Id="rId30" Type="http://schemas.openxmlformats.org/officeDocument/2006/relationships/hyperlink" Target="https://indianexpress.com/article/long-reads/maha-kumbh-goes-digital-2700-cctvs-ai-to-track-crowd-underwater-drones-9770545/" TargetMode="External"/><Relationship Id="rId31" Type="http://schemas.openxmlformats.org/officeDocument/2006/relationships/hyperlink" Target="https://apnews.com/article/india-stampede-deaths-religious-gathering-5ef739c5cbe8bb8b732c0b3099173810"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Alerts existed. Action did not follow in time.</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a:solidFill>
                  <a:srgbClr val="1E2761"/>
                </a:solidFill>
                <a:latin typeface="Calibri"/>
              </a:rPr>
              <a:t>After</a:t>
            </a:r>
            <a:r>
              <a:rPr sz="1400" b="0">
                <a:solidFill>
                  <a:srgbClr val="111111"/>
                </a:solidFill>
                <a:latin typeface="Calibri"/>
              </a:rPr>
              <a:t>
30 dead officially, despite live AI alerts. No action followed in time.</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Published research shows box detectors collapse under overlap: F1 0.07 vs 0.71 point-based. Density maps cut counting error 265 to 105 MAE. (NWPU-Crowd)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Warns before stillness</a:t>
            </a:r>
          </a:p>
          <a:p>
            <a:pPr algn="l"/>
            <a:r>
              <a:rPr sz="1300" b="0" i="0">
                <a:solidFill>
                  <a:srgbClr val="111111"/>
                </a:solidFill>
                <a:latin typeface="Calibri"/>
              </a:rPr>
              <a:t>Stop-and-go waves and rising pressure fire the alert while feet still move. Shown on Hajj 2006 footage; multi-site trials are the pilot's job.</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each peak is one head, the sum is the count.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400" b="0" i="0">
                <a:solidFill>
                  <a:srgbClr val="111111"/>
                </a:solidFill>
                <a:latin typeface="Calibri"/>
              </a:rPr>
              <a:t>Each edge box keeps a 10-minute rolling buffer and sends small JSON numbers, never raw video. Only a confirmed Red alert exports its clip, signed, to the evidence pack.</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surveys for its alarm. Open grounds and PTZ cameras run relative levels plus entry counts.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400" b="0" i="0">
                <a:solidFill>
                  <a:srgbClr val="111111"/>
                </a:solidFill>
                <a:latin typeface="Calibri"/>
              </a:rPr>
              <a:t>Heatmaps cannot show a face. Saved video is blurred, wiped after 7 days, zero identity in core. Police clips are access-logged, designed to align with DPDP Act 2023 principles.</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300" b="0" i="0">
                <a:solidFill>
                  <a:srgbClr val="5A5A5A"/>
                </a:solidFill>
                <a:latin typeface="Calibri"/>
              </a:rPr>
              <a:t>One Jetson-class box (about $250, 15 watts) per 1 to 4 cameras. Reuses existing CCTV. Pilot will test night, rain, oblique angles.</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150" b="0" i="0">
                <a:solidFill>
                  <a:srgbClr val="111111"/>
                </a:solidFill>
                <a:latin typeface="Calibri"/>
              </a:rPr>
              <a:t>Pressure (density x movement variance) crossed its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r>
              <a:rPr sz="1500" b="1" i="0">
                <a:solidFill>
                  <a:srgbClr val="FFFFFF"/>
                </a:solidFill>
                <a:latin typeface="Calibri"/>
              </a:rPr>
              <a:t>Pressure at Gate B opens overflow at Gate A upstream. Kumbh's alarms reportedly went unactioned; ours forces an answer: owner, timer, log.</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Police</a:t>
            </a:r>
          </a:p>
          <a:p>
            <a:pPr algn="l"/>
            <a:r>
              <a:rPr sz="1500" b="0" i="0">
                <a:solidFill>
                  <a:srgbClr val="111111"/>
                </a:solidFill>
                <a:latin typeface="Calibri"/>
              </a:rPr>
              <a:t>Every alert, zone and action exports as one evidence pack in a click, with the signed 10-minute incident clip.</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Auto-pages the zone guard with a 2-minute ack timer.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confirm on handsets; unanswered reds climb to venue command, then city control.</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400" b="1" i="0">
                <a:solidFill>
                  <a:srgbClr val="1E2761"/>
                </a:solidFill>
                <a:latin typeface="Calibri"/>
              </a:rPr>
              <a:t>Pilot targets: warn before critical, alerts reach guards in seconds, publish the false-alarm rate, log every step. Still to prove: thresholds across venue types, calibration without surveys.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a:p>
            <a:pPr algn="l"/>
            <a:r>
              <a:rPr sz="1050">
                <a:solidFill>
                  <a:srgbClr val="FFFFFF"/>
                </a:solidFill>
                <a:latin typeface="Calibri"/>
              </a:rPr>
              <a:t>Sources: Indian Express (Kumbh tech), AP (Hathras).</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5989320"/>
            <a:ext cx="16824960" cy="566928"/>
          </a:xfrm>
          <a:prstGeom prst="rect">
            <a:avLst/>
          </a:prstGeom>
          <a:noFill/>
        </p:spPr>
        <p:txBody>
          <a:bodyPr wrap="square" anchor="ctr" lIns="45720" rIns="45720" tIns="18288" bIns="18288"/>
          <a:lstStyle/>
          <a:p>
            <a:pPr algn="l"/>
            <a:r>
              <a:rPr sz="1050" b="1" i="0">
                <a:solidFill>
                  <a:srgbClr val="1E2761"/>
                </a:solidFill>
                <a:latin typeface="Calibri"/>
              </a:rPr>
              <a:t>Status: idea stage. Numbers above are published research we build on, not our measurements.</a:t>
            </a:r>
          </a:p>
          <a:p>
            <a:pPr algn="l"/>
            <a:r>
              <a:rPr sz="1000" b="0" i="0">
                <a:solidFill>
                  <a:srgbClr val="1E2761"/>
                </a:solidFill>
                <a:latin typeface="Calibri"/>
              </a:rPr>
              <a:t>Build from:  </a:t>
            </a:r>
            <a:r>
              <a:rPr sz="1000" b="0" i="0">
                <a:solidFill>
                  <a:srgbClr val="5A5A5A"/>
                </a:solidFill>
                <a:latin typeface="Calibri"/>
                <a:hlinkClick r:id="rId11"/>
              </a:rPr>
              <a:t>DM-Count code (MIT)  </a:t>
            </a:r>
            <a:r>
              <a:rPr sz="1000" b="0" i="0">
                <a:solidFill>
                  <a:srgbClr val="5A5A5A"/>
                </a:solidFill>
                <a:latin typeface="Calibri"/>
                <a:hlinkClick r:id="rId27"/>
              </a:rPr>
              <a:t>CSRNet model  </a:t>
            </a:r>
            <a:r>
              <a:rPr sz="1000" b="0" i="0">
                <a:solidFill>
                  <a:srgbClr val="5A5A5A"/>
                </a:solidFill>
                <a:latin typeface="Calibri"/>
                <a:hlinkClick r:id="rId28"/>
              </a:rPr>
              <a:t>homography calibrator  </a:t>
            </a:r>
            <a:r>
              <a:rPr sz="1000" b="0" i="0">
                <a:solidFill>
                  <a:srgbClr val="5A5A5A"/>
                </a:solidFill>
                <a:latin typeface="Calibri"/>
                <a:hlinkClick r:id="rId29"/>
              </a:rPr>
              <a:t>DeepStream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