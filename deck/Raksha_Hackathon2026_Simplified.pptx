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Kumbh 2025</a:t>
            </a:r>
          </a:p>
          <a:p>
            <a:pPr algn="l"/>
            <a:r>
              <a:rPr sz="1500" b="0" i="0">
                <a:solidFill>
                  <a:srgbClr val="111111"/>
                </a:solidFill>
                <a:latin typeface="Calibri"/>
              </a:rPr>
              <a:t>2,751 cameras and AI alerts were live. The crush still killed 30.</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Itaewon 2022</a:t>
            </a:r>
          </a:p>
          <a:p>
            <a:pPr algn="l"/>
            <a:r>
              <a:rPr sz="1500" b="0" i="0">
                <a:solidFill>
                  <a:srgbClr val="111111"/>
                </a:solidFill>
                <a:latin typeface="Calibri"/>
              </a:rPr>
              <a:t>159 dead in a 3.2 metre alley. 11 calls ignored. No machine spoke up.</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Four hours of human warning. No machine ever paged anyone.</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Itaewon, 29 October 2022</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6949440" cy="868680"/>
          </a:xfrm>
          <a:prstGeom prst="rect">
            <a:avLst/>
          </a:prstGeom>
          <a:noFill/>
        </p:spPr>
        <p:txBody>
          <a:bodyPr wrap="square" anchor="ctr" lIns="45720" rIns="45720" tIns="18288" bIns="18288"/>
          <a:lstStyle/>
          <a:p>
            <a:pPr algn="l"/>
            <a:r>
              <a:rPr sz="1600" b="1" i="0">
                <a:solidFill>
                  <a:srgbClr val="1E2761"/>
                </a:solidFill>
                <a:latin typeface="Calibri"/>
              </a:rPr>
              <a:t>18:34</a:t>
            </a:r>
          </a:p>
          <a:p>
            <a:pPr algn="l"/>
            <a:r>
              <a:rPr sz="1400" b="0" i="0">
                <a:solidFill>
                  <a:srgbClr val="111111"/>
                </a:solidFill>
                <a:latin typeface="Calibri"/>
              </a:rPr>
              <a:t>First distress calls from the packed alley.</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6949440" cy="868680"/>
          </a:xfrm>
          <a:prstGeom prst="rect">
            <a:avLst/>
          </a:prstGeom>
          <a:noFill/>
        </p:spPr>
        <p:txBody>
          <a:bodyPr wrap="square" anchor="ctr" lIns="45720" rIns="45720" tIns="18288" bIns="18288"/>
          <a:lstStyle/>
          <a:p>
            <a:pPr algn="l"/>
            <a:r>
              <a:rPr sz="1600" b="1" i="0">
                <a:solidFill>
                  <a:srgbClr val="1E2761"/>
                </a:solidFill>
                <a:latin typeface="Calibri"/>
              </a:rPr>
              <a:t>hours pass</a:t>
            </a:r>
          </a:p>
          <a:p>
            <a:pPr algn="l"/>
            <a:r>
              <a:rPr sz="1400" b="0" i="0">
                <a:solidFill>
                  <a:srgbClr val="111111"/>
                </a:solidFill>
                <a:latin typeface="Calibri"/>
              </a:rPr>
              <a:t>Calls keep coming. No machine raises an alarm.</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6949440" cy="868680"/>
          </a:xfrm>
          <a:prstGeom prst="rect">
            <a:avLst/>
          </a:prstGeom>
          <a:noFill/>
        </p:spPr>
        <p:txBody>
          <a:bodyPr wrap="square" anchor="ctr" lIns="45720" rIns="45720" tIns="18288" bIns="18288"/>
          <a:lstStyle/>
          <a:p>
            <a:pPr algn="l"/>
            <a:r>
              <a:rPr sz="1600" b="1" i="0">
                <a:solidFill>
                  <a:srgbClr val="1E2761"/>
                </a:solidFill>
                <a:latin typeface="Calibri"/>
              </a:rPr>
              <a:t>22:15</a:t>
            </a:r>
          </a:p>
          <a:p>
            <a:pPr algn="l"/>
            <a:r>
              <a:rPr sz="1400" b="0" i="0">
                <a:solidFill>
                  <a:srgbClr val="111111"/>
                </a:solidFill>
                <a:latin typeface="Calibri"/>
              </a:rPr>
              <a:t>The alley locks. 159 dead, 196 injured.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50" b="0" i="0">
                <a:solidFill>
                  <a:srgbClr val="111111"/>
                </a:solidFill>
                <a:latin typeface="Calibri"/>
              </a:rPr>
              <a:t>At crush density a detector scores F1 0.07 against 0.71 point-based. (NWPU-Crowd)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Side track, kept</a:t>
            </a:r>
          </a:p>
          <a:p>
            <a:pPr algn="l"/>
            <a:r>
              <a:rPr sz="1350" b="0" i="0">
                <a:solidFill>
                  <a:srgbClr val="111111"/>
                </a:solidFill>
                <a:latin typeface="Calibri"/>
              </a:rPr>
              <a:t>Below 2 people per m2, box IDs still run and feed the dossier. Already built.</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502920"/>
          </a:xfrm>
          <a:prstGeom prst="rect">
            <a:avLst/>
          </a:prstGeom>
          <a:noFill/>
        </p:spPr>
        <p:txBody>
          <a:bodyPr wrap="square" anchor="ctr" lIns="45720" rIns="45720" tIns="18288" bIns="18288"/>
          <a:lstStyle/>
          <a:p>
            <a:pPr algn="l"/>
            <a:r>
              <a:rPr sz="1500" b="1" i="0">
                <a:solidFill>
                  <a:srgbClr val="1E2761"/>
                </a:solidFill>
                <a:latin typeface="Calibri"/>
              </a:rPr>
              <a:t>Count error keeps falling (MAE, lower is better)</a:t>
            </a:r>
          </a:p>
        </p:txBody>
      </p:sp>
      <p:sp>
        <p:nvSpPr>
          <p:cNvPr id="121" name="P3 lbl"/>
          <p:cNvSpPr txBox="1"/>
          <p:nvPr/>
        </p:nvSpPr>
        <p:spPr>
          <a:xfrm>
            <a:off x="960120" y="6812280"/>
            <a:ext cx="1554480" cy="502920"/>
          </a:xfrm>
          <a:prstGeom prst="rect">
            <a:avLst/>
          </a:prstGeom>
          <a:noFill/>
        </p:spPr>
        <p:txBody>
          <a:bodyPr wrap="square" anchor="ctr" lIns="45720" rIns="45720" tIns="18288" bIns="18288"/>
          <a:lstStyle/>
          <a:p>
            <a:pPr algn="r"/>
            <a:r>
              <a:rPr sz="1300" b="0" i="0">
                <a:solidFill>
                  <a:srgbClr val="1E2761"/>
                </a:solidFill>
                <a:latin typeface="Calibri"/>
              </a:rPr>
              <a:t>CSRNet</a:t>
            </a:r>
          </a:p>
        </p:txBody>
      </p:sp>
      <p:sp>
        <p:nvSpPr>
          <p:cNvPr id="122" name="P3 track"/>
          <p:cNvSpPr/>
          <p:nvPr/>
        </p:nvSpPr>
        <p:spPr>
          <a:xfrm>
            <a:off x="2606040" y="6903720"/>
            <a:ext cx="3291840" cy="292608"/>
          </a:xfrm>
          <a:prstGeom prst="rect">
            <a:avLst/>
          </a:prstGeom>
          <a:solidFill>
            <a:srgbClr val="D5D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3 fill"/>
          <p:cNvSpPr/>
          <p:nvPr/>
        </p:nvSpPr>
        <p:spPr>
          <a:xfrm>
            <a:off x="2606040" y="6903720"/>
            <a:ext cx="3197787"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3 val"/>
          <p:cNvSpPr txBox="1"/>
          <p:nvPr/>
        </p:nvSpPr>
        <p:spPr>
          <a:xfrm>
            <a:off x="6035040" y="6812280"/>
            <a:ext cx="822960" cy="502920"/>
          </a:xfrm>
          <a:prstGeom prst="rect">
            <a:avLst/>
          </a:prstGeom>
          <a:noFill/>
        </p:spPr>
        <p:txBody>
          <a:bodyPr wrap="square" anchor="ctr" lIns="45720" rIns="45720" tIns="18288" bIns="18288"/>
          <a:lstStyle/>
          <a:p>
            <a:pPr algn="l"/>
            <a:r>
              <a:rPr sz="1300" b="1" i="0">
                <a:solidFill>
                  <a:srgbClr val="1E2761"/>
                </a:solidFill>
                <a:latin typeface="Calibri"/>
              </a:rPr>
              <a:t>68</a:t>
            </a:r>
          </a:p>
        </p:txBody>
      </p:sp>
      <p:sp>
        <p:nvSpPr>
          <p:cNvPr id="125" name="P3 lbl"/>
          <p:cNvSpPr txBox="1"/>
          <p:nvPr/>
        </p:nvSpPr>
        <p:spPr>
          <a:xfrm>
            <a:off x="960120" y="7543800"/>
            <a:ext cx="1554480" cy="502920"/>
          </a:xfrm>
          <a:prstGeom prst="rect">
            <a:avLst/>
          </a:prstGeom>
          <a:noFill/>
        </p:spPr>
        <p:txBody>
          <a:bodyPr wrap="square" anchor="ctr" lIns="45720" rIns="45720" tIns="18288" bIns="18288"/>
          <a:lstStyle/>
          <a:p>
            <a:pPr algn="r"/>
            <a:r>
              <a:rPr sz="1300" b="0" i="0">
                <a:solidFill>
                  <a:srgbClr val="1E2761"/>
                </a:solidFill>
                <a:latin typeface="Calibri"/>
              </a:rPr>
              <a:t>Bayesian</a:t>
            </a:r>
          </a:p>
        </p:txBody>
      </p:sp>
      <p:sp>
        <p:nvSpPr>
          <p:cNvPr id="126" name="P3 track"/>
          <p:cNvSpPr/>
          <p:nvPr/>
        </p:nvSpPr>
        <p:spPr>
          <a:xfrm>
            <a:off x="2606040" y="7635240"/>
            <a:ext cx="3291840" cy="292608"/>
          </a:xfrm>
          <a:prstGeom prst="rect">
            <a:avLst/>
          </a:prstGeom>
          <a:solidFill>
            <a:srgbClr val="D5D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3 fill"/>
          <p:cNvSpPr/>
          <p:nvPr/>
        </p:nvSpPr>
        <p:spPr>
          <a:xfrm>
            <a:off x="2606040" y="7635240"/>
            <a:ext cx="2962656"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3 val"/>
          <p:cNvSpPr txBox="1"/>
          <p:nvPr/>
        </p:nvSpPr>
        <p:spPr>
          <a:xfrm>
            <a:off x="6035040" y="7543800"/>
            <a:ext cx="822960" cy="502920"/>
          </a:xfrm>
          <a:prstGeom prst="rect">
            <a:avLst/>
          </a:prstGeom>
          <a:noFill/>
        </p:spPr>
        <p:txBody>
          <a:bodyPr wrap="square" anchor="ctr" lIns="45720" rIns="45720" tIns="18288" bIns="18288"/>
          <a:lstStyle/>
          <a:p>
            <a:pPr algn="l"/>
            <a:r>
              <a:rPr sz="1300" b="1" i="0">
                <a:solidFill>
                  <a:srgbClr val="1E2761"/>
                </a:solidFill>
                <a:latin typeface="Calibri"/>
              </a:rPr>
              <a:t>63</a:t>
            </a:r>
          </a:p>
        </p:txBody>
      </p:sp>
      <p:sp>
        <p:nvSpPr>
          <p:cNvPr id="129" name="P3 lbl"/>
          <p:cNvSpPr txBox="1"/>
          <p:nvPr/>
        </p:nvSpPr>
        <p:spPr>
          <a:xfrm>
            <a:off x="960120" y="8275320"/>
            <a:ext cx="1554480" cy="502920"/>
          </a:xfrm>
          <a:prstGeom prst="rect">
            <a:avLst/>
          </a:prstGeom>
          <a:noFill/>
        </p:spPr>
        <p:txBody>
          <a:bodyPr wrap="square" anchor="ctr" lIns="45720" rIns="45720" tIns="18288" bIns="18288"/>
          <a:lstStyle/>
          <a:p>
            <a:pPr algn="r"/>
            <a:r>
              <a:rPr sz="1300" b="0" i="0">
                <a:solidFill>
                  <a:srgbClr val="1E2761"/>
                </a:solidFill>
                <a:latin typeface="Calibri"/>
              </a:rPr>
              <a:t>DM-Count</a:t>
            </a:r>
          </a:p>
        </p:txBody>
      </p:sp>
      <p:sp>
        <p:nvSpPr>
          <p:cNvPr id="130" name="P3 track"/>
          <p:cNvSpPr/>
          <p:nvPr/>
        </p:nvSpPr>
        <p:spPr>
          <a:xfrm>
            <a:off x="2606040" y="8366760"/>
            <a:ext cx="3291840" cy="292608"/>
          </a:xfrm>
          <a:prstGeom prst="rect">
            <a:avLst/>
          </a:prstGeom>
          <a:solidFill>
            <a:srgbClr val="D5D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3 fill"/>
          <p:cNvSpPr/>
          <p:nvPr/>
        </p:nvSpPr>
        <p:spPr>
          <a:xfrm>
            <a:off x="2606040" y="8366760"/>
            <a:ext cx="2821577"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3 val"/>
          <p:cNvSpPr txBox="1"/>
          <p:nvPr/>
        </p:nvSpPr>
        <p:spPr>
          <a:xfrm>
            <a:off x="6035040" y="8275320"/>
            <a:ext cx="822960" cy="502920"/>
          </a:xfrm>
          <a:prstGeom prst="rect">
            <a:avLst/>
          </a:prstGeom>
          <a:noFill/>
        </p:spPr>
        <p:txBody>
          <a:bodyPr wrap="square" anchor="ctr" lIns="45720" rIns="45720" tIns="18288" bIns="18288"/>
          <a:lstStyle/>
          <a:p>
            <a:pPr algn="l"/>
            <a:r>
              <a:rPr sz="1300" b="1" i="0">
                <a:solidFill>
                  <a:srgbClr val="1E2761"/>
                </a:solidFill>
                <a:latin typeface="Calibri"/>
              </a:rPr>
              <a:t>60</a:t>
            </a:r>
          </a:p>
        </p:txBody>
      </p:sp>
      <p:sp>
        <p:nvSpPr>
          <p:cNvPr id="133" name="P3 lbl"/>
          <p:cNvSpPr txBox="1"/>
          <p:nvPr/>
        </p:nvSpPr>
        <p:spPr>
          <a:xfrm>
            <a:off x="960120" y="9006840"/>
            <a:ext cx="1554480" cy="502920"/>
          </a:xfrm>
          <a:prstGeom prst="rect">
            <a:avLst/>
          </a:prstGeom>
          <a:noFill/>
        </p:spPr>
        <p:txBody>
          <a:bodyPr wrap="square" anchor="ctr" lIns="45720" rIns="45720" tIns="18288" bIns="18288"/>
          <a:lstStyle/>
          <a:p>
            <a:pPr algn="r"/>
            <a:r>
              <a:rPr sz="1300" b="0" i="0">
                <a:solidFill>
                  <a:srgbClr val="1E2761"/>
                </a:solidFill>
                <a:latin typeface="Calibri"/>
              </a:rPr>
              <a:t>Latest</a:t>
            </a:r>
          </a:p>
        </p:txBody>
      </p:sp>
      <p:sp>
        <p:nvSpPr>
          <p:cNvPr id="134" name="P3 track"/>
          <p:cNvSpPr/>
          <p:nvPr/>
        </p:nvSpPr>
        <p:spPr>
          <a:xfrm>
            <a:off x="2606040" y="9098280"/>
            <a:ext cx="3291840" cy="292608"/>
          </a:xfrm>
          <a:prstGeom prst="rect">
            <a:avLst/>
          </a:prstGeom>
          <a:solidFill>
            <a:srgbClr val="D5D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3 fill"/>
          <p:cNvSpPr/>
          <p:nvPr/>
        </p:nvSpPr>
        <p:spPr>
          <a:xfrm>
            <a:off x="2606040" y="9098280"/>
            <a:ext cx="230428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3 val"/>
          <p:cNvSpPr txBox="1"/>
          <p:nvPr/>
        </p:nvSpPr>
        <p:spPr>
          <a:xfrm>
            <a:off x="6035040" y="9006840"/>
            <a:ext cx="822960" cy="502920"/>
          </a:xfrm>
          <a:prstGeom prst="rect">
            <a:avLst/>
          </a:prstGeom>
          <a:noFill/>
        </p:spPr>
        <p:txBody>
          <a:bodyPr wrap="square" anchor="ctr" lIns="45720" rIns="45720" tIns="18288" bIns="18288"/>
          <a:lstStyle/>
          <a:p>
            <a:pPr algn="l"/>
            <a:r>
              <a:rPr sz="1300" b="1" i="0">
                <a:solidFill>
                  <a:srgbClr val="1E2761"/>
                </a:solidFill>
                <a:latin typeface="Calibri"/>
              </a:rPr>
              <a:t>49</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500" b="0" i="0">
                <a:solidFill>
                  <a:srgbClr val="111111"/>
                </a:solidFill>
                <a:latin typeface="Calibri"/>
              </a:rPr>
              <a:t>Each edge box sends small JSON numbers, never raw video. Footage is discarded at the camera.</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500" b="0" i="0">
                <a:solidFill>
                  <a:srgbClr val="111111"/>
                </a:solidFill>
                <a:latin typeface="Calibri"/>
              </a:rPr>
              <a:t>Fixed gates are measured once. Other views use relative levels. No fake square metres.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500" b="0" i="0">
                <a:solidFill>
                  <a:srgbClr val="111111"/>
                </a:solidFill>
                <a:latin typeface="Calibri"/>
              </a:rPr>
              <a:t>Heatmaps cannot show a face. Saved video is blurred, wiped after 7 days, zero identity in core.</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400" b="0" i="0">
                <a:solidFill>
                  <a:srgbClr val="5A5A5A"/>
                </a:solidFill>
                <a:latin typeface="Calibri"/>
              </a:rPr>
              <a:t>Raw video never leaves the camera box.</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Runs on site, not in the cloud</a:t>
            </a:r>
          </a:p>
        </p:txBody>
      </p:sp>
      <p:sp>
        <p:nvSpPr>
          <p:cNvPr id="121" name="P4 siterow"/>
          <p:cNvSpPr txBox="1"/>
          <p:nvPr/>
        </p:nvSpPr>
        <p:spPr>
          <a:xfrm>
            <a:off x="9601200" y="7424927"/>
            <a:ext cx="7680960" cy="548640"/>
          </a:xfrm>
          <a:prstGeom prst="rect">
            <a:avLst/>
          </a:prstGeom>
          <a:noFill/>
        </p:spPr>
        <p:txBody>
          <a:bodyPr wrap="square" anchor="ctr" lIns="45720" rIns="45720" tIns="18288" bIns="18288"/>
          <a:lstStyle/>
          <a:p>
            <a:pPr algn="l"/>
            <a:r>
              <a:rPr sz="1350" b="0" i="0">
                <a:solidFill>
                  <a:srgbClr val="111111"/>
                </a:solidFill>
                <a:latin typeface="Calibri"/>
              </a:rPr>
              <a:t>Edge box per 1 to 4 cameras (Jetson class)</a:t>
            </a:r>
          </a:p>
        </p:txBody>
      </p:sp>
      <p:sp>
        <p:nvSpPr>
          <p:cNvPr id="122" name="P4 siterow"/>
          <p:cNvSpPr txBox="1"/>
          <p:nvPr/>
        </p:nvSpPr>
        <p:spPr>
          <a:xfrm>
            <a:off x="9601200" y="7991855"/>
            <a:ext cx="7680960" cy="548640"/>
          </a:xfrm>
          <a:prstGeom prst="rect">
            <a:avLst/>
          </a:prstGeom>
          <a:noFill/>
        </p:spPr>
        <p:txBody>
          <a:bodyPr wrap="square" anchor="ctr" lIns="45720" rIns="45720" tIns="18288" bIns="18288"/>
          <a:lstStyle/>
          <a:p>
            <a:pPr algn="l"/>
            <a:r>
              <a:rPr sz="1350" b="0" i="0">
                <a:solidFill>
                  <a:srgbClr val="111111"/>
                </a:solidFill>
                <a:latin typeface="Calibri"/>
              </a:rPr>
              <a:t>Venue server fuses every feed into one map</a:t>
            </a:r>
          </a:p>
        </p:txBody>
      </p:sp>
      <p:sp>
        <p:nvSpPr>
          <p:cNvPr id="123" name="P4 siterow"/>
          <p:cNvSpPr txBox="1"/>
          <p:nvPr/>
        </p:nvSpPr>
        <p:spPr>
          <a:xfrm>
            <a:off x="9601200" y="8558784"/>
            <a:ext cx="7680960" cy="548640"/>
          </a:xfrm>
          <a:prstGeom prst="rect">
            <a:avLst/>
          </a:prstGeom>
          <a:noFill/>
        </p:spPr>
        <p:txBody>
          <a:bodyPr wrap="square" anchor="ctr" lIns="45720" rIns="45720" tIns="18288" bIns="18288"/>
          <a:lstStyle/>
          <a:p>
            <a:pPr algn="l"/>
            <a:r>
              <a:rPr sz="1350" b="0" i="0">
                <a:solidFill>
                  <a:srgbClr val="111111"/>
                </a:solidFill>
                <a:latin typeface="Calibri"/>
              </a:rPr>
              <a:t>Guard handsets get the alert, human confirms</a:t>
            </a:r>
          </a:p>
        </p:txBody>
      </p:sp>
      <p:sp>
        <p:nvSpPr>
          <p:cNvPr id="124" name="P4 sitef"/>
          <p:cNvSpPr txBox="1"/>
          <p:nvPr/>
        </p:nvSpPr>
        <p:spPr>
          <a:xfrm>
            <a:off x="9601200" y="9125712"/>
            <a:ext cx="7680960" cy="365760"/>
          </a:xfrm>
          <a:prstGeom prst="rect">
            <a:avLst/>
          </a:prstGeom>
          <a:noFill/>
        </p:spPr>
        <p:txBody>
          <a:bodyPr wrap="square" anchor="ctr" lIns="45720" rIns="45720" tIns="18288" bIns="18288"/>
          <a:lstStyle/>
          <a:p>
            <a:pPr algn="l"/>
            <a:r>
              <a:rPr sz="1050" b="0" i="0">
                <a:solidFill>
                  <a:srgbClr val="5A5A5A"/>
                </a:solidFill>
                <a:latin typeface="Calibri"/>
              </a:rPr>
              <a:t>Deployment scale numbers only, no laptop tests.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600" b="1" i="0">
                <a:solidFill>
                  <a:srgbClr val="FFFFFF"/>
                </a:solidFill>
                <a:latin typeface="Calibri"/>
              </a:rPr>
              <a:t>Pressure rising at Gate B opens overflow at Gate A upstream. Security acts before the jam, not after.</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Guards watch the zone closely.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500" b="1" i="0">
                <a:solidFill>
                  <a:srgbClr val="1E2761"/>
                </a:solidFill>
                <a:latin typeface="Calibri"/>
              </a:rPr>
              <a:t>Pilot targets: warn before critical, page guards in seconds, log every step.</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Count the overlap</a:t>
            </a:r>
          </a:p>
          <a:p>
            <a:pPr algn="l"/>
            <a:r>
              <a:rPr sz="1300" b="0" i="0">
                <a:solidFill>
                  <a:srgbClr val="111111"/>
                </a:solidFill>
                <a:latin typeface="Calibri"/>
              </a:rPr>
              <a:t>CSRNet (CVPR 2018), Bayesian Loss (ICCV 2019), DM-Count (NeurIPS 2020).</a:t>
            </a:r>
          </a:p>
          <a:p>
            <a:pPr algn="l"/>
            <a:r>
              <a:rPr sz="1100" b="0" i="0">
                <a:solidFill>
                  <a:srgbClr val="5A5A5A"/>
                </a:solidFill>
                <a:latin typeface="Calibri"/>
                <a:hlinkClick r:id="rId9"/>
              </a:rPr>
              <a:t>arXiv:1802.10062  </a:t>
            </a:r>
            <a:r>
              <a:rPr sz="1100" b="0" i="0">
                <a:solidFill>
                  <a:srgbClr val="5A5A5A"/>
                </a:solidFill>
                <a:latin typeface="Calibri"/>
                <a:hlinkClick r:id="rId10"/>
              </a:rPr>
              <a:t>arXiv:1908.03684  </a:t>
            </a:r>
            <a:r>
              <a:rPr sz="1100" b="0" i="0">
                <a:solidFill>
                  <a:srgbClr val="5A5A5A"/>
                </a:solidFill>
                <a:latin typeface="Calibri"/>
                <a:hlinkClick r:id="rId11"/>
              </a:rPr>
              <a:t>DM-Count</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Map pixels to ground</a:t>
            </a:r>
          </a:p>
          <a:p>
            <a:pPr algn="l"/>
            <a:r>
              <a:rPr sz="1300" b="0" i="0">
                <a:solidFill>
                  <a:srgbClr val="111111"/>
                </a:solidFill>
                <a:latin typeface="Calibri"/>
              </a:rPr>
              <a:t>Chan perspective maps (CVPR 2008), Zhang ground-plane fusion (CVPR 2019).</a:t>
            </a:r>
          </a:p>
          <a:p>
            <a:pPr algn="l"/>
            <a:r>
              <a:rPr sz="1100" b="0" i="0">
                <a:solidFill>
                  <a:srgbClr val="5A5A5A"/>
                </a:solidFill>
                <a:latin typeface="Calibri"/>
                <a:hlinkClick r:id="rId12"/>
              </a:rPr>
              <a:t>people counting paper  </a:t>
            </a:r>
            <a:r>
              <a:rPr sz="1100" b="0" i="0">
                <a:solidFill>
                  <a:srgbClr val="5A5A5A"/>
                </a:solidFill>
                <a:latin typeface="Calibri"/>
                <a:hlinkClick r:id="rId13"/>
              </a:rPr>
              <a:t>ground-plane paper</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Read the currents</a:t>
            </a:r>
          </a:p>
          <a:p>
            <a:pPr algn="l"/>
            <a:r>
              <a:rPr sz="1300" b="0" i="0">
                <a:solidFill>
                  <a:srgbClr val="111111"/>
                </a:solidFill>
                <a:latin typeface="Calibri"/>
              </a:rPr>
              <a:t>Mehran social force (CVPR 2009), streaklines (ECCV 2010).</a:t>
            </a:r>
          </a:p>
          <a:p>
            <a:pPr algn="l"/>
            <a:r>
              <a:rPr sz="1100" b="0" i="0">
                <a:solidFill>
                  <a:srgbClr val="5A5A5A"/>
                </a:solidFill>
                <a:latin typeface="Calibri"/>
                <a:hlinkClick r:id="rId14"/>
              </a:rPr>
              <a:t>CVPR 2009 pdf  </a:t>
            </a:r>
            <a:r>
              <a:rPr sz="1100" b="0" i="0">
                <a:solidFill>
                  <a:srgbClr val="5A5A5A"/>
                </a:solidFill>
                <a:latin typeface="Calibri"/>
                <a:hlinkClick r:id="rId15"/>
              </a:rPr>
              <a:t>streakline project</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 on pressure</a:t>
            </a:r>
          </a:p>
          <a:p>
            <a:pPr algn="l"/>
            <a:r>
              <a:rPr sz="1300" b="0" i="0">
                <a:solidFill>
                  <a:srgbClr val="111111"/>
                </a:solidFill>
                <a:latin typeface="Calibri"/>
              </a:rPr>
              <a:t>Helbing social force (1995), crowd disasters (2007), Johansson pressure (2008).</a:t>
            </a:r>
          </a:p>
          <a:p>
            <a:pPr algn="l"/>
            <a:r>
              <a:rPr sz="1100" b="0" i="0">
                <a:solidFill>
                  <a:srgbClr val="5A5A5A"/>
                </a:solidFill>
                <a:latin typeface="Calibri"/>
                <a:hlinkClick r:id="rId16"/>
              </a:rPr>
              <a:t>DOI:10.1103/PhysRevE.51.4282  </a:t>
            </a:r>
            <a:r>
              <a:rPr sz="1100" b="0" i="0">
                <a:solidFill>
                  <a:srgbClr val="5A5A5A"/>
                </a:solidFill>
                <a:latin typeface="Calibri"/>
                <a:hlinkClick r:id="rId17"/>
              </a:rPr>
              <a:t>arXiv:0708.3339  </a:t>
            </a:r>
            <a:r>
              <a:rPr sz="1100" b="0" i="0">
                <a:solidFill>
                  <a:srgbClr val="5A5A5A"/>
                </a:solidFill>
                <a:latin typeface="Calibri"/>
                <a:hlinkClick r:id="rId18"/>
              </a:rPr>
              <a:t>pressure analysis</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