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Video checks per second (higher is better)</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Catch the bottleneck. Stop the surge.</a:t>
            </a:r>
          </a:p>
          <a:p>
            <a:pPr algn="l">
              <a:spcBef>
                <a:spcPts val="0"/>
              </a:spcBef>
              <a:spcAft>
                <a:spcPts val="600"/>
              </a:spcAft>
            </a:pPr>
            <a:r>
              <a:rPr lang="en-US" sz="2200" b="0" i="0" dirty="0">
                <a:solidFill>
                  <a:srgbClr val="111111"/>
                </a:solidFill>
                <a:latin typeface="Calibri"/>
                <a:cs typeface="Calibri"/>
              </a:rPr>
              <a:t>Cameras measure how dense each zone is, and how fast it moves.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18</a:t>
            </a:r>
          </a:p>
          <a:p>
            <a:pPr algn="ctr">
              <a:spcBef>
                <a:spcPts val="0"/>
              </a:spcBef>
              <a:spcAft>
                <a:spcPts val="0"/>
              </a:spcAft>
            </a:pPr>
            <a:r>
              <a:rPr lang="en-US" sz="1700" b="0" i="0" dirty="0">
                <a:solidFill>
                  <a:srgbClr val="5A5A5A"/>
                </a:solidFill>
                <a:latin typeface="Calibri"/>
                <a:cs typeface="Calibri"/>
              </a:rPr>
              <a:t>tracked at once</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Live feed: every person counted, zone density tracked.</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zone packs up and stops: bottleneck flagged.</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Guard warned in seconds; wall shows time left to critical.</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Watch</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Critical</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measures density and flow</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Predict</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forecasts time to critical</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the camera watches, the software flags where the crowd stops moving,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Crowd metrics, not faces</a:t>
            </a:r>
          </a:p>
          <a:p>
            <a:pPr algn="l">
              <a:lnSpc>
                <a:spcPct val="100000"/>
              </a:lnSpc>
              <a:spcBef>
                <a:spcPts val="0"/>
              </a:spcBef>
              <a:spcAft>
                <a:spcPts val="0"/>
              </a:spcAft>
            </a:pPr>
            <a:r>
              <a:rPr lang="en-US" sz="1800" b="0" i="0" dirty="0">
                <a:solidFill>
                  <a:srgbClr val="111111"/>
                </a:solidFill>
                <a:latin typeface="Calibri"/>
                <a:cs typeface="Calibri"/>
              </a:rPr>
              <a:t>Core computes density, flow and stillness per zone. No identity is needed for a crush warning.</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across 2 minutes of busy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Any ordinary camera works. High, wide angles give the clearest density per square metre.</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Tested on real crowd video from three places, all on one gaming laptop. Higher means smoother.</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Forecast</a:t>
            </a:r>
          </a:p>
          <a:p>
            <a:pPr algn="l">
              <a:lnSpc>
                <a:spcPct val="100000"/>
              </a:lnSpc>
              <a:spcBef>
                <a:spcPts val="0"/>
              </a:spcBef>
              <a:spcAft>
                <a:spcPts val="0"/>
              </a:spcAft>
            </a:pPr>
            <a:r>
              <a:rPr lang="en-US" sz="2000" b="0" i="0" dirty="0">
                <a:solidFill>
                  <a:srgbClr val="111111"/>
                </a:solidFill>
                <a:latin typeface="Calibri"/>
                <a:cs typeface="Calibri"/>
              </a:rPr>
              <a:t>The trend is fitted live, so the wall shows seconds to critical before the jam locks.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zone packs tight and stops. The wall counts down the seconds to critical.</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Built to scale out</a:t>
            </a:r>
          </a:p>
          <a:p>
            <a:pPr algn="l">
              <a:lnSpc>
                <a:spcPct val="100000"/>
              </a:lnSpc>
              <a:spcBef>
                <a:spcPts val="0"/>
              </a:spcBef>
              <a:spcAft>
                <a:spcPts val="0"/>
              </a:spcAft>
            </a:pPr>
            <a:r>
              <a:rPr lang="en-US" sz="2000" b="0" i="0" dirty="0">
                <a:solidFill>
                  <a:srgbClr val="111111"/>
                </a:solidFill>
                <a:latin typeface="Calibri"/>
                <a:cs typeface="Calibri"/>
              </a:rPr>
              <a:t>One laptop runs a venue today; an edge box per camera scales to mass gatherings.</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ranks every zone by risk: security moves from reactive to proactive.</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400" b="1">
                <a:solidFill>
                  <a:srgbClr val="1E2761"/>
                </a:solidFill>
                <a:latin typeface="Calibri"/>
              </a:rPr>
              <a:t>When the alarm goes up</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spAutoFit/>
          </a:bodyPr>
          <a:lstStyle/>
          <a:p>
            <a:r>
              <a:rPr sz="2200" b="1">
                <a:solidFill>
                  <a:srgbClr val="FFFFFF"/>
                </a:solidFill>
                <a:latin typeface="Calibri"/>
              </a:rPr>
              <a:t>Yellow watch</a:t>
            </a:r>
          </a:p>
          <a:p>
            <a:pPr>
              <a:spcBef>
                <a:spcPts val="400"/>
              </a:spcBef>
            </a:pPr>
            <a:r>
              <a:rPr sz="1800">
                <a:solidFill>
                  <a:srgbClr val="FFFFFF"/>
                </a:solidFill>
                <a:latin typeface="Calibri"/>
              </a:rPr>
              <a:t>Guards keep eyes on the zone. Crowd flow is slowed.</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spAutoFit/>
          </a:bodyPr>
          <a:lstStyle/>
          <a:p>
            <a:r>
              <a:rPr sz="2200" b="1">
                <a:solidFill>
                  <a:srgbClr val="FFFFFF"/>
                </a:solidFill>
                <a:latin typeface="Calibri"/>
              </a:rPr>
              <a:t>Red alert</a:t>
            </a:r>
          </a:p>
          <a:p>
            <a:pPr>
              <a:spcBef>
                <a:spcPts val="400"/>
              </a:spcBef>
            </a:pPr>
            <a:r>
              <a:rPr sz="1800">
                <a:solidFill>
                  <a:srgbClr val="FFFFFF"/>
                </a:solidFill>
                <a:latin typeface="Calibri"/>
              </a:rPr>
              <a:t>Exits open, crowd diverted, announcement made.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spAutoFit/>
          </a:bodyPr>
          <a:lstStyle/>
          <a:p>
            <a:r>
              <a:rPr sz="2200" b="1">
                <a:solidFill>
                  <a:srgbClr val="FFFFFF"/>
                </a:solidFill>
                <a:latin typeface="Calibri"/>
              </a:rPr>
              <a:t>Handover</a:t>
            </a:r>
          </a:p>
          <a:p>
            <a:pPr>
              <a:spcBef>
                <a:spcPts val="400"/>
              </a:spcBef>
            </a:pPr>
            <a:r>
              <a:rPr sz="180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spAutoFit/>
          </a:bodyPr>
          <a:lstStyle/>
          <a:p>
            <a:r>
              <a:rPr sz="1700" b="1">
                <a:solidFill>
                  <a:srgbClr val="1E2761"/>
                </a:solidFill>
                <a:latin typeface="Calibri"/>
              </a:rPr>
              <a:t>Pilot targets: tens of seconds forecast before critical, guard warned under 1 second, every step logged.</a:t>
            </a:r>
          </a:p>
          <a:p>
            <a:pPr>
              <a:spcBef>
                <a:spcPts val="400"/>
              </a:spcBef>
            </a:pPr>
            <a:r>
              <a:rPr sz="1700">
                <a:solidFill>
                  <a:srgbClr val="1E2761"/>
                </a:solidFill>
                <a:latin typeface="Calibri"/>
              </a:rPr>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the standard real-time pairing for crowd tracking.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Phase 2: face search</a:t>
            </a:r>
          </a:p>
          <a:p>
            <a:pPr algn="l">
              <a:lnSpc>
                <a:spcPct val="100000"/>
              </a:lnSpc>
              <a:spcBef>
                <a:spcPts val="0"/>
              </a:spcBef>
              <a:spcAft>
                <a:spcPts val="0"/>
              </a:spcAft>
            </a:pPr>
            <a:r>
              <a:rPr lang="en-US" sz="1700" b="0" i="0" dirty="0">
                <a:solidFill>
                  <a:srgbClr val="111111"/>
                </a:solidFill>
                <a:latin typeface="Calibri"/>
                <a:cs typeface="Calibri"/>
              </a:rPr>
              <a:t>Not in the MVP. The pipeline is modular, so agencies can plug in their own face-search API later for post-incident cases (opt-in, B2G).</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Crowd science models (AURORA and FTLE) spot danger early. A Delhi trial cut response time by 37 percent.</a:t>
            </a:r>
          </a:p>
          <a:p>
            <a:pPr>
              <a:spcBef>
                <a:spcPts val="400"/>
              </a:spcBef>
              <a:spcAft>
                <a:spcPts val="0"/>
              </a:spcAft>
            </a:pPr>
            <a:r>
              <a:rPr sz="1400">
                <a:solidFill>
                  <a:srgbClr val="5A5A5A"/>
                </a:solidFill>
                <a:latin typeface="Calibri"/>
              </a:rPr>
              <a:t>Ideas: AURORA warning model, FTLE bottlenecks,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Packed crowds and blocked exits turned deadly at Hathras, Kumbh and railway stations.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Anonymized by default</a:t>
            </a:r>
          </a:p>
          <a:p>
            <a:pPr algn="l">
              <a:lnSpc>
                <a:spcPct val="100000"/>
              </a:lnSpc>
              <a:spcBef>
                <a:spcPts val="0"/>
              </a:spcBef>
              <a:spcAft>
                <a:spcPts val="0"/>
              </a:spcAft>
            </a:pPr>
            <a:r>
              <a:rPr lang="en-US" sz="1900" b="0" i="0" dirty="0">
                <a:solidFill>
                  <a:srgbClr val="DDE3FA"/>
                </a:solidFill>
                <a:latin typeface="Calibri"/>
                <a:cs typeface="Calibri"/>
              </a:rPr>
              <a:t>Saved video is face-blurred. Live alerts show zones and counts, not names.</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routine wipe</a:t>
            </a:r>
          </a:p>
          <a:p>
            <a:pPr algn="l">
              <a:lnSpc>
                <a:spcPct val="100000"/>
              </a:lnSpc>
              <a:spcBef>
                <a:spcPts val="0"/>
              </a:spcBef>
              <a:spcAft>
                <a:spcPts val="0"/>
              </a:spcAft>
            </a:pPr>
            <a:r>
              <a:rPr lang="en-US" sz="1900" b="0" i="0" dirty="0">
                <a:solidFill>
                  <a:srgbClr val="DDE3FA"/>
                </a:solidFill>
                <a:latin typeface="Calibri"/>
                <a:cs typeface="Calibri"/>
              </a:rPr>
              <a:t>Daily footage wipes after 7 days. Flagged incidents are exported first and kept for the police.</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Tamper-evident log</a:t>
            </a:r>
          </a:p>
          <a:p>
            <a:pPr algn="l">
              <a:lnSpc>
                <a:spcPct val="100000"/>
              </a:lnSpc>
              <a:spcBef>
                <a:spcPts val="0"/>
              </a:spcBef>
              <a:spcAft>
                <a:spcPts val="0"/>
              </a:spcAft>
            </a:pPr>
            <a:r>
              <a:rPr lang="en-US" sz="1900" b="0" i="0" dirty="0">
                <a:solidFill>
                  <a:srgbClr val="DDE3FA"/>
                </a:solidFill>
                <a:latin typeface="Calibri"/>
                <a:cs typeface="Calibri"/>
              </a:rPr>
              <a:t>Every action is hash-chained. Any edit leaves a trace.</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in core</a:t>
            </a:r>
          </a:p>
          <a:p>
            <a:pPr algn="l">
              <a:lnSpc>
                <a:spcPct val="100000"/>
              </a:lnSpc>
              <a:spcBef>
                <a:spcPts val="0"/>
              </a:spcBef>
              <a:spcAft>
                <a:spcPts val="0"/>
              </a:spcAft>
            </a:pPr>
            <a:r>
              <a:rPr lang="en-US" sz="1900" b="0" i="0" dirty="0">
                <a:solidFill>
                  <a:srgbClr val="DDE3FA"/>
                </a:solidFill>
                <a:latin typeface="Calibri"/>
                <a:cs typeface="Calibri"/>
              </a:rPr>
              <a:t>Crowd mode runs with zero identity. Face search stays opt-in Phase 2 only.</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