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Checks per second as the crowd grows</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Sheet1!$A$2:$A$5</c:f>
              <c:strCache>
                <c:ptCount val="4"/>
                <c:pt idx="0">
                  <c:v>Sparse
0-4 people</c:v>
                </c:pt>
                <c:pt idx="1">
                  <c:v>Light
5-8</c:v>
                </c:pt>
                <c:pt idx="2">
                  <c:v>Busy
9-12</c:v>
                </c:pt>
                <c:pt idx="3">
                  <c:v>Packed
13+</c:v>
                </c:pt>
              </c:strCache>
            </c:strRef>
          </c:cat>
          <c:val>
            <c:numRef>
              <c:f>Sheet1!$B$2:$B$5</c:f>
              <c:numCache>
                <c:formatCode>General</c:formatCode>
                <c:ptCount val="4"/>
                <c:pt idx="0">
                  <c:v>45.4</c:v>
                </c:pt>
                <c:pt idx="1">
                  <c:v>39.0</c:v>
                </c:pt>
                <c:pt idx="2">
                  <c:v>38.6</c:v>
                </c:pt>
                <c:pt idx="3">
                  <c:v>34.7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60.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under a second.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xml"/><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 Id="rId9" Type="http://schemas.openxmlformats.org/officeDocument/2006/relationships/hyperlink" Target="https://arxiv.org/abs/1802.10062" TargetMode="External"/><Relationship Id="rId10" Type="http://schemas.openxmlformats.org/officeDocument/2006/relationships/hyperlink" Target="https://arxiv.org/abs/1908.03684" TargetMode="External"/><Relationship Id="rId11" Type="http://schemas.openxmlformats.org/officeDocument/2006/relationships/hyperlink" Target="https://github.com/cvlab-stonybrook/DM-Count" TargetMode="External"/><Relationship Id="rId12" Type="http://schemas.openxmlformats.org/officeDocument/2006/relationships/hyperlink" Target="http://www.svcl.ucsd.edu/publications/conference/2008/cvpr08/cvpr08_peoplecnt.pdf" TargetMode="External"/><Relationship Id="rId13" Type="http://schemas.openxmlformats.org/officeDocument/2006/relationships/hyperlink" Target="https://openaccess.thecvf.com/content_CVPR_2019/html/Zhang_Wide-Area_Crowd_Counting_via_Ground-Plane_Density_Maps_and_Multi-View_Fusion_CVPR_2019_paper.html" TargetMode="External"/><Relationship Id="rId14" Type="http://schemas.openxmlformats.org/officeDocument/2006/relationships/hyperlink" Target="https://vision.eecs.ucf.edu/papers/cvpr2009/CVPR09_Mehran.pdf" TargetMode="External"/><Relationship Id="rId15" Type="http://schemas.openxmlformats.org/officeDocument/2006/relationships/hyperlink" Target="https://www.crcv.ucf.edu/projects/streakline_eccv" TargetMode="External"/><Relationship Id="rId16" Type="http://schemas.openxmlformats.org/officeDocument/2006/relationships/hyperlink" Target="https://doi.org/10.1103/PhysRevE.51.4282" TargetMode="External"/><Relationship Id="rId17" Type="http://schemas.openxmlformats.org/officeDocument/2006/relationships/hyperlink" Target="https://arxiv.org/abs/0708.3339" TargetMode="External"/><Relationship Id="rId18" Type="http://schemas.openxmlformats.org/officeDocument/2006/relationships/hyperlink" Target="https://ar5iv.labs.arxiv.org/html/0810.4590" TargetMode="External"/><Relationship Id="rId19" Type="http://schemas.openxmlformats.org/officeDocument/2006/relationships/hyperlink" Target="https://commons.wikimedia.org/" TargetMode="External"/><Relationship Id="rId20" Type="http://schemas.openxmlformats.org/officeDocument/2006/relationships/hyperlink" Target="https://arxiv.org/abs/2107.12746" TargetMode="External"/><Relationship Id="rId21" Type="http://schemas.openxmlformats.org/officeDocument/2006/relationships/hyperlink" Target="https://arxiv.org/abs/2405.10589" TargetMode="External"/><Relationship Id="rId22" Type="http://schemas.openxmlformats.org/officeDocument/2006/relationships/hyperlink" Target="https://openaccess.thecvf.com/content_CVPR_2019/html/Shi_Revisiting_Perspective_Information_for_Efficient_Crowd_Counting_CVPR_2019_paper.html" TargetMode="External"/><Relationship Id="rId23" Type="http://schemas.openxmlformats.org/officeDocument/2006/relationships/hyperlink" Target="https://docs.opencv.org/4.9.0/javadoc/org/opencv/video/DISOpticalFlow.html" TargetMode="External"/><Relationship Id="rId24" Type="http://schemas.openxmlformats.org/officeDocument/2006/relationships/hyperlink" Target="https://doi.org/10.1016/S0191-2615(01)00015-7" TargetMode="External"/><Relationship Id="rId25" Type="http://schemas.openxmlformats.org/officeDocument/2006/relationships/hyperlink" Target="https://bmvc2025.bmva.org/proceedings/1024" TargetMode="External"/><Relationship Id="rId26" Type="http://schemas.openxmlformats.org/officeDocument/2006/relationships/hyperlink" Target="https://arxiv.org/abs/1008.2160" TargetMode="External"/><Relationship Id="rId27" Type="http://schemas.openxmlformats.org/officeDocument/2006/relationships/hyperlink" Target="https://github.com/leeyeehoo/CSRNet-pytorch" TargetMode="External"/><Relationship Id="rId28" Type="http://schemas.openxmlformats.org/officeDocument/2006/relationships/hyperlink" Target="https://github.com/JuanIsernGhosn/homography-calibrator" TargetMode="External"/><Relationship Id="rId29" Type="http://schemas.openxmlformats.org/officeDocument/2006/relationships/hyperlink" Target="https://docs.nvidia.com/metropolis/deepstream/7.1/text/DS_using_custom_model.html"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Rounded Rectangle 42"/>
          <p:cNvSpPr/>
          <p:nvPr/>
        </p:nvSpPr>
        <p:spPr>
          <a:xfrm>
            <a:off x="749808" y="5852160"/>
            <a:ext cx="11887200" cy="3566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6053328"/>
            <a:ext cx="4023360" cy="640080"/>
          </a:xfrm>
          <a:prstGeom prst="rect">
            <a:avLst/>
          </a:prstGeom>
          <a:noFill/>
        </p:spPr>
        <p:txBody>
          <a:bodyPr wrap="none">
            <a:spAutoFit/>
          </a:bodyPr>
          <a:lstStyle/>
          <a:p>
            <a:r>
              <a:rPr sz="2000" b="1">
                <a:solidFill>
                  <a:srgbClr val="1E2761"/>
                </a:solidFill>
                <a:latin typeface="Calibri"/>
              </a:rPr>
              <a:t>Team Name</a:t>
            </a:r>
          </a:p>
        </p:txBody>
      </p:sp>
      <p:sp>
        <p:nvSpPr>
          <p:cNvPr id="45" name="Rectangle 44"/>
          <p:cNvSpPr/>
          <p:nvPr/>
        </p:nvSpPr>
        <p:spPr>
          <a:xfrm>
            <a:off x="5486400" y="600760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6053328"/>
            <a:ext cx="6400800" cy="640080"/>
          </a:xfrm>
          <a:prstGeom prst="rect">
            <a:avLst/>
          </a:prstGeom>
          <a:noFill/>
        </p:spPr>
        <p:txBody>
          <a:bodyPr wrap="none">
            <a:spAutoFit/>
          </a:bodyPr>
          <a:lstStyle/>
          <a:p>
            <a:r>
              <a:rPr sz="2200" b="1">
                <a:solidFill>
                  <a:srgbClr val="1E2761"/>
                </a:solidFill>
                <a:latin typeface="Calibri"/>
              </a:rPr>
              <a:t>Team Raksha</a:t>
            </a:r>
          </a:p>
        </p:txBody>
      </p:sp>
      <p:sp>
        <p:nvSpPr>
          <p:cNvPr id="47" name="Rectangle 46"/>
          <p:cNvSpPr/>
          <p:nvPr/>
        </p:nvSpPr>
        <p:spPr>
          <a:xfrm>
            <a:off x="1188720" y="675741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88720" y="6922008"/>
            <a:ext cx="4023360" cy="640080"/>
          </a:xfrm>
          <a:prstGeom prst="rect">
            <a:avLst/>
          </a:prstGeom>
          <a:noFill/>
        </p:spPr>
        <p:txBody>
          <a:bodyPr wrap="none">
            <a:spAutoFit/>
          </a:bodyPr>
          <a:lstStyle/>
          <a:p>
            <a:r>
              <a:rPr sz="2000" b="1">
                <a:solidFill>
                  <a:srgbClr val="1E2761"/>
                </a:solidFill>
                <a:latin typeface="Calibri"/>
              </a:rPr>
              <a:t>Problem Statement No.</a:t>
            </a:r>
          </a:p>
        </p:txBody>
      </p:sp>
      <p:sp>
        <p:nvSpPr>
          <p:cNvPr id="49" name="Rectangle 48"/>
          <p:cNvSpPr/>
          <p:nvPr/>
        </p:nvSpPr>
        <p:spPr>
          <a:xfrm>
            <a:off x="5486400" y="687628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6922008"/>
            <a:ext cx="6400800" cy="640080"/>
          </a:xfrm>
          <a:prstGeom prst="rect">
            <a:avLst/>
          </a:prstGeom>
          <a:noFill/>
        </p:spPr>
        <p:txBody>
          <a:bodyPr wrap="none">
            <a:spAutoFit/>
          </a:bodyPr>
          <a:lstStyle/>
          <a:p>
            <a:r>
              <a:rPr sz="2200" b="1">
                <a:solidFill>
                  <a:srgbClr val="1E2761"/>
                </a:solidFill>
                <a:latin typeface="Calibri"/>
              </a:rPr>
              <a:t>2</a:t>
            </a:r>
          </a:p>
        </p:txBody>
      </p:sp>
      <p:sp>
        <p:nvSpPr>
          <p:cNvPr id="51" name="Rectangle 50"/>
          <p:cNvSpPr/>
          <p:nvPr/>
        </p:nvSpPr>
        <p:spPr>
          <a:xfrm>
            <a:off x="1188720" y="762609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88720" y="7790688"/>
            <a:ext cx="4023360" cy="640080"/>
          </a:xfrm>
          <a:prstGeom prst="rect">
            <a:avLst/>
          </a:prstGeom>
          <a:noFill/>
        </p:spPr>
        <p:txBody>
          <a:bodyPr wrap="none">
            <a:spAutoFit/>
          </a:bodyPr>
          <a:lstStyle/>
          <a:p>
            <a:r>
              <a:rPr sz="2000" b="1">
                <a:solidFill>
                  <a:srgbClr val="1E2761"/>
                </a:solidFill>
                <a:latin typeface="Calibri"/>
              </a:rPr>
              <a:t>Problem Statement Title</a:t>
            </a:r>
          </a:p>
        </p:txBody>
      </p:sp>
      <p:sp>
        <p:nvSpPr>
          <p:cNvPr id="53" name="Rectangle 52"/>
          <p:cNvSpPr/>
          <p:nvPr/>
        </p:nvSpPr>
        <p:spPr>
          <a:xfrm>
            <a:off x="5486400" y="774496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0" y="7790688"/>
            <a:ext cx="64008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55" name="Rectangle 54"/>
          <p:cNvSpPr/>
          <p:nvPr/>
        </p:nvSpPr>
        <p:spPr>
          <a:xfrm>
            <a:off x="1188720" y="849477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8659367"/>
            <a:ext cx="4023360" cy="640080"/>
          </a:xfrm>
          <a:prstGeom prst="rect">
            <a:avLst/>
          </a:prstGeom>
          <a:noFill/>
        </p:spPr>
        <p:txBody>
          <a:bodyPr wrap="none">
            <a:spAutoFit/>
          </a:bodyPr>
          <a:lstStyle/>
          <a:p>
            <a:r>
              <a:rPr sz="2000" b="1">
                <a:solidFill>
                  <a:srgbClr val="1E2761"/>
                </a:solidFill>
                <a:latin typeface="Calibri"/>
              </a:rPr>
              <a:t>Team Leader Name</a:t>
            </a:r>
          </a:p>
        </p:txBody>
      </p:sp>
      <p:sp>
        <p:nvSpPr>
          <p:cNvPr id="57" name="Rectangle 56"/>
          <p:cNvSpPr/>
          <p:nvPr/>
        </p:nvSpPr>
        <p:spPr>
          <a:xfrm>
            <a:off x="5486400" y="861364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52160" y="8659367"/>
            <a:ext cx="64008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THE PROBLEM</a:t>
            </a:r>
          </a:p>
        </p:txBody>
      </p:sp>
      <p:sp>
        <p:nvSpPr>
          <p:cNvPr id="101" name="TextBox 101"/>
          <p:cNvSpPr txBox="1"/>
          <p:nvPr/>
        </p:nvSpPr>
        <p:spPr>
          <a:xfrm>
            <a:off x="731520" y="2606040"/>
            <a:ext cx="7863840" cy="2286000"/>
          </a:xfrm>
          <a:prstGeom prst="rect">
            <a:avLst/>
          </a:prstGeom>
          <a:noFill/>
          <a:ln>
            <a:noFill/>
          </a:ln>
        </p:spPr>
        <p:txBody>
          <a:bodyPr wrap="square" lIns="45720" tIns="18288" rIns="45720" bIns="18288" anchor="ctr" rtlCol="0"/>
          <a:lstStyle/>
          <a:p>
            <a:pPr algn="l">
              <a:lnSpc>
                <a:spcPct val="95000"/>
              </a:lnSpc>
              <a:spcBef>
                <a:spcPts val="0"/>
              </a:spcBef>
              <a:spcAft>
                <a:spcPts val="1000"/>
              </a:spcAft>
            </a:pPr>
            <a:r>
              <a:rPr sz="3200" b="1" i="0">
                <a:solidFill>
                  <a:srgbClr val="1E2761"/>
                </a:solidFill>
                <a:latin typeface="Calibri"/>
              </a:rPr>
              <a:t>Guards watch screens. Danger builds unseen.</a:t>
            </a:r>
          </a:p>
          <a:p>
            <a:pPr algn="l"/>
            <a:r>
              <a:rPr sz="2000" b="0" i="0">
                <a:solidFill>
                  <a:srgbClr val="111111"/>
                </a:solidFill>
                <a:latin typeface="Calibri"/>
              </a:rPr>
              <a:t>A control room watches dozens of flat camera feeds. A guard spots trouble only after the crowd stops moving. By then, crushing pressure is already passing body to body. Stillness is not the warning. It is the accident.</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Hathras 2024</a:t>
            </a:r>
          </a:p>
          <a:p>
            <a:r>
              <a:rPr sz="1500" b="0" i="0">
                <a:solidFill>
                  <a:srgbClr val="111111"/>
                </a:solidFill>
                <a:latin typeface="Calibri"/>
              </a:rPr>
              <a:t>121 dead. 80k permit, 250k crowd. Exits blocked.</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Mumbai 2017</a:t>
            </a:r>
          </a:p>
          <a:p>
            <a:r>
              <a:rPr sz="1500" b="0" i="0">
                <a:solidFill>
                  <a:srgbClr val="111111"/>
                </a:solidFill>
                <a:latin typeface="Calibri"/>
              </a:rPr>
              <a:t>23 dead on a station footbridge. Rain, rush hour, no metering.</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7 per m2</a:t>
            </a:r>
          </a:p>
          <a:p>
            <a:pPr algn="l"/>
            <a:r>
              <a:rPr sz="1500" b="0" i="0">
                <a:solidFill>
                  <a:srgbClr val="111111"/>
                </a:solidFill>
                <a:latin typeface="Calibri"/>
              </a:rPr>
              <a:t>A crowd turns fluid. Shockwaves throw people metres. (Fruin)</a:t>
            </a:r>
          </a:p>
        </p:txBody>
      </p:sp>
      <p:sp>
        <p:nvSpPr>
          <p:cNvPr id="113" name="TextBox 113"/>
          <p:cNvSpPr txBox="1"/>
          <p:nvPr/>
        </p:nvSpPr>
        <p:spPr>
          <a:xfrm>
            <a:off x="8961120" y="7269480"/>
            <a:ext cx="8595360" cy="365760"/>
          </a:xfrm>
          <a:prstGeom prst="rect">
            <a:avLst/>
          </a:prstGeom>
          <a:noFill/>
          <a:ln>
            <a:noFill/>
          </a:ln>
        </p:spPr>
        <p:txBody>
          <a:bodyPr wrap="square" lIns="45720" tIns="18288" rIns="45720" bIns="18288" anchor="ctr" rtlCol="0"/>
          <a:lstStyle/>
          <a:p>
            <a:pPr algn="l">
              <a:spcBef>
                <a:spcPts val="0"/>
              </a:spcBef>
              <a:spcAft>
                <a:spcPts val="0"/>
              </a:spcAft>
            </a:pPr>
            <a:r>
              <a:rPr sz="1600" b="0" i="1">
                <a:solidFill>
                  <a:srgbClr val="5A5A5A"/>
                </a:solidFill>
                <a:latin typeface="Calibri"/>
              </a:rPr>
              <a:t>The system saw it coming. No gate opened.</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23" name="P2 time"/>
          <p:cNvSpPr/>
          <p:nvPr/>
        </p:nvSpPr>
        <p:spPr>
          <a:xfrm>
            <a:off x="8961120" y="2606040"/>
            <a:ext cx="8595360" cy="45720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2 timet"/>
          <p:cNvSpPr txBox="1"/>
          <p:nvPr/>
        </p:nvSpPr>
        <p:spPr>
          <a:xfrm>
            <a:off x="9235440" y="2743200"/>
            <a:ext cx="8046720" cy="548640"/>
          </a:xfrm>
          <a:prstGeom prst="rect">
            <a:avLst/>
          </a:prstGeom>
          <a:noFill/>
        </p:spPr>
        <p:txBody>
          <a:bodyPr wrap="square" anchor="ctr" lIns="45720" rIns="45720" tIns="18288" bIns="18288"/>
          <a:lstStyle/>
          <a:p>
            <a:pPr algn="l"/>
            <a:r>
              <a:rPr sz="2000" b="1" i="0">
                <a:solidFill>
                  <a:srgbClr val="1E2761"/>
                </a:solidFill>
                <a:latin typeface="Calibri"/>
              </a:rPr>
              <a:t>Kumbh, 29 January 2025</a:t>
            </a:r>
          </a:p>
        </p:txBody>
      </p:sp>
      <p:sp>
        <p:nvSpPr>
          <p:cNvPr id="125" name="P2 dot"/>
          <p:cNvSpPr/>
          <p:nvPr/>
        </p:nvSpPr>
        <p:spPr>
          <a:xfrm>
            <a:off x="9418320" y="358444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2 ev"/>
          <p:cNvSpPr txBox="1"/>
          <p:nvPr/>
        </p:nvSpPr>
        <p:spPr>
          <a:xfrm>
            <a:off x="10104120" y="3474720"/>
            <a:ext cx="3017520" cy="868680"/>
          </a:xfrm>
          <a:prstGeom prst="rect">
            <a:avLst/>
          </a:prstGeom>
          <a:noFill/>
        </p:spPr>
        <p:txBody>
          <a:bodyPr wrap="square" anchor="ctr" lIns="45720" rIns="45720" tIns="18288" bIns="18288"/>
          <a:lstStyle/>
          <a:p>
            <a:pPr algn="l"/>
            <a:r>
              <a:rPr sz="1600" b="1" i="0">
                <a:solidFill>
                  <a:srgbClr val="1E2761"/>
                </a:solidFill>
                <a:latin typeface="Calibri"/>
              </a:rPr>
              <a:t>Months before</a:t>
            </a:r>
            <a:r>
              <a:rPr sz="1400" b="0" i="0">
                <a:solidFill>
                  <a:srgbClr val="111111"/>
                </a:solidFill>
                <a:latin typeface="Calibri"/>
              </a:rPr>
              <a:t>
2,751 cameras and AI alerts go live.</a:t>
            </a:r>
          </a:p>
        </p:txBody>
      </p:sp>
      <p:sp>
        <p:nvSpPr>
          <p:cNvPr id="127" name="P2 dot"/>
          <p:cNvSpPr/>
          <p:nvPr/>
        </p:nvSpPr>
        <p:spPr>
          <a:xfrm>
            <a:off x="9418320" y="468172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2 ev"/>
          <p:cNvSpPr txBox="1"/>
          <p:nvPr/>
        </p:nvSpPr>
        <p:spPr>
          <a:xfrm>
            <a:off x="10104120" y="4572000"/>
            <a:ext cx="3017520" cy="868680"/>
          </a:xfrm>
          <a:prstGeom prst="rect">
            <a:avLst/>
          </a:prstGeom>
          <a:noFill/>
        </p:spPr>
        <p:txBody>
          <a:bodyPr wrap="square" anchor="ctr" lIns="45720" rIns="45720" tIns="18288" bIns="18288"/>
          <a:lstStyle/>
          <a:p>
            <a:pPr algn="l"/>
            <a:r>
              <a:rPr sz="1600" b="1" i="0">
                <a:solidFill>
                  <a:srgbClr val="1E2761"/>
                </a:solidFill>
                <a:latin typeface="Calibri"/>
              </a:rPr>
              <a:t>01:00</a:t>
            </a:r>
            <a:r>
              <a:rPr sz="1400" b="0" i="0">
                <a:solidFill>
                  <a:srgbClr val="111111"/>
                </a:solidFill>
                <a:latin typeface="Calibri"/>
              </a:rPr>
              <a:t>
Barricades jumped at the Sangam nose. Crores press forward.</a:t>
            </a:r>
          </a:p>
        </p:txBody>
      </p:sp>
      <p:sp>
        <p:nvSpPr>
          <p:cNvPr id="129" name="P2 dot"/>
          <p:cNvSpPr/>
          <p:nvPr/>
        </p:nvSpPr>
        <p:spPr>
          <a:xfrm>
            <a:off x="9418320" y="577900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2 ev"/>
          <p:cNvSpPr txBox="1"/>
          <p:nvPr/>
        </p:nvSpPr>
        <p:spPr>
          <a:xfrm>
            <a:off x="10104120" y="5669280"/>
            <a:ext cx="3017520" cy="868680"/>
          </a:xfrm>
          <a:prstGeom prst="rect">
            <a:avLst/>
          </a:prstGeom>
          <a:noFill/>
        </p:spPr>
        <p:txBody>
          <a:bodyPr wrap="square" anchor="ctr" lIns="45720" rIns="45720" tIns="18288" bIns="18288"/>
          <a:lstStyle/>
          <a:p>
            <a:pPr algn="l"/>
            <a:r>
              <a:rPr sz="1600" b="1" i="0">
                <a:solidFill>
                  <a:srgbClr val="1E2761"/>
                </a:solidFill>
                <a:latin typeface="Calibri"/>
              </a:rPr>
              <a:t>After</a:t>
            </a:r>
            <a:r>
              <a:rPr sz="1400" b="0" i="0">
                <a:solidFill>
                  <a:srgbClr val="111111"/>
                </a:solidFill>
                <a:latin typeface="Calibri"/>
              </a:rPr>
              <a:t>
30 dead officially. The alarm watched. Nobody acted.</a:t>
            </a:r>
          </a:p>
        </p:txBody>
      </p:sp>
      <p:sp>
        <p:nvSpPr>
          <p:cNvPr id="131" name="P2 claim"/>
          <p:cNvSpPr/>
          <p:nvPr/>
        </p:nvSpPr>
        <p:spPr>
          <a:xfrm>
            <a:off x="8961120" y="7818120"/>
            <a:ext cx="8595360" cy="173736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800" b="1" i="0">
                <a:solidFill>
                  <a:srgbClr val="FFFFFF"/>
                </a:solidFill>
                <a:latin typeface="Calibri"/>
              </a:rPr>
              <a:t>Danger is invisible pressure, not visible stillness.</a:t>
            </a:r>
          </a:p>
          <a:p>
            <a:pPr algn="l"/>
            <a:r>
              <a:rPr sz="1500" b="0" i="0">
                <a:solidFill>
                  <a:srgbClr val="FFFFFF"/>
                </a:solidFill>
                <a:latin typeface="Calibri"/>
              </a:rPr>
              <a:t>Measure pressure, warn early, open gates.</a:t>
            </a:r>
          </a:p>
        </p:txBody>
      </p:sp>
      <p:sp>
        <p:nvSpPr>
          <p:cNvPr id="132" name="P2 still"/>
          <p:cNvSpPr/>
          <p:nvPr/>
        </p:nvSpPr>
        <p:spPr>
          <a:xfrm>
            <a:off x="731520" y="6812280"/>
            <a:ext cx="7863840" cy="265176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2000" b="1" i="0">
                <a:solidFill>
                  <a:srgbClr val="1E2761"/>
                </a:solidFill>
                <a:latin typeface="Calibri"/>
              </a:rPr>
              <a:t>Why stillness lies</a:t>
            </a:r>
          </a:p>
          <a:p>
            <a:pPr algn="l"/>
            <a:r>
              <a:rPr sz="1600" b="0" i="0">
                <a:solidFill>
                  <a:srgbClr val="111111"/>
                </a:solidFill>
                <a:latin typeface="Calibri"/>
              </a:rPr>
              <a:t>A stopped crowd is not a warning. It is the accident. Pressure passes body to body long before feet stop. That is why cameras must read force, not faces.</a:t>
            </a:r>
          </a:p>
        </p:txBody>
      </p:sp>
      <p:pic>
        <p:nvPicPr>
          <p:cNvPr id="133" name="P2 kumbh" descr="kumbh_crowd.jpg"/>
          <p:cNvPicPr>
            <a:picLocks noChangeAspect="1"/>
          </p:cNvPicPr>
          <p:nvPr/>
        </p:nvPicPr>
        <p:blipFill>
          <a:blip r:embed="rId3"/>
          <a:stretch>
            <a:fillRect/>
          </a:stretch>
        </p:blipFill>
        <p:spPr>
          <a:xfrm>
            <a:off x="13441680" y="3566160"/>
            <a:ext cx="3566160" cy="2002536"/>
          </a:xfrm>
          <a:prstGeom prst="rect">
            <a:avLst/>
          </a:prstGeom>
          <a:ln>
            <a:noFill/>
          </a:ln>
        </p:spPr>
      </p:pic>
      <p:sp>
        <p:nvSpPr>
          <p:cNvPr id="134" name="P2 kumbhc"/>
          <p:cNvSpPr txBox="1"/>
          <p:nvPr/>
        </p:nvSpPr>
        <p:spPr>
          <a:xfrm>
            <a:off x="13441680" y="5623560"/>
            <a:ext cx="3566160" cy="822960"/>
          </a:xfrm>
          <a:prstGeom prst="rect">
            <a:avLst/>
          </a:prstGeom>
          <a:noFill/>
        </p:spPr>
        <p:txBody>
          <a:bodyPr wrap="square" anchor="ctr" lIns="45720" rIns="45720" tIns="18288" bIns="18288"/>
          <a:lstStyle/>
          <a:p>
            <a:pPr algn="l"/>
            <a:r>
              <a:rPr sz="1100" b="0" i="0">
                <a:solidFill>
                  <a:srgbClr val="5A5A5A"/>
                </a:solidFill>
                <a:latin typeface="Calibri"/>
              </a:rPr>
              <a:t>Kumbh mela ground at night, Jan 2025. Photo: Wikimedia Commons.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HOW IT WORKS</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Calibrate</a:t>
            </a:r>
          </a:p>
        </p:txBody>
      </p:sp>
      <p:sp>
        <p:nvSpPr>
          <p:cNvPr id="102" name="TextBox 102"/>
          <p:cNvSpPr txBox="1"/>
          <p:nvPr/>
        </p:nvSpPr>
        <p:spPr>
          <a:xfrm>
            <a:off x="868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pixels to ground, once per camera</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Map density</a:t>
            </a:r>
          </a:p>
        </p:txBody>
      </p:sp>
      <p:sp>
        <p:nvSpPr>
          <p:cNvPr id="104" name="TextBox 104"/>
          <p:cNvSpPr txBox="1"/>
          <p:nvPr/>
        </p:nvSpPr>
        <p:spPr>
          <a:xfrm>
            <a:off x="36118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heatmaps count overlap</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Track flow</a:t>
            </a:r>
          </a:p>
        </p:txBody>
      </p:sp>
      <p:sp>
        <p:nvSpPr>
          <p:cNvPr id="106" name="TextBox 106"/>
          <p:cNvSpPr txBox="1"/>
          <p:nvPr/>
        </p:nvSpPr>
        <p:spPr>
          <a:xfrm>
            <a:off x="63550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flow reads crowd currents</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Measure pressure</a:t>
            </a:r>
          </a:p>
        </p:txBody>
      </p:sp>
      <p:sp>
        <p:nvSpPr>
          <p:cNvPr id="108" name="TextBox 108"/>
          <p:cNvSpPr txBox="1"/>
          <p:nvPr/>
        </p:nvSpPr>
        <p:spPr>
          <a:xfrm>
            <a:off x="90982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density times movement</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Forecast jam</a:t>
            </a:r>
          </a:p>
        </p:txBody>
      </p:sp>
      <p:sp>
        <p:nvSpPr>
          <p:cNvPr id="110" name="TextBox 110"/>
          <p:cNvSpPr txBox="1"/>
          <p:nvPr/>
        </p:nvSpPr>
        <p:spPr>
          <a:xfrm>
            <a:off x="118414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inflow beats outflow</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45720" tIns="18288" rIns="45720" bIns="18288" anchor="ctr" rtlCol="0"/>
          <a:lstStyle/>
          <a:p>
            <a:pPr algn="ctr">
              <a:spcBef>
                <a:spcPts val="0"/>
              </a:spcBef>
              <a:spcAft>
                <a:spcPts val="0"/>
              </a:spcAft>
            </a:pPr>
            <a:r>
              <a:rPr sz="2000" b="1" i="0">
                <a:solidFill>
                  <a:srgbClr val="1E2761"/>
                </a:solidFill>
                <a:latin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open gates upstream</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45720" tIns="18288" rIns="45720" bIns="18288" anchor="ctr" rtlCol="0"/>
          <a:lstStyle/>
          <a:p>
            <a:pPr algn="l">
              <a:spcBef>
                <a:spcPts val="0"/>
              </a:spcBef>
              <a:spcAft>
                <a:spcPts val="0"/>
              </a:spcAft>
            </a:pPr>
            <a:r>
              <a:rPr sz="2000" b="0" i="0">
                <a:solidFill>
                  <a:srgbClr val="1E2761"/>
                </a:solidFill>
                <a:latin typeface="Calibri"/>
              </a:rPr>
              <a:t>In plain words: map the ground right, count the crowd as heat, read its currents, warn on pressure.</a:t>
            </a:r>
          </a:p>
        </p:txBody>
      </p:sp>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Heatmaps beat boxes</a:t>
            </a:r>
          </a:p>
          <a:p>
            <a:pPr algn="l"/>
            <a:r>
              <a:rPr sz="1300" b="0" i="0">
                <a:solidFill>
                  <a:srgbClr val="111111"/>
                </a:solidFill>
                <a:latin typeface="Calibri"/>
              </a:rPr>
              <a:t>Published research shows box detectors collapse under overlap: F1 0.07 vs 0.71 point-based. Density maps cut counting error 265 to 105 MAE. (NWPU-Crowd)</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Pressure, not stillness</a:t>
            </a:r>
          </a:p>
          <a:p>
            <a:pPr algn="l"/>
            <a:r>
              <a:rPr sz="1350" b="0" i="0">
                <a:solidFill>
                  <a:srgbClr val="111111"/>
                </a:solidFill>
                <a:latin typeface="Calibri"/>
              </a:rPr>
              <a:t>Pressure is density times uneven movement. Density or speed alone cannot warn. (Johansson 2008)</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Warns before stillness</a:t>
            </a:r>
          </a:p>
          <a:p>
            <a:pPr algn="l"/>
            <a:r>
              <a:rPr sz="1300" b="0" i="0">
                <a:solidFill>
                  <a:srgbClr val="111111"/>
                </a:solidFill>
                <a:latin typeface="Calibri"/>
              </a:rPr>
              <a:t>Stop-and-go waves and rising pressure fire the alert while feet still move. Shown on Hajj 2006 footage; multi-site trials are the pilot's job.</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9" name="P3 mae"/>
          <p:cNvSpPr/>
          <p:nvPr/>
        </p:nvSpPr>
        <p:spPr>
          <a:xfrm>
            <a:off x="731520" y="5989320"/>
            <a:ext cx="6766560" cy="36576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3 maet"/>
          <p:cNvSpPr txBox="1"/>
          <p:nvPr/>
        </p:nvSpPr>
        <p:spPr>
          <a:xfrm>
            <a:off x="960120" y="6126480"/>
            <a:ext cx="6309360" cy="411480"/>
          </a:xfrm>
          <a:prstGeom prst="rect">
            <a:avLst/>
          </a:prstGeom>
          <a:noFill/>
        </p:spPr>
        <p:txBody>
          <a:bodyPr wrap="square" anchor="ctr" lIns="45720" rIns="45720" tIns="18288" bIns="18288"/>
          <a:lstStyle/>
          <a:p>
            <a:pPr algn="l"/>
            <a:r>
              <a:rPr sz="1500" b="1" i="0">
                <a:solidFill>
                  <a:srgbClr val="1E2761"/>
                </a:solidFill>
                <a:latin typeface="Calibri"/>
              </a:rPr>
              <a:t>What the machine sees</a:t>
            </a:r>
          </a:p>
        </p:txBody>
      </p:sp>
      <p:pic>
        <p:nvPicPr>
          <p:cNvPr id="121" name="P3 density" descr="jh_fig3_new.png"/>
          <p:cNvPicPr>
            <a:picLocks noChangeAspect="1"/>
          </p:cNvPicPr>
          <p:nvPr/>
        </p:nvPicPr>
        <p:blipFill>
          <a:blip r:embed="rId3"/>
          <a:stretch>
            <a:fillRect/>
          </a:stretch>
        </p:blipFill>
        <p:spPr>
          <a:xfrm>
            <a:off x="960120" y="6583680"/>
            <a:ext cx="2743200" cy="2423160"/>
          </a:xfrm>
          <a:prstGeom prst="rect">
            <a:avLst/>
          </a:prstGeom>
          <a:ln>
            <a:noFill/>
          </a:ln>
        </p:spPr>
      </p:pic>
      <p:sp>
        <p:nvSpPr>
          <p:cNvPr id="122" name="P3 densityc"/>
          <p:cNvSpPr txBox="1"/>
          <p:nvPr/>
        </p:nvSpPr>
        <p:spPr>
          <a:xfrm>
            <a:off x="960120" y="9034272"/>
            <a:ext cx="2743200" cy="502920"/>
          </a:xfrm>
          <a:prstGeom prst="rect">
            <a:avLst/>
          </a:prstGeom>
          <a:noFill/>
        </p:spPr>
        <p:txBody>
          <a:bodyPr wrap="square" anchor="ctr" lIns="45720" rIns="45720" tIns="18288" bIns="18288"/>
          <a:lstStyle/>
          <a:p>
            <a:pPr algn="l"/>
            <a:r>
              <a:rPr sz="1050" b="0" i="0">
                <a:solidFill>
                  <a:srgbClr val="5A5A5A"/>
                </a:solidFill>
                <a:latin typeface="Calibri"/>
              </a:rPr>
              <a:t>Head-density surface: each peak is one head, the sum is the count. (Johansson 2008).</a:t>
            </a:r>
          </a:p>
        </p:txBody>
      </p:sp>
      <p:pic>
        <p:nvPicPr>
          <p:cNvPr id="123" name="P3 flow" descr="dis_flow.png"/>
          <p:cNvPicPr>
            <a:picLocks noChangeAspect="1"/>
          </p:cNvPicPr>
          <p:nvPr/>
        </p:nvPicPr>
        <p:blipFill>
          <a:blip r:embed="rId5"/>
          <a:stretch>
            <a:fillRect/>
          </a:stretch>
        </p:blipFill>
        <p:spPr>
          <a:xfrm>
            <a:off x="3840480" y="6583680"/>
            <a:ext cx="3429000" cy="960120"/>
          </a:xfrm>
          <a:prstGeom prst="rect">
            <a:avLst/>
          </a:prstGeom>
          <a:ln>
            <a:noFill/>
          </a:ln>
        </p:spPr>
      </p:pic>
      <p:sp>
        <p:nvSpPr>
          <p:cNvPr id="124" name="P3 flowc"/>
          <p:cNvSpPr txBox="1"/>
          <p:nvPr/>
        </p:nvSpPr>
        <p:spPr>
          <a:xfrm>
            <a:off x="3840480" y="7589520"/>
            <a:ext cx="3429000" cy="1920240"/>
          </a:xfrm>
          <a:prstGeom prst="rect">
            <a:avLst/>
          </a:prstGeom>
          <a:noFill/>
        </p:spPr>
        <p:txBody>
          <a:bodyPr wrap="square" anchor="ctr" lIns="45720" rIns="45720" tIns="18288" bIns="18288"/>
          <a:lstStyle/>
          <a:p>
            <a:pPr algn="l"/>
            <a:r>
              <a:rPr sz="1100" b="0" i="0">
                <a:solidFill>
                  <a:srgbClr val="111111"/>
                </a:solidFill>
                <a:latin typeface="Calibri"/>
              </a:rPr>
              <a:t>Flow field on our station clip (DIS optical flow). Movers glow, stillness stays black.</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Video stays put</a:t>
            </a:r>
          </a:p>
          <a:p>
            <a:pPr algn="l"/>
            <a:r>
              <a:rPr sz="1400" b="0" i="0">
                <a:solidFill>
                  <a:srgbClr val="111111"/>
                </a:solidFill>
                <a:latin typeface="Calibri"/>
              </a:rPr>
              <a:t>Each edge box keeps a 10-minute rolling buffer and sends small JSON numbers, never raw video. Only a confirmed Red alert exports its clip, signed, to the evidence pack.</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Calibrated where it counts</a:t>
            </a:r>
          </a:p>
          <a:p>
            <a:pPr algn="l"/>
            <a:r>
              <a:rPr sz="1400" b="0" i="0">
                <a:solidFill>
                  <a:srgbClr val="111111"/>
                </a:solidFill>
                <a:latin typeface="Calibri"/>
              </a:rPr>
              <a:t>Fixed gates are measured once; Kumbh ran 3-month surveys for its alarm. Open grounds and PTZ cameras run relative levels plus entry counts.</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Private by design</a:t>
            </a:r>
          </a:p>
          <a:p>
            <a:pPr algn="l"/>
            <a:r>
              <a:rPr sz="1400" b="0" i="0">
                <a:solidFill>
                  <a:srgbClr val="111111"/>
                </a:solidFill>
                <a:latin typeface="Calibri"/>
              </a:rPr>
              <a:t>Heatmaps cannot show a face. Saved video is blurred, wiped after 7 days, zero identity in core. Police clips are access-logged under DPDP Act 2023 rules.</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P4 edget"/>
          <p:cNvSpPr txBox="1"/>
          <p:nvPr/>
        </p:nvSpPr>
        <p:spPr>
          <a:xfrm>
            <a:off x="1005840" y="2788920"/>
            <a:ext cx="7680960" cy="548640"/>
          </a:xfrm>
          <a:prstGeom prst="rect">
            <a:avLst/>
          </a:prstGeom>
          <a:noFill/>
        </p:spPr>
        <p:txBody>
          <a:bodyPr wrap="square" anchor="ctr" lIns="45720" rIns="45720" tIns="18288" bIns="18288"/>
          <a:lstStyle/>
          <a:p>
            <a:pPr algn="l"/>
            <a:r>
              <a:rPr sz="2000" b="1" i="0">
                <a:solidFill>
                  <a:srgbClr val="1E2761"/>
                </a:solidFill>
                <a:latin typeface="Calibri"/>
              </a:rPr>
              <a:t>One camera, one edge box</a:t>
            </a:r>
          </a:p>
        </p:txBody>
      </p:sp>
      <p:sp>
        <p:nvSpPr>
          <p:cNvPr id="109" name="P4 node"/>
          <p:cNvSpPr/>
          <p:nvPr/>
        </p:nvSpPr>
        <p:spPr>
          <a:xfrm>
            <a:off x="1417320" y="347472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Camera: fixed gate view</a:t>
            </a:r>
          </a:p>
        </p:txBody>
      </p:sp>
      <p:sp>
        <p:nvSpPr>
          <p:cNvPr id="110" name="P4 arrow"/>
          <p:cNvSpPr/>
          <p:nvPr/>
        </p:nvSpPr>
        <p:spPr>
          <a:xfrm>
            <a:off x="4389120" y="422452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4 node"/>
          <p:cNvSpPr/>
          <p:nvPr/>
        </p:nvSpPr>
        <p:spPr>
          <a:xfrm>
            <a:off x="1417320" y="452628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Edge box: density plus flow plus pressure on device</a:t>
            </a:r>
          </a:p>
        </p:txBody>
      </p:sp>
      <p:sp>
        <p:nvSpPr>
          <p:cNvPr id="112" name="P4 arrow"/>
          <p:cNvSpPr/>
          <p:nvPr/>
        </p:nvSpPr>
        <p:spPr>
          <a:xfrm>
            <a:off x="4389120" y="527608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4 node"/>
          <p:cNvSpPr/>
          <p:nvPr/>
        </p:nvSpPr>
        <p:spPr>
          <a:xfrm>
            <a:off x="1417320" y="5577840"/>
            <a:ext cx="6858000" cy="731520"/>
          </a:xfrm>
          <a:prstGeom prst="roundRect">
            <a:avLst>
              <a:gd name="adj" fmla="val 7000"/>
            </a:avLst>
          </a:prstGeom>
          <a:solidFill>
            <a:srgbClr val="E5B822"/>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1E2761"/>
                </a:solidFill>
                <a:latin typeface="Calibri"/>
              </a:rPr>
              <a:t>Sends JSON numbers only, never video</a:t>
            </a:r>
          </a:p>
        </p:txBody>
      </p:sp>
      <p:sp>
        <p:nvSpPr>
          <p:cNvPr id="114" name="P4 arrow"/>
          <p:cNvSpPr/>
          <p:nvPr/>
        </p:nvSpPr>
        <p:spPr>
          <a:xfrm>
            <a:off x="4389120" y="632764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4 node"/>
          <p:cNvSpPr/>
          <p:nvPr/>
        </p:nvSpPr>
        <p:spPr>
          <a:xfrm>
            <a:off x="1417320" y="662940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Venue server: fuses every camera into one map</a:t>
            </a:r>
          </a:p>
        </p:txBody>
      </p:sp>
      <p:sp>
        <p:nvSpPr>
          <p:cNvPr id="116" name="P4 arrow"/>
          <p:cNvSpPr/>
          <p:nvPr/>
        </p:nvSpPr>
        <p:spPr>
          <a:xfrm>
            <a:off x="4389120" y="737920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4 node"/>
          <p:cNvSpPr/>
          <p:nvPr/>
        </p:nvSpPr>
        <p:spPr>
          <a:xfrm>
            <a:off x="1417320" y="768096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Guard wall: ranked zones, early warning</a:t>
            </a:r>
          </a:p>
        </p:txBody>
      </p:sp>
      <p:sp>
        <p:nvSpPr>
          <p:cNvPr id="118" name="P4 edgef"/>
          <p:cNvSpPr txBox="1"/>
          <p:nvPr/>
        </p:nvSpPr>
        <p:spPr>
          <a:xfrm>
            <a:off x="1005840" y="8641080"/>
            <a:ext cx="7680960" cy="731520"/>
          </a:xfrm>
          <a:prstGeom prst="rect">
            <a:avLst/>
          </a:prstGeom>
          <a:noFill/>
        </p:spPr>
        <p:txBody>
          <a:bodyPr wrap="square" anchor="ctr" lIns="45720" rIns="45720" tIns="18288" bIns="18288"/>
          <a:lstStyle/>
          <a:p>
            <a:pPr algn="l"/>
            <a:r>
              <a:rPr sz="1300" b="0" i="0">
                <a:solidFill>
                  <a:srgbClr val="5A5A5A"/>
                </a:solidFill>
                <a:latin typeface="Calibri"/>
              </a:rPr>
              <a:t>One Jetson-class box (about $250, 15 watts) per 1 to 4 cameras. Reuses existing CCTV. Pilot covers night, rain, oblique angles.</a:t>
            </a:r>
          </a:p>
        </p:txBody>
      </p:sp>
      <p:sp>
        <p:nvSpPr>
          <p:cNvPr id="119" name="P4 site"/>
          <p:cNvSpPr/>
          <p:nvPr/>
        </p:nvSpPr>
        <p:spPr>
          <a:xfrm>
            <a:off x="9326880" y="6812280"/>
            <a:ext cx="8229600" cy="278892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4 sitet"/>
          <p:cNvSpPr txBox="1"/>
          <p:nvPr/>
        </p:nvSpPr>
        <p:spPr>
          <a:xfrm>
            <a:off x="9601200" y="6931152"/>
            <a:ext cx="7680960" cy="411480"/>
          </a:xfrm>
          <a:prstGeom prst="rect">
            <a:avLst/>
          </a:prstGeom>
          <a:noFill/>
        </p:spPr>
        <p:txBody>
          <a:bodyPr wrap="square" anchor="ctr" lIns="45720" rIns="45720" tIns="18288" bIns="18288"/>
          <a:lstStyle/>
          <a:p>
            <a:pPr algn="l"/>
            <a:r>
              <a:rPr sz="1600" b="1" i="0">
                <a:solidFill>
                  <a:srgbClr val="1E2761"/>
                </a:solidFill>
                <a:latin typeface="Calibri"/>
              </a:rPr>
              <a:t>Pressure warned first</a:t>
            </a:r>
          </a:p>
        </p:txBody>
      </p:sp>
      <p:pic>
        <p:nvPicPr>
          <p:cNvPr id="121" name="P4 pressure" descr="pressure_strip.png"/>
          <p:cNvPicPr>
            <a:picLocks noChangeAspect="1"/>
          </p:cNvPicPr>
          <p:nvPr/>
        </p:nvPicPr>
        <p:blipFill>
          <a:blip r:embed="rId4"/>
          <a:stretch>
            <a:fillRect/>
          </a:stretch>
        </p:blipFill>
        <p:spPr>
          <a:xfrm>
            <a:off x="9601200" y="7360920"/>
            <a:ext cx="4480560" cy="1938528"/>
          </a:xfrm>
          <a:prstGeom prst="rect">
            <a:avLst/>
          </a:prstGeom>
          <a:ln>
            <a:noFill/>
          </a:ln>
        </p:spPr>
      </p:pic>
      <p:sp>
        <p:nvSpPr>
          <p:cNvPr id="122" name="P4 pressurec"/>
          <p:cNvSpPr txBox="1"/>
          <p:nvPr/>
        </p:nvSpPr>
        <p:spPr>
          <a:xfrm>
            <a:off x="14264640" y="7360920"/>
            <a:ext cx="3017520" cy="1938528"/>
          </a:xfrm>
          <a:prstGeom prst="rect">
            <a:avLst/>
          </a:prstGeom>
          <a:noFill/>
        </p:spPr>
        <p:txBody>
          <a:bodyPr wrap="square" anchor="ctr" lIns="45720" rIns="45720" tIns="18288" bIns="18288"/>
          <a:lstStyle/>
          <a:p>
            <a:pPr algn="l"/>
            <a:r>
              <a:rPr sz="1150" b="0" i="0">
                <a:solidFill>
                  <a:srgbClr val="111111"/>
                </a:solidFill>
                <a:latin typeface="Calibri"/>
              </a:rPr>
              <a:t>Pressure (density x movement variance) crossed its warning line before turbulence began. The accident came after. Hajj 2006 data (Johansson et al.).</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A wall of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1800" b="1" i="0">
                <a:solidFill>
                  <a:srgbClr val="E5B822"/>
                </a:solidFill>
                <a:latin typeface="Calibri"/>
              </a:rPr>
              <a:t>After</a:t>
            </a:r>
          </a:p>
          <a:p>
            <a:pPr algn="l"/>
            <a:r>
              <a:rPr sz="1500" b="1" i="0">
                <a:solidFill>
                  <a:srgbClr val="FFFFFF"/>
                </a:solidFill>
                <a:latin typeface="Calibri"/>
              </a:rPr>
              <a:t>Pressure at Gate B opens overflow at Gate A upstream. Kumbh's system watched without forcing an answer. Ours requires one.</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Organizers</a:t>
            </a:r>
          </a:p>
          <a:p>
            <a:pPr algn="l"/>
            <a:r>
              <a:rPr sz="1500" b="0" i="0">
                <a:solidFill>
                  <a:srgbClr val="111111"/>
                </a:solidFill>
                <a:latin typeface="Calibri"/>
              </a:rPr>
              <a:t>Spot a growing jam early, and tell guards which zone to clear. Built for stations, mela grounds, stadiums.</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Police</a:t>
            </a:r>
          </a:p>
          <a:p>
            <a:pPr algn="l"/>
            <a:r>
              <a:rPr sz="1500" b="0" i="0">
                <a:solidFill>
                  <a:srgbClr val="111111"/>
                </a:solidFill>
                <a:latin typeface="Calibri"/>
              </a:rPr>
              <a:t>Every alert, zone and action exports as one evidence pack in a click, with the signed 10-minute incident clip.</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Faces stay blurred in saved video.</a:t>
            </a:r>
          </a:p>
        </p:txBody>
      </p:sp>
      <p:sp>
        <p:nvSpPr>
          <p:cNvPr id="107" name="TextBox 107"/>
          <p:cNvSpPr txBox="1"/>
          <p:nvPr/>
        </p:nvSpPr>
        <p:spPr>
          <a:xfrm>
            <a:off x="731520" y="9802368"/>
            <a:ext cx="16824960" cy="292608"/>
          </a:xfrm>
          <a:prstGeom prst="rect">
            <a:avLst/>
          </a:prstGeom>
          <a:noFill/>
          <a:ln>
            <a:noFill/>
          </a:ln>
        </p:spPr>
        <p:txBody>
          <a:bodyPr wrap="square" lIns="45720" tIns="18288" rIns="45720" bIns="18288" anchor="ctr" rtlCol="0"/>
          <a:lstStyle/>
          <a:p>
            <a:pPr algn="l">
              <a:spcBef>
                <a:spcPts val="0"/>
              </a:spcBef>
              <a:spcAft>
                <a:spcPts val="0"/>
              </a:spcAft>
            </a:pPr>
            <a:r>
              <a:rPr sz="1200">
                <a:solidFill>
                  <a:srgbClr val="5A5A5A"/>
                </a:solidFill>
                <a:latin typeface="Calibri"/>
              </a:rPr>
              <a:t>Team Raksha  |  Team Leader: Shounak Joshi</a:t>
            </a:r>
          </a:p>
        </p:txBody>
      </p:sp>
      <p:sp>
        <p:nvSpPr>
          <p:cNvPr id="108" name="TextBox 107"/>
          <p:cNvSpPr txBox="1"/>
          <p:nvPr/>
        </p:nvSpPr>
        <p:spPr>
          <a:xfrm>
            <a:off x="731520" y="2651760"/>
            <a:ext cx="7680960" cy="548640"/>
          </a:xfrm>
          <a:prstGeom prst="rect">
            <a:avLst/>
          </a:prstGeom>
          <a:noFill/>
        </p:spPr>
        <p:txBody>
          <a:bodyPr wrap="none">
            <a:spAutoFit/>
          </a:bodyPr>
          <a:lstStyle/>
          <a:p>
            <a:r>
              <a:rPr sz="2000" b="1">
                <a:solidFill>
                  <a:srgbClr val="1E2761"/>
                </a:solidFill>
                <a:latin typeface="Calibri"/>
              </a:rPr>
              <a:t>When pressure rises</a:t>
            </a:r>
          </a:p>
        </p:txBody>
      </p:sp>
      <p:sp>
        <p:nvSpPr>
          <p:cNvPr id="109" name="Rounded Rectangle 108"/>
          <p:cNvSpPr/>
          <p:nvPr/>
        </p:nvSpPr>
        <p:spPr>
          <a:xfrm>
            <a:off x="731520" y="333756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05840" y="3520440"/>
            <a:ext cx="7132320" cy="1234440"/>
          </a:xfrm>
          <a:prstGeom prst="rect">
            <a:avLst/>
          </a:prstGeom>
          <a:noFill/>
        </p:spPr>
        <p:txBody>
          <a:bodyPr wrap="square" anchor="ctr" lIns="45720" rIns="45720" tIns="18288" bIns="18288"/>
          <a:lstStyle/>
          <a:p>
            <a:pPr algn="l"/>
            <a:r>
              <a:rPr sz="2000" b="1" i="0">
                <a:solidFill>
                  <a:srgbClr val="FFFFFF"/>
                </a:solidFill>
                <a:latin typeface="Calibri"/>
              </a:rPr>
              <a:t>Yellow watch</a:t>
            </a:r>
          </a:p>
          <a:p>
            <a:pPr algn="l"/>
            <a:r>
              <a:rPr sz="1500" b="0" i="0">
                <a:solidFill>
                  <a:srgbClr val="FFFFFF"/>
                </a:solidFill>
                <a:latin typeface="Calibri"/>
              </a:rPr>
              <a:t>Auto-pages the zone guard with a 2-minute ack timer. Overflow gates get ready.</a:t>
            </a:r>
          </a:p>
        </p:txBody>
      </p:sp>
      <p:sp>
        <p:nvSpPr>
          <p:cNvPr id="111" name="Rounded Rectangle 110"/>
          <p:cNvSpPr/>
          <p:nvPr/>
        </p:nvSpPr>
        <p:spPr>
          <a:xfrm>
            <a:off x="731520" y="507492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05840" y="5257800"/>
            <a:ext cx="7132320" cy="1234440"/>
          </a:xfrm>
          <a:prstGeom prst="rect">
            <a:avLst/>
          </a:prstGeom>
          <a:noFill/>
        </p:spPr>
        <p:txBody>
          <a:bodyPr wrap="square" anchor="ctr" lIns="45720" rIns="45720" tIns="18288" bIns="18288"/>
          <a:lstStyle/>
          <a:p>
            <a:pPr algn="l"/>
            <a:r>
              <a:rPr sz="2000" b="1" i="0">
                <a:solidFill>
                  <a:srgbClr val="FFFFFF"/>
                </a:solidFill>
                <a:latin typeface="Calibri"/>
              </a:rPr>
              <a:t>Red alert</a:t>
            </a:r>
          </a:p>
          <a:p>
            <a:pPr algn="l"/>
            <a:r>
              <a:rPr sz="1500" b="0" i="0">
                <a:solidFill>
                  <a:srgbClr val="FFFFFF"/>
                </a:solidFill>
                <a:latin typeface="Calibri"/>
              </a:rPr>
              <a:t>Guards confirm on handsets; unanswered reds climb to venue command, then city control.</a:t>
            </a:r>
          </a:p>
        </p:txBody>
      </p:sp>
      <p:sp>
        <p:nvSpPr>
          <p:cNvPr id="113" name="Rounded Rectangle 112"/>
          <p:cNvSpPr/>
          <p:nvPr/>
        </p:nvSpPr>
        <p:spPr>
          <a:xfrm>
            <a:off x="731520" y="681228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5840" y="6995160"/>
            <a:ext cx="7132320" cy="1234440"/>
          </a:xfrm>
          <a:prstGeom prst="rect">
            <a:avLst/>
          </a:prstGeom>
          <a:noFill/>
        </p:spPr>
        <p:txBody>
          <a:bodyPr wrap="square" anchor="ctr" lIns="45720" rIns="45720" tIns="18288" bIns="18288"/>
          <a:lstStyle/>
          <a:p>
            <a:pPr algn="l"/>
            <a:r>
              <a:rPr sz="2000" b="1" i="0">
                <a:solidFill>
                  <a:srgbClr val="FFFFFF"/>
                </a:solidFill>
                <a:latin typeface="Calibri"/>
              </a:rPr>
              <a:t>Handover</a:t>
            </a:r>
          </a:p>
          <a:p>
            <a:pPr algn="l"/>
            <a:r>
              <a:rPr sz="1500" b="0" i="0">
                <a:solidFill>
                  <a:srgbClr val="FFFFFF"/>
                </a:solidFill>
                <a:latin typeface="Calibri"/>
              </a:rPr>
              <a:t>A sealed evidence pack goes to the police.</a:t>
            </a:r>
          </a:p>
        </p:txBody>
      </p:sp>
      <p:sp>
        <p:nvSpPr>
          <p:cNvPr id="115" name="Rounded Rectangle 114"/>
          <p:cNvSpPr/>
          <p:nvPr/>
        </p:nvSpPr>
        <p:spPr>
          <a:xfrm>
            <a:off x="731520" y="8549640"/>
            <a:ext cx="7680960" cy="8686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8732519"/>
            <a:ext cx="7132320" cy="502919"/>
          </a:xfrm>
          <a:prstGeom prst="rect">
            <a:avLst/>
          </a:prstGeom>
          <a:noFill/>
        </p:spPr>
        <p:txBody>
          <a:bodyPr wrap="square" anchor="ctr" lIns="45720" rIns="45720" tIns="18288" bIns="18288"/>
          <a:lstStyle/>
          <a:p>
            <a:pPr algn="l"/>
            <a:r>
              <a:rPr sz="1400" b="1" i="0">
                <a:solidFill>
                  <a:srgbClr val="1E2761"/>
                </a:solidFill>
                <a:latin typeface="Calibri"/>
              </a:rPr>
              <a:t>Pilot targets: warn before critical, page guards in seconds, publish the false-alarm rate, log every step. Still to prove: thresholds across venue types, calibration without surveys.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The science behind it</a:t>
            </a:r>
          </a:p>
        </p:txBody>
      </p:sp>
      <p:sp>
        <p:nvSpPr>
          <p:cNvPr id="106" name="TextBox 106"/>
          <p:cNvSpPr txBox="1"/>
          <p:nvPr/>
        </p:nvSpPr>
        <p:spPr>
          <a:xfrm>
            <a:off x="731520" y="658368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Disasters, limits, footage</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Itaewon and Love Parade</a:t>
            </a:r>
          </a:p>
          <a:p>
            <a:pPr algn="l"/>
            <a:r>
              <a:rPr sz="1300" b="0" i="0">
                <a:solidFill>
                  <a:srgbClr val="FFFFFF"/>
                </a:solidFill>
                <a:latin typeface="Calibri"/>
              </a:rPr>
              <a:t>159 dead, Seoul 2022, ignored calls. 21 dead, Duisburg 2010. Turbulence, not panic.</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Kumbh and Hathras</a:t>
            </a:r>
          </a:p>
          <a:p>
            <a:pPr algn="l"/>
            <a:r>
              <a:rPr sz="1300" b="0" i="0">
                <a:solidFill>
                  <a:srgbClr val="FFFFFF"/>
                </a:solidFill>
                <a:latin typeface="Calibri"/>
              </a:rPr>
              <a:t>30 dead, Jan 2025, with AI live. 121 dead, Jul 2024, 80k permit vs 250k crowd.</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Danger thresholds</a:t>
            </a:r>
          </a:p>
          <a:p>
            <a:pPr algn="l"/>
            <a:r>
              <a:rPr sz="1300" b="0" i="0">
                <a:solidFill>
                  <a:srgbClr val="FFFFFF"/>
                </a:solidFill>
                <a:latin typeface="Calibri"/>
              </a:rPr>
              <a:t>Fluid at 7 per m2. Serious above 4. Flow peaks at 2 to 3. (Fruin, Still)</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Test footage</a:t>
            </a:r>
          </a:p>
          <a:p>
            <a:pPr algn="l"/>
            <a:r>
              <a:rPr sz="1300" b="0" i="0">
                <a:solidFill>
                  <a:srgbClr val="FFFFFF"/>
                </a:solidFill>
                <a:latin typeface="Calibri"/>
              </a:rPr>
              <a:t>Public clips: station, crossing, temple.</a:t>
            </a:r>
          </a:p>
          <a:p>
            <a:pPr algn="l"/>
            <a:r>
              <a:rPr sz="1100" b="0" i="0">
                <a:solidFill>
                  <a:srgbClr val="5A5A5A"/>
                </a:solidFill>
                <a:latin typeface="Calibri"/>
                <a:hlinkClick r:id="rId19"/>
              </a:rPr>
              <a:t>Wikimedia Commons</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2" name="R6 colh"/>
          <p:cNvSpPr txBox="1"/>
          <p:nvPr/>
        </p:nvSpPr>
        <p:spPr>
          <a:xfrm>
            <a:off x="73152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Count the overlap</a:t>
            </a:r>
          </a:p>
        </p:txBody>
      </p:sp>
      <p:sp>
        <p:nvSpPr>
          <p:cNvPr id="113" name="R6 row"/>
          <p:cNvSpPr txBox="1"/>
          <p:nvPr/>
        </p:nvSpPr>
        <p:spPr>
          <a:xfrm>
            <a:off x="73152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9"/>
              </a:rPr>
              <a:t>CSRNet, CVPR 2018</a:t>
            </a:r>
          </a:p>
        </p:txBody>
      </p:sp>
      <p:sp>
        <p:nvSpPr>
          <p:cNvPr id="114" name="R6 row"/>
          <p:cNvSpPr txBox="1"/>
          <p:nvPr/>
        </p:nvSpPr>
        <p:spPr>
          <a:xfrm>
            <a:off x="73152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0"/>
              </a:rPr>
              <a:t>Bayesian Loss, ICCV 2019</a:t>
            </a:r>
          </a:p>
        </p:txBody>
      </p:sp>
      <p:sp>
        <p:nvSpPr>
          <p:cNvPr id="115" name="R6 row"/>
          <p:cNvSpPr txBox="1"/>
          <p:nvPr/>
        </p:nvSpPr>
        <p:spPr>
          <a:xfrm>
            <a:off x="73152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1"/>
              </a:rPr>
              <a:t>DM-Count, NeurIPS 2020</a:t>
            </a:r>
          </a:p>
        </p:txBody>
      </p:sp>
      <p:sp>
        <p:nvSpPr>
          <p:cNvPr id="116" name="R6 row"/>
          <p:cNvSpPr txBox="1"/>
          <p:nvPr/>
        </p:nvSpPr>
        <p:spPr>
          <a:xfrm>
            <a:off x="73152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0"/>
              </a:rPr>
              <a:t>P2PNet, ICCV 2021</a:t>
            </a:r>
          </a:p>
        </p:txBody>
      </p:sp>
      <p:sp>
        <p:nvSpPr>
          <p:cNvPr id="117" name="R6 row"/>
          <p:cNvSpPr txBox="1"/>
          <p:nvPr/>
        </p:nvSpPr>
        <p:spPr>
          <a:xfrm>
            <a:off x="73152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1"/>
              </a:rPr>
              <a:t>STEERER / APGCC, 2023-24</a:t>
            </a:r>
          </a:p>
        </p:txBody>
      </p:sp>
      <p:sp>
        <p:nvSpPr>
          <p:cNvPr id="118" name="R6 row"/>
          <p:cNvSpPr txBox="1"/>
          <p:nvPr/>
        </p:nvSpPr>
        <p:spPr>
          <a:xfrm>
            <a:off x="731520" y="5513831"/>
            <a:ext cx="5120640" cy="384048"/>
          </a:xfrm>
          <a:prstGeom prst="rect">
            <a:avLst/>
          </a:prstGeom>
          <a:noFill/>
        </p:spPr>
        <p:txBody>
          <a:bodyPr wrap="square" anchor="ctr" lIns="45720" rIns="45720" tIns="18288" bIns="18288"/>
          <a:lstStyle/>
          <a:p>
            <a:pPr algn="l"/>
            <a:r>
              <a:rPr sz="1050" b="0" i="0">
                <a:solidFill>
                  <a:srgbClr val="5A5A5A"/>
                </a:solidFill>
                <a:latin typeface="Calibri"/>
              </a:rPr>
              <a:t>Tests: ShanghaiTech, QNRF, NWPU</a:t>
            </a:r>
          </a:p>
        </p:txBody>
      </p:sp>
      <p:sp>
        <p:nvSpPr>
          <p:cNvPr id="119" name="R6 colh"/>
          <p:cNvSpPr txBox="1"/>
          <p:nvPr/>
        </p:nvSpPr>
        <p:spPr>
          <a:xfrm>
            <a:off x="640080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Ground and currents</a:t>
            </a:r>
          </a:p>
        </p:txBody>
      </p:sp>
      <p:sp>
        <p:nvSpPr>
          <p:cNvPr id="120" name="R6 row"/>
          <p:cNvSpPr txBox="1"/>
          <p:nvPr/>
        </p:nvSpPr>
        <p:spPr>
          <a:xfrm>
            <a:off x="640080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2"/>
              </a:rPr>
              <a:t>Chan perspective maps, CVPR 2008</a:t>
            </a:r>
          </a:p>
        </p:txBody>
      </p:sp>
      <p:sp>
        <p:nvSpPr>
          <p:cNvPr id="121" name="R6 row"/>
          <p:cNvSpPr txBox="1"/>
          <p:nvPr/>
        </p:nvSpPr>
        <p:spPr>
          <a:xfrm>
            <a:off x="640080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3"/>
              </a:rPr>
              <a:t>Zhang ground-plane fusion, CVPR 2019</a:t>
            </a:r>
          </a:p>
        </p:txBody>
      </p:sp>
      <p:sp>
        <p:nvSpPr>
          <p:cNvPr id="122" name="R6 row"/>
          <p:cNvSpPr txBox="1"/>
          <p:nvPr/>
        </p:nvSpPr>
        <p:spPr>
          <a:xfrm>
            <a:off x="640080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2"/>
              </a:rPr>
              <a:t>PACNN perspective, CVPR 2019</a:t>
            </a:r>
          </a:p>
        </p:txBody>
      </p:sp>
      <p:sp>
        <p:nvSpPr>
          <p:cNvPr id="123" name="R6 row"/>
          <p:cNvSpPr txBox="1"/>
          <p:nvPr/>
        </p:nvSpPr>
        <p:spPr>
          <a:xfrm>
            <a:off x="640080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4"/>
              </a:rPr>
              <a:t>Mehran social force, CVPR 2009</a:t>
            </a:r>
          </a:p>
        </p:txBody>
      </p:sp>
      <p:sp>
        <p:nvSpPr>
          <p:cNvPr id="124" name="R6 row"/>
          <p:cNvSpPr txBox="1"/>
          <p:nvPr/>
        </p:nvSpPr>
        <p:spPr>
          <a:xfrm>
            <a:off x="640080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5"/>
              </a:rPr>
              <a:t>Mehran streaklines, ECCV 2010</a:t>
            </a:r>
          </a:p>
        </p:txBody>
      </p:sp>
      <p:sp>
        <p:nvSpPr>
          <p:cNvPr id="125" name="R6 row"/>
          <p:cNvSpPr txBox="1"/>
          <p:nvPr/>
        </p:nvSpPr>
        <p:spPr>
          <a:xfrm>
            <a:off x="640080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3"/>
              </a:rPr>
              <a:t>DIS optical flow (OpenCV)</a:t>
            </a:r>
          </a:p>
        </p:txBody>
      </p:sp>
      <p:sp>
        <p:nvSpPr>
          <p:cNvPr id="126" name="R6 colh"/>
          <p:cNvSpPr txBox="1"/>
          <p:nvPr/>
        </p:nvSpPr>
        <p:spPr>
          <a:xfrm>
            <a:off x="1207008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Pressure and risk</a:t>
            </a:r>
          </a:p>
        </p:txBody>
      </p:sp>
      <p:sp>
        <p:nvSpPr>
          <p:cNvPr id="127" name="R6 row"/>
          <p:cNvSpPr txBox="1"/>
          <p:nvPr/>
        </p:nvSpPr>
        <p:spPr>
          <a:xfrm>
            <a:off x="1207008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6"/>
              </a:rPr>
              <a:t>Helbing social force, 1995</a:t>
            </a:r>
          </a:p>
        </p:txBody>
      </p:sp>
      <p:sp>
        <p:nvSpPr>
          <p:cNvPr id="128" name="R6 row"/>
          <p:cNvSpPr txBox="1"/>
          <p:nvPr/>
        </p:nvSpPr>
        <p:spPr>
          <a:xfrm>
            <a:off x="1207008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7"/>
              </a:rPr>
              <a:t>Helbing crowd disasters, 2007</a:t>
            </a:r>
          </a:p>
        </p:txBody>
      </p:sp>
      <p:sp>
        <p:nvSpPr>
          <p:cNvPr id="129" name="R6 row"/>
          <p:cNvSpPr txBox="1"/>
          <p:nvPr/>
        </p:nvSpPr>
        <p:spPr>
          <a:xfrm>
            <a:off x="1207008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8"/>
              </a:rPr>
              <a:t>Johansson pressure, 2008</a:t>
            </a:r>
          </a:p>
        </p:txBody>
      </p:sp>
      <p:sp>
        <p:nvSpPr>
          <p:cNvPr id="130" name="R6 row"/>
          <p:cNvSpPr txBox="1"/>
          <p:nvPr/>
        </p:nvSpPr>
        <p:spPr>
          <a:xfrm>
            <a:off x="1207008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4"/>
              </a:rPr>
              <a:t>Hughes continuum, 2002</a:t>
            </a:r>
          </a:p>
        </p:txBody>
      </p:sp>
      <p:sp>
        <p:nvSpPr>
          <p:cNvPr id="131" name="R6 row"/>
          <p:cNvSpPr txBox="1"/>
          <p:nvPr/>
        </p:nvSpPr>
        <p:spPr>
          <a:xfrm>
            <a:off x="1207008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5"/>
              </a:rPr>
              <a:t>Nakayama divergence, BMVC 2025</a:t>
            </a:r>
          </a:p>
        </p:txBody>
      </p:sp>
      <p:sp>
        <p:nvSpPr>
          <p:cNvPr id="132" name="R6 row"/>
          <p:cNvSpPr txBox="1"/>
          <p:nvPr/>
        </p:nvSpPr>
        <p:spPr>
          <a:xfrm>
            <a:off x="1207008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6"/>
              </a:rPr>
              <a:t>Harding early warning, PLoS ONE 2011</a:t>
            </a:r>
          </a:p>
        </p:txBody>
      </p:sp>
      <p:sp>
        <p:nvSpPr>
          <p:cNvPr id="133" name="R6 build"/>
          <p:cNvSpPr txBox="1"/>
          <p:nvPr/>
        </p:nvSpPr>
        <p:spPr>
          <a:xfrm>
            <a:off x="731520" y="5989320"/>
            <a:ext cx="16824960" cy="566928"/>
          </a:xfrm>
          <a:prstGeom prst="rect">
            <a:avLst/>
          </a:prstGeom>
          <a:noFill/>
        </p:spPr>
        <p:txBody>
          <a:bodyPr wrap="square" anchor="ctr" lIns="45720" rIns="45720" tIns="18288" bIns="18288"/>
          <a:lstStyle/>
          <a:p>
            <a:pPr algn="l"/>
            <a:r>
              <a:rPr sz="1050" b="1" i="0">
                <a:solidFill>
                  <a:srgbClr val="1E2761"/>
                </a:solidFill>
                <a:latin typeface="Calibri"/>
              </a:rPr>
              <a:t>Status: idea stage. Numbers above are published research we build on, not our measurements.</a:t>
            </a:r>
          </a:p>
          <a:p>
            <a:pPr algn="l"/>
            <a:r>
              <a:rPr sz="1000" b="0" i="0">
                <a:solidFill>
                  <a:srgbClr val="1E2761"/>
                </a:solidFill>
                <a:latin typeface="Calibri"/>
              </a:rPr>
              <a:t>Build from:  </a:t>
            </a:r>
            <a:r>
              <a:rPr sz="1000" b="0" i="0">
                <a:solidFill>
                  <a:srgbClr val="5A5A5A"/>
                </a:solidFill>
                <a:latin typeface="Calibri"/>
                <a:hlinkClick r:id="rId11"/>
              </a:rPr>
              <a:t>DM-Count code (MIT)  </a:t>
            </a:r>
            <a:r>
              <a:rPr sz="1000" b="0" i="0">
                <a:solidFill>
                  <a:srgbClr val="5A5A5A"/>
                </a:solidFill>
                <a:latin typeface="Calibri"/>
                <a:hlinkClick r:id="rId27"/>
              </a:rPr>
              <a:t>CSRNet model  </a:t>
            </a:r>
            <a:r>
              <a:rPr sz="1000" b="0" i="0">
                <a:solidFill>
                  <a:srgbClr val="5A5A5A"/>
                </a:solidFill>
                <a:latin typeface="Calibri"/>
                <a:hlinkClick r:id="rId28"/>
              </a:rPr>
              <a:t>homography calibrator  </a:t>
            </a:r>
            <a:r>
              <a:rPr sz="1000" b="0" i="0">
                <a:solidFill>
                  <a:srgbClr val="5A5A5A"/>
                </a:solidFill>
                <a:latin typeface="Calibri"/>
                <a:hlinkClick r:id="rId29"/>
              </a:rPr>
              <a:t>DeepStream docs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